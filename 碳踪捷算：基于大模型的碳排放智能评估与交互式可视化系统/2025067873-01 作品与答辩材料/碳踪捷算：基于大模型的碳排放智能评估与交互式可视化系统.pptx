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4.xml" ContentType="application/vnd.openxmlformats-officedocument.presentationml.tags+xml"/>
  <Override PartName="/ppt/notesSlides/notesSlide17.xml" ContentType="application/vnd.openxmlformats-officedocument.presentationml.notesSlide+xml"/>
  <Override PartName="/ppt/tags/tag15.xml" ContentType="application/vnd.openxmlformats-officedocument.presentationml.tags+xml"/>
  <Override PartName="/ppt/notesSlides/notesSlide18.xml" ContentType="application/vnd.openxmlformats-officedocument.presentationml.notesSlide+xml"/>
  <Override PartName="/ppt/tags/tag16.xml" ContentType="application/vnd.openxmlformats-officedocument.presentationml.tags+xml"/>
  <Override PartName="/ppt/notesSlides/notesSlide19.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notesSlides/notesSlide20.xml" ContentType="application/vnd.openxmlformats-officedocument.presentationml.notesSlide+xml"/>
  <Override PartName="/ppt/tags/tag238.xml" ContentType="application/vnd.openxmlformats-officedocument.presentationml.tags+xml"/>
  <Override PartName="/ppt/notesSlides/notesSlide21.xml" ContentType="application/vnd.openxmlformats-officedocument.presentationml.notesSlide+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notesSlides/notesSlide22.xml" ContentType="application/vnd.openxmlformats-officedocument.presentationml.notesSlide+xml"/>
  <Override PartName="/ppt/tags/tag242.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43.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244.xml" ContentType="application/vnd.openxmlformats-officedocument.presentationml.tags+xml"/>
  <Override PartName="/ppt/notesSlides/notesSlide28.xml" ContentType="application/vnd.openxmlformats-officedocument.presentationml.notesSlide+xml"/>
  <Override PartName="/ppt/tags/tag245.xml" ContentType="application/vnd.openxmlformats-officedocument.presentationml.tags+xml"/>
  <Override PartName="/ppt/notesSlides/notesSlide29.xml" ContentType="application/vnd.openxmlformats-officedocument.presentationml.notesSlide+xml"/>
  <Override PartName="/ppt/tags/tag246.xml" ContentType="application/vnd.openxmlformats-officedocument.presentationml.tags+xml"/>
  <Override PartName="/ppt/notesSlides/notesSlide30.xml" ContentType="application/vnd.openxmlformats-officedocument.presentationml.notesSlide+xml"/>
  <Override PartName="/ppt/tags/tag247.xml" ContentType="application/vnd.openxmlformats-officedocument.presentationml.tags+xml"/>
  <Override PartName="/ppt/notesSlides/notesSlide31.xml" ContentType="application/vnd.openxmlformats-officedocument.presentationml.notesSlide+xml"/>
  <Override PartName="/ppt/tags/tag248.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49.xml" ContentType="application/vnd.openxmlformats-officedocument.presentationml.tags+xml"/>
  <Override PartName="/ppt/notesSlides/notesSlide34.xml" ContentType="application/vnd.openxmlformats-officedocument.presentationml.notesSlide+xml"/>
  <Override PartName="/ppt/tags/tag250.xml" ContentType="application/vnd.openxmlformats-officedocument.presentationml.tags+xml"/>
  <Override PartName="/ppt/notesSlides/notesSlide35.xml" ContentType="application/vnd.openxmlformats-officedocument.presentationml.notesSlide+xml"/>
  <Override PartName="/ppt/tags/tag251.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252.xml" ContentType="application/vnd.openxmlformats-officedocument.presentationml.tags+xml"/>
  <Override PartName="/ppt/notesSlides/notesSlide39.xml" ContentType="application/vnd.openxmlformats-officedocument.presentationml.notesSlide+xml"/>
  <Override PartName="/ppt/tags/tag253.xml" ContentType="application/vnd.openxmlformats-officedocument.presentationml.tags+xml"/>
  <Override PartName="/ppt/notesSlides/notesSlide40.xml" ContentType="application/vnd.openxmlformats-officedocument.presentationml.notesSlide+xml"/>
  <Override PartName="/ppt/tags/tag254.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90" r:id="rId35"/>
    <p:sldId id="291" r:id="rId36"/>
    <p:sldId id="292" r:id="rId37"/>
    <p:sldId id="293" r:id="rId38"/>
    <p:sldId id="294" r:id="rId39"/>
    <p:sldId id="295" r:id="rId40"/>
    <p:sldId id="296" r:id="rId41"/>
    <p:sldId id="297" r:id="rId42"/>
    <p:sldId id="298" r:id="rId43"/>
    <p:sldId id="299" r:id="rId44"/>
    <p:sldId id="300" r:id="rId45"/>
  </p:sldIdLst>
  <p:sldSz cx="12192000" cy="6858000"/>
  <p:notesSz cx="6858000" cy="9144000"/>
  <p:custDataLst>
    <p:tags r:id="rId4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232" y="84"/>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F4F39D6B-3B0B-46FE-B8BE-0F0A56ED4D23}" type="datetimeFigureOut">
              <a:rPr lang="zh-CN" altLang="en-US"/>
              <a:t>2025/5/5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F051B22D-B9B7-460C-AFF5-E4A2A2B766A2}"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051B22D-B9B7-460C-AFF5-E4A2A2B766A2}" type="slidenum">
              <a:rPr lang="zh-CN" altLang="en-US"/>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flipH="1">
            <a:off x="0" y="0"/>
            <a:ext cx="0" cy="0"/>
          </a:xfrm>
        </p:spPr>
      </p:sp>
      <p:sp>
        <p:nvSpPr>
          <p:cNvPr id="3" name="Notes Placeholder 2"/>
          <p:cNvSpPr>
            <a:spLocks noGrp="1"/>
          </p:cNvSpPr>
          <p:nvPr>
            <p:ph type="body" idx="1"/>
          </p:nvPr>
        </p:nvSpPr>
        <p:spPr/>
        <p:txBody>
          <a:bodyPr>
            <a:normAutofit/>
          </a:bodyPr>
          <a:lstStyle/>
          <a:p>
            <a:r>
              <a:t>如有异常请联系客服（微信：sootar_ ）</a:t>
            </a:r>
          </a:p>
        </p:txBody>
      </p:sp>
      <p:sp>
        <p:nvSpPr>
          <p:cNvPr id="4" name="Slide Number Placeholder 3"/>
          <p:cNvSpPr>
            <a:spLocks noGrp="1"/>
          </p:cNvSpPr>
          <p:nvPr>
            <p:ph type="sldNum" sz="quarter" idx="10"/>
          </p:nvPr>
        </p:nvSpPr>
        <p:spPr/>
        <p:txBody>
          <a:bodyPr/>
          <a:lstStyle/>
          <a:p>
            <a:fld id="{6101C5E1-D8E9-464D-A93E-CE21651935A7}"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844330-D65E-433C-A90B-DC730FD555C4}" type="slidenum">
              <a:rPr lang="zh-CN" altLang="en-US"/>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研究背景</a:t>
            </a:r>
          </a:p>
          <a:p>
            <a:r>
              <a:t>全球气候变化加剧背景下，</a:t>
            </a:r>
          </a:p>
          <a:p>
            <a:r>
              <a:t>碳减排成为各国政府及企业的核心议题。据国际能源署（IEA）统计，2022年全球能源相关碳排放量达368亿吨，工业与能源领域占比超70%。我国提出"双碳"目标（2030碳达峰、2060碳中和），亟需数字化工具支撑碳排放监测与管理。现有系统普遍存在数据孤岛、用户交互性差、分析维度单一等问题，本系统旨在通过技术创新填补市场空白</a:t>
            </a:r>
          </a:p>
        </p:txBody>
      </p:sp>
      <p:sp>
        <p:nvSpPr>
          <p:cNvPr id="4" name="灯片编号占位符 3"/>
          <p:cNvSpPr>
            <a:spLocks noGrp="1"/>
          </p:cNvSpPr>
          <p:nvPr>
            <p:ph type="sldNum" sz="quarter" idx="5"/>
          </p:nvPr>
        </p:nvSpPr>
        <p:spPr/>
        <p:txBody>
          <a:bodyPr/>
          <a:lstStyle/>
          <a:p>
            <a:fld id="{F051B22D-B9B7-460C-AFF5-E4A2A2B766A2}" type="slidenum">
              <a:rPr lang="zh-CN" altLang="en-US"/>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1.2 主题创意来源与用户群体</a:t>
            </a:r>
          </a:p>
          <a:p>
            <a:r>
              <a:t>本项目灵感来源于个人碳账户理念的普及（如蚂蚁森林）和中国“双碳”目标要求建立数字化碳管理工具，</a:t>
            </a:r>
          </a:p>
          <a:p>
            <a:r>
              <a:t>支撑碳排放监测与交易，以及人工智能与大数据技术在解决复杂市场分析问题上的巨大潜力。聚焦于打造一个融合先进科技与用户友好体验的碳排放智能评估与交互式可视化系统。本作品面向广泛的用户群体，包括但不限于个人与组织、政府与监管机构、高排放行业与企业</a:t>
            </a:r>
          </a:p>
        </p:txBody>
      </p:sp>
      <p:sp>
        <p:nvSpPr>
          <p:cNvPr id="4" name="灯片编号占位符 3"/>
          <p:cNvSpPr>
            <a:spLocks noGrp="1"/>
          </p:cNvSpPr>
          <p:nvPr>
            <p:ph type="sldNum" sz="quarter" idx="5"/>
          </p:nvPr>
        </p:nvSpPr>
        <p:spPr/>
        <p:txBody>
          <a:bodyPr/>
          <a:lstStyle/>
          <a:p>
            <a:fld id="{F051B22D-B9B7-460C-AFF5-E4A2A2B766A2}" type="slidenum">
              <a:rPr lang="zh-CN" altLang="en-US"/>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1.3 主要功能与特色</a:t>
            </a:r>
          </a:p>
          <a:p>
            <a:r>
              <a:t>智能化ai对话系统：基于大模型，综合多模态融合、深度学习和场景化适配，并补充对话历史查询及内部文件调用丰富用户体验</a:t>
            </a:r>
          </a:p>
          <a:p>
            <a:r>
              <a:t>数据动态洞察：通过动态图表与数据可视化，展示各地区及日常活动各类碳排放数值等，为用户提供深度数据分析</a:t>
            </a:r>
          </a:p>
          <a:p>
            <a:r>
              <a:t>个性化体验：结合用户行为分析，智能生成不同称号，增强用户粘性与满意度</a:t>
            </a:r>
          </a:p>
          <a:p>
            <a:r>
              <a:t>交互式分析工具：用户可自定义查询参数，探索影响碳排放的多种因素，提升决策的自主性与透明度</a:t>
            </a:r>
          </a:p>
        </p:txBody>
      </p:sp>
      <p:sp>
        <p:nvSpPr>
          <p:cNvPr id="4" name="灯片编号占位符 3"/>
          <p:cNvSpPr>
            <a:spLocks noGrp="1"/>
          </p:cNvSpPr>
          <p:nvPr>
            <p:ph type="sldNum" sz="quarter" idx="5"/>
          </p:nvPr>
        </p:nvSpPr>
        <p:spPr/>
        <p:txBody>
          <a:bodyPr/>
          <a:lstStyle/>
          <a:p>
            <a:fld id="{F051B22D-B9B7-460C-AFF5-E4A2A2B766A2}" type="slidenum">
              <a:rPr lang="zh-CN" altLang="en-US"/>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1.4 应用价值</a:t>
            </a:r>
          </a:p>
          <a:p>
            <a:r>
              <a:t>提升计算效率：缩短企业碳核查周期，降低人工成本</a:t>
            </a:r>
          </a:p>
          <a:p>
            <a:r>
              <a:t>增强市场透明度：提供公开、公正的估价标准，建立用户信任</a:t>
            </a:r>
          </a:p>
          <a:p>
            <a:r>
              <a:t>辅助决策支持：为供应链管理者和行业参与者提供数据支持，优化经营策略</a:t>
            </a:r>
          </a:p>
          <a:p>
            <a:r>
              <a:t>推动产业升级：促进碳排放规范化发展，引导资源合理配置</a:t>
            </a:r>
          </a:p>
        </p:txBody>
      </p:sp>
      <p:sp>
        <p:nvSpPr>
          <p:cNvPr id="4" name="灯片编号占位符 3"/>
          <p:cNvSpPr>
            <a:spLocks noGrp="1"/>
          </p:cNvSpPr>
          <p:nvPr>
            <p:ph type="sldNum" sz="quarter" idx="5"/>
          </p:nvPr>
        </p:nvSpPr>
        <p:spPr/>
        <p:txBody>
          <a:bodyPr/>
          <a:lstStyle/>
          <a:p>
            <a:fld id="{F051B22D-B9B7-460C-AFF5-E4A2A2B766A2}" type="slidenum">
              <a:rPr lang="zh-CN" altLang="en-US"/>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1.5 推广前景</a:t>
            </a:r>
          </a:p>
          <a:p>
            <a:r>
              <a:t>2025年全国碳市场扩容将覆盖钢铁、水泥等高耗能行业，</a:t>
            </a:r>
          </a:p>
          <a:p>
            <a:r>
              <a:t>市场交易碳排放量预计将扩充到80多亿吨，碳市场成员企业将达到8000家左右，市场规模有望实现爆发式增长。先进的物联网、大数据、人工智能等技术将应用于碳排放的实时监测和精准管理，提高市场的监管效能，区块链数据溯源与AI减排优化成为技术核心，碳期货、碳质押融资等金融工具创新（如全国碳交易所计划推出衍生品），将吸引金融机构深度参与，形成“监测-交易-融资”闭环生态</a:t>
            </a:r>
          </a:p>
        </p:txBody>
      </p:sp>
      <p:sp>
        <p:nvSpPr>
          <p:cNvPr id="4" name="灯片编号占位符 3"/>
          <p:cNvSpPr>
            <a:spLocks noGrp="1"/>
          </p:cNvSpPr>
          <p:nvPr>
            <p:ph type="sldNum" sz="quarter" idx="5"/>
          </p:nvPr>
        </p:nvSpPr>
        <p:spPr/>
        <p:txBody>
          <a:bodyPr/>
          <a:lstStyle/>
          <a:p>
            <a:fld id="{F051B22D-B9B7-460C-AFF5-E4A2A2B766A2}" type="slidenum">
              <a:rPr lang="zh-CN" altLang="en-US"/>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844330-D65E-433C-A90B-DC730FD555C4}" type="slidenum">
              <a:rPr lang="zh-CN" altLang="en-US"/>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问题来源</a:t>
            </a:r>
          </a:p>
          <a:p>
            <a:r>
              <a:t>数据层面，</a:t>
            </a:r>
          </a:p>
          <a:p>
            <a:r>
              <a:t>企业篡改检测报告（如中碳能投造假事件）、基层统计口径混乱导致核算失真</a:t>
            </a:r>
          </a:p>
          <a:p>
            <a:r>
              <a:t>技术层面，物联网与ERP系统数据孤岛难以整合，区块链溯源与AI预测技术渗透不足</a:t>
            </a:r>
          </a:p>
          <a:p>
            <a:r>
              <a:t>政策层面，碳市场配额分配规则模糊，欧盟CBAM等国际标准适配压力加剧</a:t>
            </a:r>
          </a:p>
          <a:p>
            <a:r>
              <a:t>用户端碳普惠机制覆盖率低，中小企业碳管理成本高企</a:t>
            </a:r>
          </a:p>
          <a:p>
            <a:r>
              <a:t>国际协同层面，关键技术（如CCUS）商业化滞后，行业核算标准未完全接轨</a:t>
            </a:r>
          </a:p>
          <a:p>
            <a:r>
              <a:t>根源在于数据治理体系薄弱、技术创新滞后及跨部门政策协同不足，需通过区块链存证、动态排放因子库及碳市场黑名单制度实现突破</a:t>
            </a:r>
          </a:p>
        </p:txBody>
      </p:sp>
      <p:sp>
        <p:nvSpPr>
          <p:cNvPr id="4" name="灯片编号占位符 3"/>
          <p:cNvSpPr>
            <a:spLocks noGrp="1"/>
          </p:cNvSpPr>
          <p:nvPr>
            <p:ph type="sldNum" sz="quarter" idx="5"/>
          </p:nvPr>
        </p:nvSpPr>
        <p:spPr/>
        <p:txBody>
          <a:bodyPr/>
          <a:lstStyle/>
          <a:p>
            <a:fld id="{F051B22D-B9B7-460C-AFF5-E4A2A2B766A2}" type="slidenum">
              <a:rPr lang="zh-CN" altLang="en-US"/>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现有解决方案</a:t>
            </a:r>
          </a:p>
          <a:p>
            <a:r>
              <a:t>当前碳排放网页系统通过区块链与隐私计算技术构建可信数据链（如蚂蚁链碳账本），</a:t>
            </a:r>
          </a:p>
          <a:p>
            <a:r>
              <a:t>整合5G物联网实时采集高耗能设备运行数据，并依托AI碳核算引擎（碳阻迹等平台调用16万+排放因子库）提升精度；跨链溯源技术穿透式追踪供应链碳足迹，动态排放因子库适配欧盟CBAM等国际规则，政府同步推动企业监测系统强制部署。然而，中小出口企业碳管理成本高企、CCUS技术商业化受阻及碳普惠用户参与度低仍是落地难点，需政策补贴与技术降本双轨突破</a:t>
            </a:r>
          </a:p>
        </p:txBody>
      </p:sp>
      <p:sp>
        <p:nvSpPr>
          <p:cNvPr id="4" name="灯片编号占位符 3"/>
          <p:cNvSpPr>
            <a:spLocks noGrp="1"/>
          </p:cNvSpPr>
          <p:nvPr>
            <p:ph type="sldNum" sz="quarter" idx="5"/>
          </p:nvPr>
        </p:nvSpPr>
        <p:spPr/>
        <p:txBody>
          <a:bodyPr/>
          <a:lstStyle/>
          <a:p>
            <a:fld id="{F051B22D-B9B7-460C-AFF5-E4A2A2B766A2}" type="slidenum">
              <a:rPr lang="zh-CN" altLang="en-US"/>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本作品解决的痛点问题</a:t>
            </a:r>
          </a:p>
          <a:p>
            <a:r>
              <a:t>提高估值精度：通过更精细的数据处理和先进的模型算法，减少估值偏差，提高预测的准确性</a:t>
            </a:r>
          </a:p>
          <a:p>
            <a:r>
              <a:t>增强透明度：提供详细的碳排放因子分析，使用户理解碳排放构成，增加决策的透明度和信任感</a:t>
            </a:r>
          </a:p>
          <a:p>
            <a:r>
              <a:t>广泛适用性：覆盖更多类型、地域和年份数据，满足更广泛用户的碳排放评估需求</a:t>
            </a:r>
          </a:p>
        </p:txBody>
      </p:sp>
      <p:sp>
        <p:nvSpPr>
          <p:cNvPr id="4" name="灯片编号占位符 3"/>
          <p:cNvSpPr>
            <a:spLocks noGrp="1"/>
          </p:cNvSpPr>
          <p:nvPr>
            <p:ph type="sldNum" sz="quarter" idx="5"/>
          </p:nvPr>
        </p:nvSpPr>
        <p:spPr/>
        <p:txBody>
          <a:bodyPr/>
          <a:lstStyle/>
          <a:p>
            <a:fld id="{F051B22D-B9B7-460C-AFF5-E4A2A2B766A2}" type="slidenum">
              <a:rPr lang="zh-CN" altLang="en-US"/>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2.4功能与性能需求</a:t>
            </a:r>
          </a:p>
          <a:p>
            <a:r>
              <a:t>开发一个集成化的碳排放评估系统，</a:t>
            </a:r>
          </a:p>
          <a:p>
            <a:r>
              <a:t>具备快速估测、市场分析等功能，支持网页和移动设备访问。构建的碳排放评估系统需整合多源数据，通过自动化处理与标准化，通过深度清洗和聚类去重提炼关键碳排放因素，实现快速、准确的估价。系统强调实时预测、用户友好界面及个性化推荐，同时保证数据安全与合规性，确保在高并发下仍能达到低延迟、高准确率及高效资源利用，从而提升决策的自主性与透明度</a:t>
            </a:r>
          </a:p>
        </p:txBody>
      </p:sp>
      <p:sp>
        <p:nvSpPr>
          <p:cNvPr id="4" name="灯片编号占位符 3"/>
          <p:cNvSpPr>
            <a:spLocks noGrp="1"/>
          </p:cNvSpPr>
          <p:nvPr>
            <p:ph type="sldNum" sz="quarter" idx="5"/>
          </p:nvPr>
        </p:nvSpPr>
        <p:spPr/>
        <p:txBody>
          <a:bodyPr/>
          <a:lstStyle/>
          <a:p>
            <a:fld id="{F051B22D-B9B7-460C-AFF5-E4A2A2B766A2}" type="slidenum">
              <a:rPr lang="zh-CN" altLang="en-US"/>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2.5数据规范</a:t>
            </a:r>
          </a:p>
          <a:p>
            <a:r>
              <a:t>数据格式：Excel，便于处理和分析</a:t>
            </a:r>
          </a:p>
          <a:p>
            <a:r>
              <a:t>数据来源：在线平台抓取（遵守robots.txt规定），中国产品全生命周期温室气体排放系数库（https://lca.cityghg.com/），中国碳核算数据库（https://www.ceads.net.cn/）</a:t>
            </a:r>
          </a:p>
          <a:p>
            <a:r>
              <a:t>特征数据：产品类型，碳排放量</a:t>
            </a:r>
          </a:p>
          <a:p>
            <a:r>
              <a:t>Raw coal total， Crude oil total， Natural gas total，Total  apparent CO2 emissions (mt)</a:t>
            </a:r>
          </a:p>
          <a:p>
            <a:r>
              <a:t>数据规模：1997至2021年连续25年间各省份的煤、石油、天然气及整省年度二氧化碳排放量，CPCD所有数据，确保模型训练的全面性和深度</a:t>
            </a:r>
          </a:p>
          <a:p>
            <a:r>
              <a:t>数据样例</a:t>
            </a:r>
          </a:p>
        </p:txBody>
      </p:sp>
      <p:sp>
        <p:nvSpPr>
          <p:cNvPr id="4" name="灯片编号占位符 3"/>
          <p:cNvSpPr>
            <a:spLocks noGrp="1"/>
          </p:cNvSpPr>
          <p:nvPr>
            <p:ph type="sldNum" sz="quarter" idx="5"/>
          </p:nvPr>
        </p:nvSpPr>
        <p:spPr/>
        <p:txBody>
          <a:bodyPr/>
          <a:lstStyle/>
          <a:p>
            <a:fld id="{F051B22D-B9B7-460C-AFF5-E4A2A2B766A2}" type="slidenum">
              <a:rPr lang="zh-CN" altLang="en-US"/>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大模型：结合讯飞星火Spark Lite大模型，支持自然语言对话，解析用户输入并返回专业的碳足迹计算结果</a:t>
            </a:r>
          </a:p>
        </p:txBody>
      </p:sp>
      <p:sp>
        <p:nvSpPr>
          <p:cNvPr id="4" name="灯片编号占位符 3"/>
          <p:cNvSpPr>
            <a:spLocks noGrp="1"/>
          </p:cNvSpPr>
          <p:nvPr>
            <p:ph type="sldNum" sz="quarter" idx="5"/>
          </p:nvPr>
        </p:nvSpPr>
        <p:spPr/>
        <p:txBody>
          <a:bodyPr/>
          <a:lstStyle/>
          <a:p>
            <a:fld id="{F051B22D-B9B7-460C-AFF5-E4A2A2B766A2}" type="slidenum">
              <a:rPr lang="zh-CN" altLang="en-US"/>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844330-D65E-433C-A90B-DC730FD555C4}" type="slidenum">
              <a:rPr lang="zh-CN" altLang="en-US"/>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3.1总体介绍</a:t>
            </a:r>
          </a:p>
          <a:p>
            <a:r>
              <a:t>本项目旨在利用大数据与人工智能技术，尤其是大模型方法，对从中国产品全生命周期温室气体排放系数库（https://lca.cityghg.com/）爬取的以及中国碳核算数据库（https://www.ceads.net.cn/）下载的碳排放因子数据。进行深度清洗和聚类去重。技术路线的核心在于数据预处理、模型构建、可视化展现及交互式分析，最终形成一个综合性的碳排放智能评估与交互式可视化系统</a:t>
            </a:r>
          </a:p>
          <a:p>
            <a:r>
              <a:t>下图展示了整体技术路线框架</a:t>
            </a:r>
          </a:p>
        </p:txBody>
      </p:sp>
      <p:sp>
        <p:nvSpPr>
          <p:cNvPr id="4" name="灯片编号占位符 3"/>
          <p:cNvSpPr>
            <a:spLocks noGrp="1"/>
          </p:cNvSpPr>
          <p:nvPr>
            <p:ph type="sldNum" sz="quarter" idx="5"/>
          </p:nvPr>
        </p:nvSpPr>
        <p:spPr/>
        <p:txBody>
          <a:bodyPr/>
          <a:lstStyle/>
          <a:p>
            <a:fld id="{F051B22D-B9B7-460C-AFF5-E4A2A2B766A2}" type="slidenum">
              <a:rPr lang="zh-CN" altLang="en-US"/>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3.2各模块详细介绍</a:t>
            </a:r>
          </a:p>
          <a:p>
            <a:r>
              <a:t>数据采集</a:t>
            </a:r>
          </a:p>
          <a:p>
            <a:r>
              <a:t>使用从CPCD爬取的以及CEADs下载的碳排放因子数据，包括物品类别、行为活动、地理位置等。此部分非原创，遵循相关网站的爬虫政策和robots.txt规则</a:t>
            </a:r>
          </a:p>
          <a:p>
            <a:r>
              <a:t>数据预处理</a:t>
            </a:r>
          </a:p>
        </p:txBody>
      </p:sp>
      <p:sp>
        <p:nvSpPr>
          <p:cNvPr id="4" name="灯片编号占位符 3"/>
          <p:cNvSpPr>
            <a:spLocks noGrp="1"/>
          </p:cNvSpPr>
          <p:nvPr>
            <p:ph type="sldNum" sz="quarter" idx="5"/>
          </p:nvPr>
        </p:nvSpPr>
        <p:spPr/>
        <p:txBody>
          <a:bodyPr/>
          <a:lstStyle/>
          <a:p>
            <a:fld id="{F051B22D-B9B7-460C-AFF5-E4A2A2B766A2}" type="slidenum">
              <a:rPr lang="zh-CN" altLang="en-US"/>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包括数据清洗（去除重复记录）、数据类型转换（将分类变量转化为所需类型等）。原创工作在于开发一套针对碳排放数据特性的高效清洗流程</a:t>
            </a:r>
          </a:p>
          <a:p>
            <a:r>
              <a:t>模型构建与训练</a:t>
            </a:r>
          </a:p>
          <a:p>
            <a:r>
              <a:t>基于 FastAPI 构建的后端服务，名为 CarbonAI 碳足迹专家系统，旨在提供专业的碳排放计算与分析功能。它通过 WebSocket 与讯飞星火Spark Lite大模型通信，支持自然语言对话，解析用户输入并返回专业的碳足迹计算结果。文件还包含文件上传接口，允许用户上传内部Excel数据用于增强对话上下文</a:t>
            </a:r>
          </a:p>
        </p:txBody>
      </p:sp>
      <p:sp>
        <p:nvSpPr>
          <p:cNvPr id="4" name="灯片编号占位符 3"/>
          <p:cNvSpPr>
            <a:spLocks noGrp="1"/>
          </p:cNvSpPr>
          <p:nvPr>
            <p:ph type="sldNum" sz="quarter" idx="5"/>
          </p:nvPr>
        </p:nvSpPr>
        <p:spPr/>
        <p:txBody>
          <a:bodyPr/>
          <a:lstStyle/>
          <a:p>
            <a:fld id="{F051B22D-B9B7-460C-AFF5-E4A2A2B766A2}" type="slidenum">
              <a:rPr lang="zh-CN" altLang="en-US"/>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flipH="1">
            <a:off x="0" y="0"/>
            <a:ext cx="0" cy="0"/>
          </a:xfrm>
        </p:spPr>
      </p:sp>
      <p:sp>
        <p:nvSpPr>
          <p:cNvPr id="3" name="Notes Placeholder 2"/>
          <p:cNvSpPr>
            <a:spLocks noGrp="1"/>
          </p:cNvSpPr>
          <p:nvPr>
            <p:ph type="body" idx="1"/>
          </p:nvPr>
        </p:nvSpPr>
        <p:spPr/>
        <p:txBody>
          <a:bodyPr>
            <a:normAutofit/>
          </a:bodyPr>
          <a:lstStyle/>
          <a:p>
            <a:r>
              <a:t>如有异常请联系客服（微信：sootar_ ）</a:t>
            </a:r>
          </a:p>
        </p:txBody>
      </p:sp>
      <p:sp>
        <p:nvSpPr>
          <p:cNvPr id="4" name="Slide Number Placeholder 3"/>
          <p:cNvSpPr>
            <a:spLocks noGrp="1"/>
          </p:cNvSpPr>
          <p:nvPr>
            <p:ph type="sldNum" sz="quarter" idx="10"/>
          </p:nvPr>
        </p:nvSpPr>
        <p:spPr/>
        <p:txBody>
          <a:bodyPr/>
          <a:lstStyle/>
          <a:p>
            <a:fld id="{6101C5E1-D8E9-464D-A93E-CE21651935A7}"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利用pyecharts、Matplotlib等库绘制各类图表，</a:t>
            </a:r>
          </a:p>
          <a:p>
            <a:r>
              <a:t>如碳排放分布、事物排放量、地区排放量趋势图等。原创工作在于设计交互式仪表板，让用户能直观探索不同维度下的数据关系和碳排放影响因素</a:t>
            </a:r>
          </a:p>
        </p:txBody>
      </p:sp>
      <p:sp>
        <p:nvSpPr>
          <p:cNvPr id="4" name="灯片编号占位符 3"/>
          <p:cNvSpPr>
            <a:spLocks noGrp="1"/>
          </p:cNvSpPr>
          <p:nvPr>
            <p:ph type="sldNum" sz="quarter" idx="5"/>
          </p:nvPr>
        </p:nvSpPr>
        <p:spPr/>
        <p:txBody>
          <a:bodyPr/>
          <a:lstStyle/>
          <a:p>
            <a:fld id="{F051B22D-B9B7-460C-AFF5-E4A2A2B766A2}" type="slidenum">
              <a:rPr lang="zh-CN" altLang="en-US"/>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flipH="1">
            <a:off x="0" y="0"/>
            <a:ext cx="0" cy="0"/>
          </a:xfrm>
        </p:spPr>
      </p:sp>
      <p:sp>
        <p:nvSpPr>
          <p:cNvPr id="3" name="Notes Placeholder 2"/>
          <p:cNvSpPr>
            <a:spLocks noGrp="1"/>
          </p:cNvSpPr>
          <p:nvPr>
            <p:ph type="body" idx="1"/>
          </p:nvPr>
        </p:nvSpPr>
        <p:spPr/>
        <p:txBody>
          <a:bodyPr>
            <a:normAutofit/>
          </a:bodyPr>
          <a:lstStyle/>
          <a:p>
            <a:r>
              <a:t>如有异常请联系客服（微信：sootar_ ）</a:t>
            </a:r>
          </a:p>
        </p:txBody>
      </p:sp>
      <p:sp>
        <p:nvSpPr>
          <p:cNvPr id="4" name="Slide Number Placeholder 3"/>
          <p:cNvSpPr>
            <a:spLocks noGrp="1"/>
          </p:cNvSpPr>
          <p:nvPr>
            <p:ph type="sldNum" sz="quarter" idx="10"/>
          </p:nvPr>
        </p:nvSpPr>
        <p:spPr/>
        <p:txBody>
          <a:bodyPr/>
          <a:lstStyle/>
          <a:p>
            <a:fld id="{6101C5E1-D8E9-464D-A93E-CE21651935A7}"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前端采用VScode编辑器构建用户界面，</a:t>
            </a:r>
          </a:p>
          <a:p>
            <a:r>
              <a:t>后端使用Flask的web框架和Node.js的express搭建API，并运用SQLite数据库记录用户数据，实现数据查询、模型预测和结果展示的动态交互。原创工作在于构建一个响应式、用户友好的前端界面，以及高效的数据处理和预测服务</a:t>
            </a:r>
          </a:p>
        </p:txBody>
      </p:sp>
      <p:sp>
        <p:nvSpPr>
          <p:cNvPr id="4" name="灯片编号占位符 3"/>
          <p:cNvSpPr>
            <a:spLocks noGrp="1"/>
          </p:cNvSpPr>
          <p:nvPr>
            <p:ph type="sldNum" sz="quarter" idx="5"/>
          </p:nvPr>
        </p:nvSpPr>
        <p:spPr/>
        <p:txBody>
          <a:bodyPr/>
          <a:lstStyle/>
          <a:p>
            <a:fld id="{F051B22D-B9B7-460C-AFF5-E4A2A2B766A2}" type="slidenum">
              <a:rPr lang="zh-CN" altLang="en-US"/>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844330-D65E-433C-A90B-DC730FD555C4}" type="slidenum">
              <a:rPr lang="zh-CN" altLang="en-US"/>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软件设计与实现</a:t>
            </a:r>
          </a:p>
          <a:p>
            <a:r>
              <a:t>架构设计：系统采用前后端分离的架构，</a:t>
            </a:r>
          </a:p>
          <a:p>
            <a:r>
              <a:t>前端使用HTML、CSS、JavaScript等技术实现用户界面，后端使用Python的FastAPI框架提供RESTful API服务。前端通过AJAX与后端进行数据交互，后端处理业务逻辑并与数据库、第三方API等进行交互</a:t>
            </a:r>
          </a:p>
          <a:p>
            <a:r>
              <a:t>模块划分</a:t>
            </a:r>
          </a:p>
        </p:txBody>
      </p:sp>
      <p:sp>
        <p:nvSpPr>
          <p:cNvPr id="4" name="灯片编号占位符 3"/>
          <p:cNvSpPr>
            <a:spLocks noGrp="1"/>
          </p:cNvSpPr>
          <p:nvPr>
            <p:ph type="sldNum" sz="quarter" idx="5"/>
          </p:nvPr>
        </p:nvSpPr>
        <p:spPr/>
        <p:txBody>
          <a:bodyPr/>
          <a:lstStyle/>
          <a:p>
            <a:fld id="{F051B22D-B9B7-460C-AFF5-E4A2A2B766A2}" type="slidenum">
              <a:rPr lang="zh-CN" altLang="en-US"/>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21816BB-BF11-4CF3-BF4C-62091B73439F}" type="slidenum">
              <a:rPr lang="zh-CN" altLang="en-US"/>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flipH="1">
            <a:off x="0" y="0"/>
            <a:ext cx="0" cy="0"/>
          </a:xfrm>
        </p:spPr>
      </p:sp>
      <p:sp>
        <p:nvSpPr>
          <p:cNvPr id="3" name="Notes Placeholder 2"/>
          <p:cNvSpPr>
            <a:spLocks noGrp="1"/>
          </p:cNvSpPr>
          <p:nvPr>
            <p:ph type="body" idx="1"/>
          </p:nvPr>
        </p:nvSpPr>
        <p:spPr/>
        <p:txBody>
          <a:bodyPr>
            <a:normAutofit/>
          </a:bodyPr>
          <a:lstStyle/>
          <a:p>
            <a:r>
              <a:t>如有异常请联系客服（微信：sootar_ ）</a:t>
            </a:r>
          </a:p>
        </p:txBody>
      </p:sp>
      <p:sp>
        <p:nvSpPr>
          <p:cNvPr id="4" name="Slide Number Placeholder 3"/>
          <p:cNvSpPr>
            <a:spLocks noGrp="1"/>
          </p:cNvSpPr>
          <p:nvPr>
            <p:ph type="sldNum" sz="quarter" idx="10"/>
          </p:nvPr>
        </p:nvSpPr>
        <p:spPr/>
        <p:txBody>
          <a:bodyPr/>
          <a:lstStyle/>
          <a:p>
            <a:fld id="{6101C5E1-D8E9-464D-A93E-CE21651935A7}"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用户界面</a:t>
            </a:r>
          </a:p>
          <a:p>
            <a:r>
              <a:t>登录/注册模块: 用户可以通过注册账号并登录系统，系统会使用 Flask-Login 进行用户会话管理</a:t>
            </a:r>
          </a:p>
          <a:p>
            <a:r>
              <a:t>碳足迹计算模块: 用户可以输入不同类别的碳排放数据，系统会根据预设的系数计算总碳排放量，并生成可视化图表</a:t>
            </a:r>
          </a:p>
          <a:p>
            <a:r>
              <a:t>AI 对话模块: 用户可以与 CarbonAI 进行对话，获取碳排放相关的专业建议</a:t>
            </a:r>
          </a:p>
          <a:p>
            <a:r>
              <a:t>数据上传模块: 用户可以上传内部Excel文件，系统会解析文件中的数据并用于后续分析</a:t>
            </a:r>
          </a:p>
        </p:txBody>
      </p:sp>
      <p:sp>
        <p:nvSpPr>
          <p:cNvPr id="4" name="灯片编号占位符 3"/>
          <p:cNvSpPr>
            <a:spLocks noGrp="1"/>
          </p:cNvSpPr>
          <p:nvPr>
            <p:ph type="sldNum" sz="quarter" idx="5"/>
          </p:nvPr>
        </p:nvSpPr>
        <p:spPr/>
        <p:txBody>
          <a:bodyPr/>
          <a:lstStyle/>
          <a:p>
            <a:fld id="{F051B22D-B9B7-460C-AFF5-E4A2A2B766A2}" type="slidenum">
              <a:rPr lang="zh-CN" altLang="en-US"/>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数据来源与处理</a:t>
            </a:r>
          </a:p>
          <a:p>
            <a:r>
              <a:t>数据采集: 利用后羿采集器从CPCD爬取数据以及CEADs下载的碳排放因子数据，包括物品类别、行为活动、地理位置等，导出为Excel文件</a:t>
            </a:r>
          </a:p>
          <a:p>
            <a:r>
              <a:t>数据预处理: 开发一系列Python脚本，执行去重、数据类型转换（将分类变量转为所需类型）。使用Pandas和difflib进行高效数据分析和清洗</a:t>
            </a:r>
          </a:p>
        </p:txBody>
      </p:sp>
      <p:sp>
        <p:nvSpPr>
          <p:cNvPr id="4" name="灯片编号占位符 3"/>
          <p:cNvSpPr>
            <a:spLocks noGrp="1"/>
          </p:cNvSpPr>
          <p:nvPr>
            <p:ph type="sldNum" sz="quarter" idx="5"/>
          </p:nvPr>
        </p:nvSpPr>
        <p:spPr/>
        <p:txBody>
          <a:bodyPr/>
          <a:lstStyle/>
          <a:p>
            <a:fld id="{F051B22D-B9B7-460C-AFF5-E4A2A2B766A2}" type="slidenum">
              <a:rPr lang="zh-CN" altLang="en-US"/>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模型构建与改进</a:t>
            </a:r>
          </a:p>
          <a:p>
            <a:r>
              <a:t>通过扩充碳排放领域的多样化数据集，</a:t>
            </a:r>
          </a:p>
          <a:p>
            <a:r>
              <a:t>涵盖不同地区和行业的排放因子，提升模型的专业性和适用性。同时，利用用户交互数据进行微调训练，优化模型对复杂问题的理解和响应能力。结合用户反馈机制，持续改进回答的准确性与实用性，并在多场景下测试模型，确保其稳定性和通用性，从而更好地满足用户需求</a:t>
            </a:r>
          </a:p>
        </p:txBody>
      </p:sp>
      <p:sp>
        <p:nvSpPr>
          <p:cNvPr id="4" name="灯片编号占位符 3"/>
          <p:cNvSpPr>
            <a:spLocks noGrp="1"/>
          </p:cNvSpPr>
          <p:nvPr>
            <p:ph type="sldNum" sz="quarter" idx="5"/>
          </p:nvPr>
        </p:nvSpPr>
        <p:spPr/>
        <p:txBody>
          <a:bodyPr/>
          <a:lstStyle/>
          <a:p>
            <a:fld id="{F051B22D-B9B7-460C-AFF5-E4A2A2B766A2}" type="slidenum">
              <a:rPr lang="zh-CN" altLang="en-US"/>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系统部署</a:t>
            </a:r>
          </a:p>
          <a:p>
            <a:r>
              <a:t>环境准备: 在服务器上安装 Python 3.8+、Flask、FastAPI 等依赖</a:t>
            </a:r>
          </a:p>
          <a:p>
            <a:r>
              <a:t>代码部署: 将前端和后端代码部署到服务器上，配置 Nginx 作为反向代理</a:t>
            </a:r>
          </a:p>
          <a:p>
            <a:r>
              <a:t>数据库初始化: 使用 SQLite 作为用户数据库，初始化用户表结构</a:t>
            </a:r>
          </a:p>
          <a:p>
            <a:r>
              <a:t>服务启动: 使用 uvicorn 启动 FastAPI 服务，使用 gunicorn 启动 Flask 服务</a:t>
            </a:r>
          </a:p>
          <a:p>
            <a:r>
              <a:t>监控与维护: 使用 Supervisor 进行进程管理，确保服务在异常情况下能够自动重启</a:t>
            </a:r>
          </a:p>
        </p:txBody>
      </p:sp>
      <p:sp>
        <p:nvSpPr>
          <p:cNvPr id="4" name="灯片编号占位符 3"/>
          <p:cNvSpPr>
            <a:spLocks noGrp="1"/>
          </p:cNvSpPr>
          <p:nvPr>
            <p:ph type="sldNum" sz="quarter" idx="5"/>
          </p:nvPr>
        </p:nvSpPr>
        <p:spPr/>
        <p:txBody>
          <a:bodyPr/>
          <a:lstStyle/>
          <a:p>
            <a:fld id="{F051B22D-B9B7-460C-AFF5-E4A2A2B766A2}" type="slidenum">
              <a:rPr lang="zh-CN" altLang="en-US"/>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遇到的困难与解决方案</a:t>
            </a:r>
          </a:p>
          <a:p>
            <a:r>
              <a:t>WebSocket 连接不稳定: 在开发过程中，WebSocket 连接经常出现断开的情况。通过增加重试机制和优化网络配置，解决了这一问题</a:t>
            </a:r>
          </a:p>
          <a:p>
            <a:r>
              <a:t>数据解析错误: 用户上传的 Excel 文件格式不一致，导致数据解析失败。通过增加文件格式校验和错误提示，提升了系统的健壮性</a:t>
            </a:r>
          </a:p>
          <a:p>
            <a:r>
              <a:t>AI 模型响应慢: 初期 AI 模型响应时间较长，通过优化模型参数和增加缓存机制，显著提升了响应速度</a:t>
            </a:r>
          </a:p>
        </p:txBody>
      </p:sp>
      <p:sp>
        <p:nvSpPr>
          <p:cNvPr id="4" name="灯片编号占位符 3"/>
          <p:cNvSpPr>
            <a:spLocks noGrp="1"/>
          </p:cNvSpPr>
          <p:nvPr>
            <p:ph type="sldNum" sz="quarter" idx="5"/>
          </p:nvPr>
        </p:nvSpPr>
        <p:spPr/>
        <p:txBody>
          <a:bodyPr/>
          <a:lstStyle/>
          <a:p>
            <a:fld id="{F051B22D-B9B7-460C-AFF5-E4A2A2B766A2}" type="slidenum">
              <a:rPr lang="zh-CN" altLang="en-US"/>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844330-D65E-433C-A90B-DC730FD555C4}" type="slidenum">
              <a:rPr lang="zh-CN" altLang="en-US"/>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5.1数据来源与规模</a:t>
            </a:r>
          </a:p>
          <a:p>
            <a:r>
              <a:t>数据来源：数据主要来源于CPCD、CEADs网站的公开信息，覆盖全国范围内的碳排放因子记录。这些数据包括但不限于省份、事物种类、行为活动，总量跨度25年，确保分析的广度和深度</a:t>
            </a:r>
          </a:p>
          <a:p>
            <a:r>
              <a:t>数据规模：在清洗与预处理后，充分满足模型调用和验证的需求，保证分析结果的代表性</a:t>
            </a:r>
          </a:p>
        </p:txBody>
      </p:sp>
      <p:sp>
        <p:nvSpPr>
          <p:cNvPr id="4" name="灯片编号占位符 3"/>
          <p:cNvSpPr>
            <a:spLocks noGrp="1"/>
          </p:cNvSpPr>
          <p:nvPr>
            <p:ph type="sldNum" sz="quarter" idx="5"/>
          </p:nvPr>
        </p:nvSpPr>
        <p:spPr/>
        <p:txBody>
          <a:bodyPr/>
          <a:lstStyle/>
          <a:p>
            <a:fld id="{F051B22D-B9B7-460C-AFF5-E4A2A2B766A2}" type="slidenum">
              <a:rPr lang="zh-CN" altLang="en-US"/>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5.2测试过程</a:t>
            </a:r>
          </a:p>
          <a:p>
            <a:r>
              <a:t>碳足迹计算：输入标准测试数据集误差率&lt;5%平均误差率3.2%</a:t>
            </a:r>
          </a:p>
          <a:p>
            <a:r>
              <a:t>AI对话响应：发送100条专业问题响应时间&lt;3s，准确率&gt;85%平均2.8s，准确率89.3%</a:t>
            </a:r>
          </a:p>
          <a:p>
            <a:r>
              <a:t>数据可视化：生成多维度图表图表渲染成功率100%成功渲染率98.6%</a:t>
            </a:r>
          </a:p>
          <a:p>
            <a:r>
              <a:t>Excel文件处理：上传内部文件处理时间&lt;10s平均8</a:t>
            </a:r>
          </a:p>
        </p:txBody>
      </p:sp>
      <p:sp>
        <p:nvSpPr>
          <p:cNvPr id="4" name="灯片编号占位符 3"/>
          <p:cNvSpPr>
            <a:spLocks noGrp="1"/>
          </p:cNvSpPr>
          <p:nvPr>
            <p:ph type="sldNum" sz="quarter" idx="5"/>
          </p:nvPr>
        </p:nvSpPr>
        <p:spPr/>
        <p:txBody>
          <a:bodyPr/>
          <a:lstStyle/>
          <a:p>
            <a:fld id="{F051B22D-B9B7-460C-AFF5-E4A2A2B766A2}" type="slidenum">
              <a:rPr lang="zh-CN" altLang="en-US"/>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5.3分析与结论</a:t>
            </a:r>
          </a:p>
          <a:p>
            <a:r>
              <a:t>本研究基于CPCD和CEADs的权威数据源，</a:t>
            </a:r>
          </a:p>
          <a:p>
            <a:r>
              <a:t>覆盖全国范围的碳排放因子及25年跨度的多维度数据，结合本地化实测因子与标准化核算方法，验证了碳足迹计算的科学性与可靠性</a:t>
            </a:r>
          </a:p>
          <a:p>
            <a:r>
              <a:t>测试结果显示，碳足迹计算平均误差率为3.2%，显著低于预设阈值（&lt;5%），体现了数据清洗与模型调用的高效性</a:t>
            </a:r>
          </a:p>
        </p:txBody>
      </p:sp>
      <p:sp>
        <p:nvSpPr>
          <p:cNvPr id="4" name="灯片编号占位符 3"/>
          <p:cNvSpPr>
            <a:spLocks noGrp="1"/>
          </p:cNvSpPr>
          <p:nvPr>
            <p:ph type="sldNum" sz="quarter" idx="5"/>
          </p:nvPr>
        </p:nvSpPr>
        <p:spPr/>
        <p:txBody>
          <a:bodyPr/>
          <a:lstStyle/>
          <a:p>
            <a:fld id="{F051B22D-B9B7-460C-AFF5-E4A2A2B766A2}" type="slidenum">
              <a:rPr lang="zh-CN" altLang="en-US"/>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09F79B7E-8D9D-4559-BA2C-901A5EF4E504}" type="slidenum">
              <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t>37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844330-D65E-433C-A90B-DC730FD555C4}" type="slidenum">
              <a:rPr lang="zh-CN" altLang="en-US"/>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6.1 作品特色与创新点</a:t>
            </a:r>
          </a:p>
          <a:p>
            <a:r>
              <a:t>技术融合创新：首创“大模型+动态因子库”两位一体架构，集成讯飞星火Spark Lite大模型实现自然语言交互，构建动态排放因子的智能匹配引擎。测试显示碳核算效率提升40%，交互响应速度达2.8秒</a:t>
            </a:r>
          </a:p>
          <a:p>
            <a:r>
              <a:t>多维分析创新：开发时空耦合的可视化分析系统，支持31个省级行政区25年碳排放数据的多维度穿透式分析，独创"碳排放热力图谱"展现行业-区域-时间三维关联，较传统系统增加12个分析维度</a:t>
            </a:r>
          </a:p>
          <a:p>
            <a:r>
              <a:t>交互模式创新：引入用户行为驱动的智能激励机制，生成个性化称号体系，结合交互式参数调节工具，使中小企业用户参与度提升</a:t>
            </a:r>
          </a:p>
        </p:txBody>
      </p:sp>
      <p:sp>
        <p:nvSpPr>
          <p:cNvPr id="4" name="灯片编号占位符 3"/>
          <p:cNvSpPr>
            <a:spLocks noGrp="1"/>
          </p:cNvSpPr>
          <p:nvPr>
            <p:ph type="sldNum" sz="quarter" idx="5"/>
          </p:nvPr>
        </p:nvSpPr>
        <p:spPr/>
        <p:txBody>
          <a:bodyPr/>
          <a:lstStyle/>
          <a:p>
            <a:fld id="{F051B22D-B9B7-460C-AFF5-E4A2A2B766A2}" type="slidenum">
              <a:rPr lang="zh-CN" altLang="en-US"/>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6.2 应用推广</a:t>
            </a:r>
          </a:p>
          <a:p>
            <a:r>
              <a:t>政府端应用：作为碳监管数字基座，已适配8项国家/行业标准，可对接全国碳市场监测系统，支撑配额分配、CCER核证等核心场景，助力实现年覆盖80亿吨碳排放量的监管目标</a:t>
            </a:r>
          </a:p>
          <a:p>
            <a:r>
              <a:t>企业端推广：针对钢铁、水泥等高耗能行业开发垂直解决方案，通过SaaS模式降低中小企碳管理成本，预计可为单家企业年均节约碳核查费用12万元</a:t>
            </a:r>
          </a:p>
          <a:p>
            <a:r>
              <a:t>媒体与社群营销：利用社交媒体、汽车爱好者论坛、博客等渠道，发布问答技巧、场景分析等内容，吸引潜在用户群体，增强用户粘性</a:t>
            </a:r>
          </a:p>
          <a:p>
            <a:r>
              <a:t>移动应用开发：开发便于用户使用的手机应用程序，提供便捷的估价查询入口，利用移动端的普及性增加用户基数</a:t>
            </a:r>
          </a:p>
        </p:txBody>
      </p:sp>
      <p:sp>
        <p:nvSpPr>
          <p:cNvPr id="4" name="灯片编号占位符 3"/>
          <p:cNvSpPr>
            <a:spLocks noGrp="1"/>
          </p:cNvSpPr>
          <p:nvPr>
            <p:ph type="sldNum" sz="quarter" idx="5"/>
          </p:nvPr>
        </p:nvSpPr>
        <p:spPr/>
        <p:txBody>
          <a:bodyPr/>
          <a:lstStyle/>
          <a:p>
            <a:fld id="{F051B22D-B9B7-460C-AFF5-E4A2A2B766A2}" type="slidenum">
              <a:rPr lang="zh-CN" altLang="en-US"/>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a:p>
            <a:r>
              <a:t>6.3 作品展望</a:t>
            </a:r>
          </a:p>
          <a:p>
            <a:r>
              <a:t>数据维度扩展：计划纳入电力大数据、卫星遥感监测数据，构建"天地空"一体化监测网络，将碳排放因子库规模扩展至30万+，覆盖全球100+重点城市</a:t>
            </a:r>
          </a:p>
          <a:p>
            <a:r>
              <a:t>智能模型优化：研发领域专用大模型CarbonGPT，融合知识图谱与强化学习技术，力争将碳核算误差率控制在1.5%以内，响应速度提升至1秒级</a:t>
            </a:r>
          </a:p>
          <a:p>
            <a:r>
              <a:t>生态系统构建：开发碳资产管理系统（CMS）与供应链协同平台，打通"监测-交易-抵消"全链条，计划接入全国8大碳交易所实时交易数据</a:t>
            </a:r>
          </a:p>
          <a:p>
            <a:r>
              <a:t>国际标准对接：建立跨机构碳数据互认机制，开发符合ISO14064、GHG Protocol等国际标准的自动核证功能，助力我国碳管理体系的全球化接轨</a:t>
            </a:r>
          </a:p>
        </p:txBody>
      </p:sp>
      <p:sp>
        <p:nvSpPr>
          <p:cNvPr id="4" name="灯片编号占位符 3"/>
          <p:cNvSpPr>
            <a:spLocks noGrp="1"/>
          </p:cNvSpPr>
          <p:nvPr>
            <p:ph type="sldNum" sz="quarter" idx="5"/>
          </p:nvPr>
        </p:nvSpPr>
        <p:spPr/>
        <p:txBody>
          <a:bodyPr/>
          <a:lstStyle/>
          <a:p>
            <a:fld id="{F051B22D-B9B7-460C-AFF5-E4A2A2B766A2}" type="slidenum">
              <a:rPr lang="zh-CN" altLang="en-US"/>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flipH="1">
            <a:off x="0" y="0"/>
            <a:ext cx="0" cy="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7844330-D65E-433C-A90B-DC730FD555C4}" type="slidenum">
              <a:rPr lang="zh-CN" altLang="en-US"/>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flipH="1">
            <a:off x="0" y="0"/>
            <a:ext cx="0" cy="0"/>
          </a:xfrm>
        </p:spPr>
      </p:sp>
      <p:sp>
        <p:nvSpPr>
          <p:cNvPr id="3" name="Notes Placeholder 2"/>
          <p:cNvSpPr>
            <a:spLocks noGrp="1"/>
          </p:cNvSpPr>
          <p:nvPr>
            <p:ph type="body" idx="1"/>
          </p:nvPr>
        </p:nvSpPr>
        <p:spPr/>
        <p:txBody>
          <a:bodyPr>
            <a:normAutofit/>
          </a:bodyPr>
          <a:lstStyle/>
          <a:p>
            <a:r>
              <a:t>如有异常请联系客服（微信：sootar_ ）</a:t>
            </a:r>
          </a:p>
        </p:txBody>
      </p:sp>
      <p:sp>
        <p:nvSpPr>
          <p:cNvPr id="4" name="Slide Number Placeholder 3"/>
          <p:cNvSpPr>
            <a:spLocks noGrp="1"/>
          </p:cNvSpPr>
          <p:nvPr>
            <p:ph type="sldNum" sz="quarter" idx="10"/>
          </p:nvPr>
        </p:nvSpPr>
        <p:spPr/>
        <p:txBody>
          <a:bodyPr/>
          <a:lstStyle/>
          <a:p>
            <a:fld id="{6101C5E1-D8E9-464D-A93E-CE21651935A7}" type="slidenum">
              <a:rPr lang="en-US"/>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flipH="1">
            <a:off x="0" y="0"/>
            <a:ext cx="0" cy="0"/>
          </a:xfrm>
        </p:spPr>
      </p:sp>
      <p:sp>
        <p:nvSpPr>
          <p:cNvPr id="3" name="Notes Placeholder 2"/>
          <p:cNvSpPr>
            <a:spLocks noGrp="1"/>
          </p:cNvSpPr>
          <p:nvPr>
            <p:ph type="body" idx="1"/>
          </p:nvPr>
        </p:nvSpPr>
        <p:spPr/>
        <p:txBody>
          <a:bodyPr>
            <a:normAutofit/>
          </a:bodyPr>
          <a:lstStyle/>
          <a:p>
            <a:r>
              <a:t>如有异常请联系客服（微信：sootar_ ）</a:t>
            </a:r>
          </a:p>
        </p:txBody>
      </p:sp>
      <p:sp>
        <p:nvSpPr>
          <p:cNvPr id="4" name="Slide Number Placeholder 3"/>
          <p:cNvSpPr>
            <a:spLocks noGrp="1"/>
          </p:cNvSpPr>
          <p:nvPr>
            <p:ph type="sldNum" sz="quarter" idx="10"/>
          </p:nvPr>
        </p:nvSpPr>
        <p:spPr/>
        <p:txBody>
          <a:bodyPr/>
          <a:lstStyle/>
          <a:p>
            <a:fld id="{6101C5E1-D8E9-464D-A93E-CE21651935A7}" type="slidenum">
              <a:rPr lang="en-US"/>
              <a:t>44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p:spPr>
        <p:txBody>
          <a:bodyPr/>
          <a:lstStyle/>
          <a:p>
            <a:fld id="{E8FD0B7A-F5DD-4F40-B4CB-3B2C354B893A}" type="datetimeFigureOut">
              <a:rPr lang="en-US"/>
              <a:t>5/5/2025</a:t>
            </a:fld>
            <a:endParaRPr lang="en-US"/>
          </a:p>
        </p:txBody>
      </p:sp>
      <p:sp>
        <p:nvSpPr>
          <p:cNvPr id="3" name="Footer Placeholder 2"/>
          <p:cNvSpPr>
            <a:spLocks noGrp="1"/>
          </p:cNvSpPr>
          <p:nvPr>
            <p:ph type="ftr" sz="quarter" idx="11"/>
          </p:nvPr>
        </p:nvSpPr>
        <p:spPr>
          <a:xfrm>
            <a:off x="4165600" y="6356350"/>
            <a:ext cx="3860800" cy="365125"/>
          </a:xfrm>
        </p:spPr>
        <p:txBody>
          <a:bodyPr/>
          <a:lstStyle/>
          <a:p>
            <a:endParaRPr lang="en-US"/>
          </a:p>
        </p:txBody>
      </p:sp>
      <p:sp>
        <p:nvSpPr>
          <p:cNvPr id="4" name="Slide Number Placeholder 3"/>
          <p:cNvSpPr>
            <a:spLocks noGrp="1"/>
          </p:cNvSpPr>
          <p:nvPr>
            <p:ph type="sldNum" sz="quarter" idx="12"/>
          </p:nvPr>
        </p:nvSpPr>
        <p:spPr>
          <a:xfrm>
            <a:off x="8737600" y="6356350"/>
            <a:ext cx="2844800" cy="365125"/>
          </a:xfrm>
        </p:spPr>
        <p:txBody>
          <a:bodyPr/>
          <a:lstStyle/>
          <a:p>
            <a:fld id="{93AE1883-0942-4AA3-9DB2-9C7C3A0314B1}" type="slidenum">
              <a:rPr lang="en-US"/>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fld id="{E8FD0B7A-F5DD-4F40-B4CB-3B2C354B893A}" type="datetimeFigureOut">
              <a:rPr lang="en-US"/>
              <a:t>5/5/2025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fld id="{93AE1883-0942-4AA3-9DB2-9C7C3A0314B1}"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4.xml"/><Relationship Id="rId5"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16.png"/><Relationship Id="rId5" Type="http://schemas.openxmlformats.org/officeDocument/2006/relationships/image" Target="../media/image6.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6.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8.xml"/><Relationship Id="rId5" Type="http://schemas.openxmlformats.org/officeDocument/2006/relationships/image" Target="../media/image6.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6.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0.xml"/><Relationship Id="rId5" Type="http://schemas.openxmlformats.org/officeDocument/2006/relationships/image" Target="../media/image6.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2.xml"/><Relationship Id="rId5" Type="http://schemas.openxmlformats.org/officeDocument/2006/relationships/image" Target="../media/image6.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18.png"/><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17.png"/><Relationship Id="rId5" Type="http://schemas.openxmlformats.org/officeDocument/2006/relationships/image" Target="../media/image6.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14.xml"/><Relationship Id="rId5" Type="http://schemas.openxmlformats.org/officeDocument/2006/relationships/image" Target="../media/image6.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9.png"/><Relationship Id="rId5" Type="http://schemas.openxmlformats.org/officeDocument/2006/relationships/image" Target="../media/image6.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16.xml"/><Relationship Id="rId6" Type="http://schemas.openxmlformats.org/officeDocument/2006/relationships/image" Target="../media/image20.png"/><Relationship Id="rId5" Type="http://schemas.openxmlformats.org/officeDocument/2006/relationships/image" Target="../media/image6.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17" Type="http://schemas.openxmlformats.org/officeDocument/2006/relationships/tags" Target="../tags/tag133.xml"/><Relationship Id="rId21" Type="http://schemas.openxmlformats.org/officeDocument/2006/relationships/tags" Target="../tags/tag37.xml"/><Relationship Id="rId42" Type="http://schemas.openxmlformats.org/officeDocument/2006/relationships/tags" Target="../tags/tag58.xml"/><Relationship Id="rId63" Type="http://schemas.openxmlformats.org/officeDocument/2006/relationships/tags" Target="../tags/tag79.xml"/><Relationship Id="rId84" Type="http://schemas.openxmlformats.org/officeDocument/2006/relationships/tags" Target="../tags/tag100.xml"/><Relationship Id="rId138" Type="http://schemas.openxmlformats.org/officeDocument/2006/relationships/tags" Target="../tags/tag154.xml"/><Relationship Id="rId159" Type="http://schemas.openxmlformats.org/officeDocument/2006/relationships/tags" Target="../tags/tag175.xml"/><Relationship Id="rId170" Type="http://schemas.openxmlformats.org/officeDocument/2006/relationships/tags" Target="../tags/tag186.xml"/><Relationship Id="rId191" Type="http://schemas.openxmlformats.org/officeDocument/2006/relationships/tags" Target="../tags/tag207.xml"/><Relationship Id="rId205" Type="http://schemas.openxmlformats.org/officeDocument/2006/relationships/tags" Target="../tags/tag221.xml"/><Relationship Id="rId107" Type="http://schemas.openxmlformats.org/officeDocument/2006/relationships/tags" Target="../tags/tag123.xml"/><Relationship Id="rId11" Type="http://schemas.openxmlformats.org/officeDocument/2006/relationships/tags" Target="../tags/tag27.xml"/><Relationship Id="rId32" Type="http://schemas.openxmlformats.org/officeDocument/2006/relationships/tags" Target="../tags/tag48.xml"/><Relationship Id="rId53" Type="http://schemas.openxmlformats.org/officeDocument/2006/relationships/tags" Target="../tags/tag69.xml"/><Relationship Id="rId74" Type="http://schemas.openxmlformats.org/officeDocument/2006/relationships/tags" Target="../tags/tag90.xml"/><Relationship Id="rId128" Type="http://schemas.openxmlformats.org/officeDocument/2006/relationships/tags" Target="../tags/tag144.xml"/><Relationship Id="rId149" Type="http://schemas.openxmlformats.org/officeDocument/2006/relationships/tags" Target="../tags/tag165.xml"/><Relationship Id="rId5" Type="http://schemas.openxmlformats.org/officeDocument/2006/relationships/tags" Target="../tags/tag21.xml"/><Relationship Id="rId95" Type="http://schemas.openxmlformats.org/officeDocument/2006/relationships/tags" Target="../tags/tag111.xml"/><Relationship Id="rId160" Type="http://schemas.openxmlformats.org/officeDocument/2006/relationships/tags" Target="../tags/tag176.xml"/><Relationship Id="rId181" Type="http://schemas.openxmlformats.org/officeDocument/2006/relationships/tags" Target="../tags/tag197.xml"/><Relationship Id="rId216" Type="http://schemas.openxmlformats.org/officeDocument/2006/relationships/tags" Target="../tags/tag232.xml"/><Relationship Id="rId22" Type="http://schemas.openxmlformats.org/officeDocument/2006/relationships/tags" Target="../tags/tag38.xml"/><Relationship Id="rId43" Type="http://schemas.openxmlformats.org/officeDocument/2006/relationships/tags" Target="../tags/tag59.xml"/><Relationship Id="rId64" Type="http://schemas.openxmlformats.org/officeDocument/2006/relationships/tags" Target="../tags/tag80.xml"/><Relationship Id="rId118" Type="http://schemas.openxmlformats.org/officeDocument/2006/relationships/tags" Target="../tags/tag134.xml"/><Relationship Id="rId139" Type="http://schemas.openxmlformats.org/officeDocument/2006/relationships/tags" Target="../tags/tag155.xml"/><Relationship Id="rId85" Type="http://schemas.openxmlformats.org/officeDocument/2006/relationships/tags" Target="../tags/tag101.xml"/><Relationship Id="rId150" Type="http://schemas.openxmlformats.org/officeDocument/2006/relationships/tags" Target="../tags/tag166.xml"/><Relationship Id="rId171" Type="http://schemas.openxmlformats.org/officeDocument/2006/relationships/tags" Target="../tags/tag187.xml"/><Relationship Id="rId192" Type="http://schemas.openxmlformats.org/officeDocument/2006/relationships/tags" Target="../tags/tag208.xml"/><Relationship Id="rId206" Type="http://schemas.openxmlformats.org/officeDocument/2006/relationships/tags" Target="../tags/tag222.xml"/><Relationship Id="rId12" Type="http://schemas.openxmlformats.org/officeDocument/2006/relationships/tags" Target="../tags/tag28.xml"/><Relationship Id="rId33" Type="http://schemas.openxmlformats.org/officeDocument/2006/relationships/tags" Target="../tags/tag49.xml"/><Relationship Id="rId108" Type="http://schemas.openxmlformats.org/officeDocument/2006/relationships/tags" Target="../tags/tag124.xml"/><Relationship Id="rId129" Type="http://schemas.openxmlformats.org/officeDocument/2006/relationships/tags" Target="../tags/tag145.xml"/><Relationship Id="rId54" Type="http://schemas.openxmlformats.org/officeDocument/2006/relationships/tags" Target="../tags/tag70.xml"/><Relationship Id="rId75" Type="http://schemas.openxmlformats.org/officeDocument/2006/relationships/tags" Target="../tags/tag91.xml"/><Relationship Id="rId96" Type="http://schemas.openxmlformats.org/officeDocument/2006/relationships/tags" Target="../tags/tag112.xml"/><Relationship Id="rId140" Type="http://schemas.openxmlformats.org/officeDocument/2006/relationships/tags" Target="../tags/tag156.xml"/><Relationship Id="rId161" Type="http://schemas.openxmlformats.org/officeDocument/2006/relationships/tags" Target="../tags/tag177.xml"/><Relationship Id="rId182" Type="http://schemas.openxmlformats.org/officeDocument/2006/relationships/tags" Target="../tags/tag198.xml"/><Relationship Id="rId217" Type="http://schemas.openxmlformats.org/officeDocument/2006/relationships/tags" Target="../tags/tag233.xml"/><Relationship Id="rId6" Type="http://schemas.openxmlformats.org/officeDocument/2006/relationships/tags" Target="../tags/tag22.xml"/><Relationship Id="rId23" Type="http://schemas.openxmlformats.org/officeDocument/2006/relationships/tags" Target="../tags/tag39.xml"/><Relationship Id="rId119" Type="http://schemas.openxmlformats.org/officeDocument/2006/relationships/tags" Target="../tags/tag135.xml"/><Relationship Id="rId44" Type="http://schemas.openxmlformats.org/officeDocument/2006/relationships/tags" Target="../tags/tag60.xml"/><Relationship Id="rId65" Type="http://schemas.openxmlformats.org/officeDocument/2006/relationships/tags" Target="../tags/tag81.xml"/><Relationship Id="rId86" Type="http://schemas.openxmlformats.org/officeDocument/2006/relationships/tags" Target="../tags/tag102.xml"/><Relationship Id="rId130" Type="http://schemas.openxmlformats.org/officeDocument/2006/relationships/tags" Target="../tags/tag146.xml"/><Relationship Id="rId151" Type="http://schemas.openxmlformats.org/officeDocument/2006/relationships/tags" Target="../tags/tag167.xml"/><Relationship Id="rId172" Type="http://schemas.openxmlformats.org/officeDocument/2006/relationships/tags" Target="../tags/tag188.xml"/><Relationship Id="rId193" Type="http://schemas.openxmlformats.org/officeDocument/2006/relationships/tags" Target="../tags/tag209.xml"/><Relationship Id="rId207" Type="http://schemas.openxmlformats.org/officeDocument/2006/relationships/tags" Target="../tags/tag223.xml"/><Relationship Id="rId13" Type="http://schemas.openxmlformats.org/officeDocument/2006/relationships/tags" Target="../tags/tag29.xml"/><Relationship Id="rId109" Type="http://schemas.openxmlformats.org/officeDocument/2006/relationships/tags" Target="../tags/tag125.xml"/><Relationship Id="rId34" Type="http://schemas.openxmlformats.org/officeDocument/2006/relationships/tags" Target="../tags/tag50.xml"/><Relationship Id="rId55" Type="http://schemas.openxmlformats.org/officeDocument/2006/relationships/tags" Target="../tags/tag71.xml"/><Relationship Id="rId76" Type="http://schemas.openxmlformats.org/officeDocument/2006/relationships/tags" Target="../tags/tag92.xml"/><Relationship Id="rId97" Type="http://schemas.openxmlformats.org/officeDocument/2006/relationships/tags" Target="../tags/tag113.xml"/><Relationship Id="rId120" Type="http://schemas.openxmlformats.org/officeDocument/2006/relationships/tags" Target="../tags/tag136.xml"/><Relationship Id="rId141" Type="http://schemas.openxmlformats.org/officeDocument/2006/relationships/tags" Target="../tags/tag157.xml"/><Relationship Id="rId7" Type="http://schemas.openxmlformats.org/officeDocument/2006/relationships/tags" Target="../tags/tag23.xml"/><Relationship Id="rId162" Type="http://schemas.openxmlformats.org/officeDocument/2006/relationships/tags" Target="../tags/tag178.xml"/><Relationship Id="rId183" Type="http://schemas.openxmlformats.org/officeDocument/2006/relationships/tags" Target="../tags/tag199.xml"/><Relationship Id="rId218" Type="http://schemas.openxmlformats.org/officeDocument/2006/relationships/tags" Target="../tags/tag234.xml"/><Relationship Id="rId24" Type="http://schemas.openxmlformats.org/officeDocument/2006/relationships/tags" Target="../tags/tag40.xml"/><Relationship Id="rId45" Type="http://schemas.openxmlformats.org/officeDocument/2006/relationships/tags" Target="../tags/tag61.xml"/><Relationship Id="rId66" Type="http://schemas.openxmlformats.org/officeDocument/2006/relationships/tags" Target="../tags/tag82.xml"/><Relationship Id="rId87" Type="http://schemas.openxmlformats.org/officeDocument/2006/relationships/tags" Target="../tags/tag103.xml"/><Relationship Id="rId110" Type="http://schemas.openxmlformats.org/officeDocument/2006/relationships/tags" Target="../tags/tag126.xml"/><Relationship Id="rId131" Type="http://schemas.openxmlformats.org/officeDocument/2006/relationships/tags" Target="../tags/tag147.xml"/><Relationship Id="rId152" Type="http://schemas.openxmlformats.org/officeDocument/2006/relationships/tags" Target="../tags/tag168.xml"/><Relationship Id="rId173" Type="http://schemas.openxmlformats.org/officeDocument/2006/relationships/tags" Target="../tags/tag189.xml"/><Relationship Id="rId194" Type="http://schemas.openxmlformats.org/officeDocument/2006/relationships/tags" Target="../tags/tag210.xml"/><Relationship Id="rId208" Type="http://schemas.openxmlformats.org/officeDocument/2006/relationships/tags" Target="../tags/tag224.xml"/><Relationship Id="rId14" Type="http://schemas.openxmlformats.org/officeDocument/2006/relationships/tags" Target="../tags/tag30.xml"/><Relationship Id="rId35" Type="http://schemas.openxmlformats.org/officeDocument/2006/relationships/tags" Target="../tags/tag51.xml"/><Relationship Id="rId56" Type="http://schemas.openxmlformats.org/officeDocument/2006/relationships/tags" Target="../tags/tag72.xml"/><Relationship Id="rId77" Type="http://schemas.openxmlformats.org/officeDocument/2006/relationships/tags" Target="../tags/tag93.xml"/><Relationship Id="rId100" Type="http://schemas.openxmlformats.org/officeDocument/2006/relationships/tags" Target="../tags/tag116.xml"/><Relationship Id="rId8" Type="http://schemas.openxmlformats.org/officeDocument/2006/relationships/tags" Target="../tags/tag24.xml"/><Relationship Id="rId98" Type="http://schemas.openxmlformats.org/officeDocument/2006/relationships/tags" Target="../tags/tag114.xml"/><Relationship Id="rId121" Type="http://schemas.openxmlformats.org/officeDocument/2006/relationships/tags" Target="../tags/tag137.xml"/><Relationship Id="rId142" Type="http://schemas.openxmlformats.org/officeDocument/2006/relationships/tags" Target="../tags/tag158.xml"/><Relationship Id="rId163" Type="http://schemas.openxmlformats.org/officeDocument/2006/relationships/tags" Target="../tags/tag179.xml"/><Relationship Id="rId184" Type="http://schemas.openxmlformats.org/officeDocument/2006/relationships/tags" Target="../tags/tag200.xml"/><Relationship Id="rId219" Type="http://schemas.openxmlformats.org/officeDocument/2006/relationships/tags" Target="../tags/tag235.xml"/><Relationship Id="rId3" Type="http://schemas.openxmlformats.org/officeDocument/2006/relationships/tags" Target="../tags/tag19.xml"/><Relationship Id="rId214" Type="http://schemas.openxmlformats.org/officeDocument/2006/relationships/tags" Target="../tags/tag230.xml"/><Relationship Id="rId25" Type="http://schemas.openxmlformats.org/officeDocument/2006/relationships/tags" Target="../tags/tag41.xml"/><Relationship Id="rId46" Type="http://schemas.openxmlformats.org/officeDocument/2006/relationships/tags" Target="../tags/tag62.xml"/><Relationship Id="rId67" Type="http://schemas.openxmlformats.org/officeDocument/2006/relationships/tags" Target="../tags/tag83.xml"/><Relationship Id="rId116" Type="http://schemas.openxmlformats.org/officeDocument/2006/relationships/tags" Target="../tags/tag132.xml"/><Relationship Id="rId137" Type="http://schemas.openxmlformats.org/officeDocument/2006/relationships/tags" Target="../tags/tag153.xml"/><Relationship Id="rId158" Type="http://schemas.openxmlformats.org/officeDocument/2006/relationships/tags" Target="../tags/tag174.xml"/><Relationship Id="rId20" Type="http://schemas.openxmlformats.org/officeDocument/2006/relationships/tags" Target="../tags/tag36.xml"/><Relationship Id="rId41" Type="http://schemas.openxmlformats.org/officeDocument/2006/relationships/tags" Target="../tags/tag57.xml"/><Relationship Id="rId62" Type="http://schemas.openxmlformats.org/officeDocument/2006/relationships/tags" Target="../tags/tag78.xml"/><Relationship Id="rId83" Type="http://schemas.openxmlformats.org/officeDocument/2006/relationships/tags" Target="../tags/tag99.xml"/><Relationship Id="rId88" Type="http://schemas.openxmlformats.org/officeDocument/2006/relationships/tags" Target="../tags/tag104.xml"/><Relationship Id="rId111" Type="http://schemas.openxmlformats.org/officeDocument/2006/relationships/tags" Target="../tags/tag127.xml"/><Relationship Id="rId132" Type="http://schemas.openxmlformats.org/officeDocument/2006/relationships/tags" Target="../tags/tag148.xml"/><Relationship Id="rId153" Type="http://schemas.openxmlformats.org/officeDocument/2006/relationships/tags" Target="../tags/tag169.xml"/><Relationship Id="rId174" Type="http://schemas.openxmlformats.org/officeDocument/2006/relationships/tags" Target="../tags/tag190.xml"/><Relationship Id="rId179" Type="http://schemas.openxmlformats.org/officeDocument/2006/relationships/tags" Target="../tags/tag195.xml"/><Relationship Id="rId195" Type="http://schemas.openxmlformats.org/officeDocument/2006/relationships/tags" Target="../tags/tag211.xml"/><Relationship Id="rId209" Type="http://schemas.openxmlformats.org/officeDocument/2006/relationships/tags" Target="../tags/tag225.xml"/><Relationship Id="rId190" Type="http://schemas.openxmlformats.org/officeDocument/2006/relationships/tags" Target="../tags/tag206.xml"/><Relationship Id="rId204" Type="http://schemas.openxmlformats.org/officeDocument/2006/relationships/tags" Target="../tags/tag220.xml"/><Relationship Id="rId220" Type="http://schemas.openxmlformats.org/officeDocument/2006/relationships/tags" Target="../tags/tag236.xml"/><Relationship Id="rId225" Type="http://schemas.openxmlformats.org/officeDocument/2006/relationships/image" Target="../media/image6.png"/><Relationship Id="rId15" Type="http://schemas.openxmlformats.org/officeDocument/2006/relationships/tags" Target="../tags/tag31.xml"/><Relationship Id="rId36" Type="http://schemas.openxmlformats.org/officeDocument/2006/relationships/tags" Target="../tags/tag52.xml"/><Relationship Id="rId57" Type="http://schemas.openxmlformats.org/officeDocument/2006/relationships/tags" Target="../tags/tag73.xml"/><Relationship Id="rId106" Type="http://schemas.openxmlformats.org/officeDocument/2006/relationships/tags" Target="../tags/tag122.xml"/><Relationship Id="rId127" Type="http://schemas.openxmlformats.org/officeDocument/2006/relationships/tags" Target="../tags/tag143.xml"/><Relationship Id="rId10" Type="http://schemas.openxmlformats.org/officeDocument/2006/relationships/tags" Target="../tags/tag26.xml"/><Relationship Id="rId31" Type="http://schemas.openxmlformats.org/officeDocument/2006/relationships/tags" Target="../tags/tag47.xml"/><Relationship Id="rId52" Type="http://schemas.openxmlformats.org/officeDocument/2006/relationships/tags" Target="../tags/tag68.xml"/><Relationship Id="rId73" Type="http://schemas.openxmlformats.org/officeDocument/2006/relationships/tags" Target="../tags/tag89.xml"/><Relationship Id="rId78" Type="http://schemas.openxmlformats.org/officeDocument/2006/relationships/tags" Target="../tags/tag94.xml"/><Relationship Id="rId94" Type="http://schemas.openxmlformats.org/officeDocument/2006/relationships/tags" Target="../tags/tag110.xml"/><Relationship Id="rId99" Type="http://schemas.openxmlformats.org/officeDocument/2006/relationships/tags" Target="../tags/tag115.xml"/><Relationship Id="rId101" Type="http://schemas.openxmlformats.org/officeDocument/2006/relationships/tags" Target="../tags/tag117.xml"/><Relationship Id="rId122" Type="http://schemas.openxmlformats.org/officeDocument/2006/relationships/tags" Target="../tags/tag138.xml"/><Relationship Id="rId143" Type="http://schemas.openxmlformats.org/officeDocument/2006/relationships/tags" Target="../tags/tag159.xml"/><Relationship Id="rId148" Type="http://schemas.openxmlformats.org/officeDocument/2006/relationships/tags" Target="../tags/tag164.xml"/><Relationship Id="rId164" Type="http://schemas.openxmlformats.org/officeDocument/2006/relationships/tags" Target="../tags/tag180.xml"/><Relationship Id="rId169" Type="http://schemas.openxmlformats.org/officeDocument/2006/relationships/tags" Target="../tags/tag185.xml"/><Relationship Id="rId185" Type="http://schemas.openxmlformats.org/officeDocument/2006/relationships/tags" Target="../tags/tag201.xml"/><Relationship Id="rId4" Type="http://schemas.openxmlformats.org/officeDocument/2006/relationships/tags" Target="../tags/tag20.xml"/><Relationship Id="rId9" Type="http://schemas.openxmlformats.org/officeDocument/2006/relationships/tags" Target="../tags/tag25.xml"/><Relationship Id="rId180" Type="http://schemas.openxmlformats.org/officeDocument/2006/relationships/tags" Target="../tags/tag196.xml"/><Relationship Id="rId210" Type="http://schemas.openxmlformats.org/officeDocument/2006/relationships/tags" Target="../tags/tag226.xml"/><Relationship Id="rId215" Type="http://schemas.openxmlformats.org/officeDocument/2006/relationships/tags" Target="../tags/tag231.xml"/><Relationship Id="rId26" Type="http://schemas.openxmlformats.org/officeDocument/2006/relationships/tags" Target="../tags/tag42.xml"/><Relationship Id="rId47" Type="http://schemas.openxmlformats.org/officeDocument/2006/relationships/tags" Target="../tags/tag63.xml"/><Relationship Id="rId68" Type="http://schemas.openxmlformats.org/officeDocument/2006/relationships/tags" Target="../tags/tag84.xml"/><Relationship Id="rId89" Type="http://schemas.openxmlformats.org/officeDocument/2006/relationships/tags" Target="../tags/tag105.xml"/><Relationship Id="rId112" Type="http://schemas.openxmlformats.org/officeDocument/2006/relationships/tags" Target="../tags/tag128.xml"/><Relationship Id="rId133" Type="http://schemas.openxmlformats.org/officeDocument/2006/relationships/tags" Target="../tags/tag149.xml"/><Relationship Id="rId154" Type="http://schemas.openxmlformats.org/officeDocument/2006/relationships/tags" Target="../tags/tag170.xml"/><Relationship Id="rId175" Type="http://schemas.openxmlformats.org/officeDocument/2006/relationships/tags" Target="../tags/tag191.xml"/><Relationship Id="rId196" Type="http://schemas.openxmlformats.org/officeDocument/2006/relationships/tags" Target="../tags/tag212.xml"/><Relationship Id="rId200" Type="http://schemas.openxmlformats.org/officeDocument/2006/relationships/tags" Target="../tags/tag216.xml"/><Relationship Id="rId16" Type="http://schemas.openxmlformats.org/officeDocument/2006/relationships/tags" Target="../tags/tag32.xml"/><Relationship Id="rId221" Type="http://schemas.openxmlformats.org/officeDocument/2006/relationships/tags" Target="../tags/tag237.xml"/><Relationship Id="rId37" Type="http://schemas.openxmlformats.org/officeDocument/2006/relationships/tags" Target="../tags/tag53.xml"/><Relationship Id="rId58" Type="http://schemas.openxmlformats.org/officeDocument/2006/relationships/tags" Target="../tags/tag74.xml"/><Relationship Id="rId79" Type="http://schemas.openxmlformats.org/officeDocument/2006/relationships/tags" Target="../tags/tag95.xml"/><Relationship Id="rId102" Type="http://schemas.openxmlformats.org/officeDocument/2006/relationships/tags" Target="../tags/tag118.xml"/><Relationship Id="rId123" Type="http://schemas.openxmlformats.org/officeDocument/2006/relationships/tags" Target="../tags/tag139.xml"/><Relationship Id="rId144" Type="http://schemas.openxmlformats.org/officeDocument/2006/relationships/tags" Target="../tags/tag160.xml"/><Relationship Id="rId90" Type="http://schemas.openxmlformats.org/officeDocument/2006/relationships/tags" Target="../tags/tag106.xml"/><Relationship Id="rId165" Type="http://schemas.openxmlformats.org/officeDocument/2006/relationships/tags" Target="../tags/tag181.xml"/><Relationship Id="rId186" Type="http://schemas.openxmlformats.org/officeDocument/2006/relationships/tags" Target="../tags/tag202.xml"/><Relationship Id="rId211" Type="http://schemas.openxmlformats.org/officeDocument/2006/relationships/tags" Target="../tags/tag227.xml"/><Relationship Id="rId27" Type="http://schemas.openxmlformats.org/officeDocument/2006/relationships/tags" Target="../tags/tag43.xml"/><Relationship Id="rId48" Type="http://schemas.openxmlformats.org/officeDocument/2006/relationships/tags" Target="../tags/tag64.xml"/><Relationship Id="rId69" Type="http://schemas.openxmlformats.org/officeDocument/2006/relationships/tags" Target="../tags/tag85.xml"/><Relationship Id="rId113" Type="http://schemas.openxmlformats.org/officeDocument/2006/relationships/tags" Target="../tags/tag129.xml"/><Relationship Id="rId134" Type="http://schemas.openxmlformats.org/officeDocument/2006/relationships/tags" Target="../tags/tag150.xml"/><Relationship Id="rId80" Type="http://schemas.openxmlformats.org/officeDocument/2006/relationships/tags" Target="../tags/tag96.xml"/><Relationship Id="rId155" Type="http://schemas.openxmlformats.org/officeDocument/2006/relationships/tags" Target="../tags/tag171.xml"/><Relationship Id="rId176" Type="http://schemas.openxmlformats.org/officeDocument/2006/relationships/tags" Target="../tags/tag192.xml"/><Relationship Id="rId197" Type="http://schemas.openxmlformats.org/officeDocument/2006/relationships/tags" Target="../tags/tag213.xml"/><Relationship Id="rId201" Type="http://schemas.openxmlformats.org/officeDocument/2006/relationships/tags" Target="../tags/tag217.xml"/><Relationship Id="rId222" Type="http://schemas.openxmlformats.org/officeDocument/2006/relationships/slideLayout" Target="../slideLayouts/slideLayout1.xml"/><Relationship Id="rId17" Type="http://schemas.openxmlformats.org/officeDocument/2006/relationships/tags" Target="../tags/tag33.xml"/><Relationship Id="rId38" Type="http://schemas.openxmlformats.org/officeDocument/2006/relationships/tags" Target="../tags/tag54.xml"/><Relationship Id="rId59" Type="http://schemas.openxmlformats.org/officeDocument/2006/relationships/tags" Target="../tags/tag75.xml"/><Relationship Id="rId103" Type="http://schemas.openxmlformats.org/officeDocument/2006/relationships/tags" Target="../tags/tag119.xml"/><Relationship Id="rId124" Type="http://schemas.openxmlformats.org/officeDocument/2006/relationships/tags" Target="../tags/tag140.xml"/><Relationship Id="rId70" Type="http://schemas.openxmlformats.org/officeDocument/2006/relationships/tags" Target="../tags/tag86.xml"/><Relationship Id="rId91" Type="http://schemas.openxmlformats.org/officeDocument/2006/relationships/tags" Target="../tags/tag107.xml"/><Relationship Id="rId145" Type="http://schemas.openxmlformats.org/officeDocument/2006/relationships/tags" Target="../tags/tag161.xml"/><Relationship Id="rId166" Type="http://schemas.openxmlformats.org/officeDocument/2006/relationships/tags" Target="../tags/tag182.xml"/><Relationship Id="rId187" Type="http://schemas.openxmlformats.org/officeDocument/2006/relationships/tags" Target="../tags/tag203.xml"/><Relationship Id="rId1" Type="http://schemas.openxmlformats.org/officeDocument/2006/relationships/tags" Target="../tags/tag17.xml"/><Relationship Id="rId212" Type="http://schemas.openxmlformats.org/officeDocument/2006/relationships/tags" Target="../tags/tag228.xml"/><Relationship Id="rId28" Type="http://schemas.openxmlformats.org/officeDocument/2006/relationships/tags" Target="../tags/tag44.xml"/><Relationship Id="rId49" Type="http://schemas.openxmlformats.org/officeDocument/2006/relationships/tags" Target="../tags/tag65.xml"/><Relationship Id="rId114" Type="http://schemas.openxmlformats.org/officeDocument/2006/relationships/tags" Target="../tags/tag130.xml"/><Relationship Id="rId60" Type="http://schemas.openxmlformats.org/officeDocument/2006/relationships/tags" Target="../tags/tag76.xml"/><Relationship Id="rId81" Type="http://schemas.openxmlformats.org/officeDocument/2006/relationships/tags" Target="../tags/tag97.xml"/><Relationship Id="rId135" Type="http://schemas.openxmlformats.org/officeDocument/2006/relationships/tags" Target="../tags/tag151.xml"/><Relationship Id="rId156" Type="http://schemas.openxmlformats.org/officeDocument/2006/relationships/tags" Target="../tags/tag172.xml"/><Relationship Id="rId177" Type="http://schemas.openxmlformats.org/officeDocument/2006/relationships/tags" Target="../tags/tag193.xml"/><Relationship Id="rId198" Type="http://schemas.openxmlformats.org/officeDocument/2006/relationships/tags" Target="../tags/tag214.xml"/><Relationship Id="rId202" Type="http://schemas.openxmlformats.org/officeDocument/2006/relationships/tags" Target="../tags/tag218.xml"/><Relationship Id="rId223" Type="http://schemas.openxmlformats.org/officeDocument/2006/relationships/notesSlide" Target="../notesSlides/notesSlide20.xml"/><Relationship Id="rId18" Type="http://schemas.openxmlformats.org/officeDocument/2006/relationships/tags" Target="../tags/tag34.xml"/><Relationship Id="rId39" Type="http://schemas.openxmlformats.org/officeDocument/2006/relationships/tags" Target="../tags/tag55.xml"/><Relationship Id="rId50" Type="http://schemas.openxmlformats.org/officeDocument/2006/relationships/tags" Target="../tags/tag66.xml"/><Relationship Id="rId104" Type="http://schemas.openxmlformats.org/officeDocument/2006/relationships/tags" Target="../tags/tag120.xml"/><Relationship Id="rId125" Type="http://schemas.openxmlformats.org/officeDocument/2006/relationships/tags" Target="../tags/tag141.xml"/><Relationship Id="rId146" Type="http://schemas.openxmlformats.org/officeDocument/2006/relationships/tags" Target="../tags/tag162.xml"/><Relationship Id="rId167" Type="http://schemas.openxmlformats.org/officeDocument/2006/relationships/tags" Target="../tags/tag183.xml"/><Relationship Id="rId188" Type="http://schemas.openxmlformats.org/officeDocument/2006/relationships/tags" Target="../tags/tag204.xml"/><Relationship Id="rId71" Type="http://schemas.openxmlformats.org/officeDocument/2006/relationships/tags" Target="../tags/tag87.xml"/><Relationship Id="rId92" Type="http://schemas.openxmlformats.org/officeDocument/2006/relationships/tags" Target="../tags/tag108.xml"/><Relationship Id="rId213" Type="http://schemas.openxmlformats.org/officeDocument/2006/relationships/tags" Target="../tags/tag229.xml"/><Relationship Id="rId2" Type="http://schemas.openxmlformats.org/officeDocument/2006/relationships/tags" Target="../tags/tag18.xml"/><Relationship Id="rId29" Type="http://schemas.openxmlformats.org/officeDocument/2006/relationships/tags" Target="../tags/tag45.xml"/><Relationship Id="rId40" Type="http://schemas.openxmlformats.org/officeDocument/2006/relationships/tags" Target="../tags/tag56.xml"/><Relationship Id="rId115" Type="http://schemas.openxmlformats.org/officeDocument/2006/relationships/tags" Target="../tags/tag131.xml"/><Relationship Id="rId136" Type="http://schemas.openxmlformats.org/officeDocument/2006/relationships/tags" Target="../tags/tag152.xml"/><Relationship Id="rId157" Type="http://schemas.openxmlformats.org/officeDocument/2006/relationships/tags" Target="../tags/tag173.xml"/><Relationship Id="rId178" Type="http://schemas.openxmlformats.org/officeDocument/2006/relationships/tags" Target="../tags/tag194.xml"/><Relationship Id="rId61" Type="http://schemas.openxmlformats.org/officeDocument/2006/relationships/tags" Target="../tags/tag77.xml"/><Relationship Id="rId82" Type="http://schemas.openxmlformats.org/officeDocument/2006/relationships/tags" Target="../tags/tag98.xml"/><Relationship Id="rId199" Type="http://schemas.openxmlformats.org/officeDocument/2006/relationships/tags" Target="../tags/tag215.xml"/><Relationship Id="rId203" Type="http://schemas.openxmlformats.org/officeDocument/2006/relationships/tags" Target="../tags/tag219.xml"/><Relationship Id="rId19" Type="http://schemas.openxmlformats.org/officeDocument/2006/relationships/tags" Target="../tags/tag35.xml"/><Relationship Id="rId224" Type="http://schemas.openxmlformats.org/officeDocument/2006/relationships/image" Target="../media/image1.png"/><Relationship Id="rId30" Type="http://schemas.openxmlformats.org/officeDocument/2006/relationships/tags" Target="../tags/tag46.xml"/><Relationship Id="rId105" Type="http://schemas.openxmlformats.org/officeDocument/2006/relationships/tags" Target="../tags/tag121.xml"/><Relationship Id="rId126" Type="http://schemas.openxmlformats.org/officeDocument/2006/relationships/tags" Target="../tags/tag142.xml"/><Relationship Id="rId147" Type="http://schemas.openxmlformats.org/officeDocument/2006/relationships/tags" Target="../tags/tag163.xml"/><Relationship Id="rId168" Type="http://schemas.openxmlformats.org/officeDocument/2006/relationships/tags" Target="../tags/tag184.xml"/><Relationship Id="rId51" Type="http://schemas.openxmlformats.org/officeDocument/2006/relationships/tags" Target="../tags/tag67.xml"/><Relationship Id="rId72" Type="http://schemas.openxmlformats.org/officeDocument/2006/relationships/tags" Target="../tags/tag88.xml"/><Relationship Id="rId93" Type="http://schemas.openxmlformats.org/officeDocument/2006/relationships/tags" Target="../tags/tag109.xml"/><Relationship Id="rId189" Type="http://schemas.openxmlformats.org/officeDocument/2006/relationships/tags" Target="../tags/tag205.xml"/></Relationships>
</file>

<file path=ppt/slides/_rels/slide2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21.xml"/><Relationship Id="rId7" Type="http://schemas.openxmlformats.org/officeDocument/2006/relationships/image" Target="../media/image22.png"/><Relationship Id="rId2" Type="http://schemas.openxmlformats.org/officeDocument/2006/relationships/slideLayout" Target="../slideLayouts/slideLayout1.xml"/><Relationship Id="rId1" Type="http://schemas.openxmlformats.org/officeDocument/2006/relationships/tags" Target="../tags/tag238.xml"/><Relationship Id="rId6" Type="http://schemas.openxmlformats.org/officeDocument/2006/relationships/image" Target="../media/image21.png"/><Relationship Id="rId5" Type="http://schemas.openxmlformats.org/officeDocument/2006/relationships/image" Target="../media/image6.png"/><Relationship Id="rId4" Type="http://schemas.openxmlformats.org/officeDocument/2006/relationships/image" Target="../media/image1.png"/><Relationship Id="rId9" Type="http://schemas.openxmlformats.org/officeDocument/2006/relationships/image" Target="../media/image24.png"/></Relationships>
</file>

<file path=ppt/slides/_rels/slide2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241.xml"/><Relationship Id="rId7" Type="http://schemas.openxmlformats.org/officeDocument/2006/relationships/image" Target="../media/image6.png"/><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image" Target="../media/image1.png"/><Relationship Id="rId5" Type="http://schemas.openxmlformats.org/officeDocument/2006/relationships/notesSlide" Target="../notesSlides/notesSlide22.xml"/><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242.xml"/><Relationship Id="rId5" Type="http://schemas.openxmlformats.org/officeDocument/2006/relationships/image" Target="../media/image6.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243.xml"/><Relationship Id="rId5" Type="http://schemas.openxmlformats.org/officeDocument/2006/relationships/image" Target="../media/image6.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6.png"/><Relationship Id="rId9"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244.xml"/><Relationship Id="rId6" Type="http://schemas.openxmlformats.org/officeDocument/2006/relationships/image" Target="../media/image16.png"/><Relationship Id="rId5" Type="http://schemas.openxmlformats.org/officeDocument/2006/relationships/image" Target="../media/image6.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33.png"/><Relationship Id="rId2" Type="http://schemas.openxmlformats.org/officeDocument/2006/relationships/slideLayout" Target="../slideLayouts/slideLayout1.xml"/><Relationship Id="rId1" Type="http://schemas.openxmlformats.org/officeDocument/2006/relationships/tags" Target="../tags/tag245.xml"/><Relationship Id="rId6" Type="http://schemas.openxmlformats.org/officeDocument/2006/relationships/image" Target="../media/image32.png"/><Relationship Id="rId5" Type="http://schemas.openxmlformats.org/officeDocument/2006/relationships/image" Target="../media/image6.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246.xml"/><Relationship Id="rId5" Type="http://schemas.openxmlformats.org/officeDocument/2006/relationships/image" Target="../media/image6.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247.xml"/><Relationship Id="rId5" Type="http://schemas.openxmlformats.org/officeDocument/2006/relationships/image" Target="../media/image6.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tags" Target="../tags/tag248.xml"/><Relationship Id="rId5" Type="http://schemas.openxmlformats.org/officeDocument/2006/relationships/image" Target="../media/image6.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tags" Target="../tags/tag249.xml"/><Relationship Id="rId6" Type="http://schemas.openxmlformats.org/officeDocument/2006/relationships/image" Target="../media/image16.png"/><Relationship Id="rId5" Type="http://schemas.openxmlformats.org/officeDocument/2006/relationships/image" Target="../media/image6.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tags" Target="../tags/tag250.xml"/><Relationship Id="rId5" Type="http://schemas.openxmlformats.org/officeDocument/2006/relationships/image" Target="../media/image6.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tags" Target="../tags/tag251.xml"/><Relationship Id="rId5" Type="http://schemas.openxmlformats.org/officeDocument/2006/relationships/image" Target="../media/image6.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7" Type="http://schemas.openxmlformats.org/officeDocument/2006/relationships/image" Target="../media/image33.png"/><Relationship Id="rId2" Type="http://schemas.openxmlformats.org/officeDocument/2006/relationships/slideLayout" Target="../slideLayouts/slideLayout1.xml"/><Relationship Id="rId1" Type="http://schemas.openxmlformats.org/officeDocument/2006/relationships/tags" Target="../tags/tag252.xml"/><Relationship Id="rId6" Type="http://schemas.openxmlformats.org/officeDocument/2006/relationships/image" Target="../media/image32.png"/><Relationship Id="rId5" Type="http://schemas.openxmlformats.org/officeDocument/2006/relationships/image" Target="../media/image6.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tags" Target="../tags/tag253.xml"/><Relationship Id="rId5" Type="http://schemas.openxmlformats.org/officeDocument/2006/relationships/image" Target="../media/image6.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tags" Target="../tags/tag254.xml"/><Relationship Id="rId5" Type="http://schemas.openxmlformats.org/officeDocument/2006/relationships/image" Target="../media/image6.pn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0" y="0"/>
            <a:ext cx="12192000" cy="6858000"/>
            <a:chOff x="0" y="-217714"/>
            <a:chExt cx="12192000" cy="6858000"/>
          </a:xfrm>
        </p:grpSpPr>
        <p:pic>
          <p:nvPicPr>
            <p:cNvPr id="18" name="图片 17" descr="图片包含 形状&#10;&#10;描述已自动生成"/>
            <p:cNvPicPr>
              <a:picLocks noChangeAspect="1"/>
            </p:cNvPicPr>
            <p:nvPr/>
          </p:nvPicPr>
          <p:blipFill>
            <a:blip r:embed="rId4"/>
            <a:stretch>
              <a:fillRect/>
            </a:stretch>
          </p:blipFill>
          <p:spPr>
            <a:xfrm>
              <a:off x="0" y="-217714"/>
              <a:ext cx="12192000" cy="6097721"/>
            </a:xfrm>
            <a:prstGeom prst="rect">
              <a:avLst/>
            </a:prstGeom>
          </p:spPr>
        </p:pic>
        <p:pic>
          <p:nvPicPr>
            <p:cNvPr id="22" name="图片 21" descr="湖边的风景&#10;&#10;描述已自动生成"/>
            <p:cNvPicPr>
              <a:picLocks noChangeAspect="1"/>
            </p:cNvPicPr>
            <p:nvPr/>
          </p:nvPicPr>
          <p:blipFill>
            <a:blip r:embed="rId5"/>
            <a:stretch>
              <a:fillRect/>
            </a:stretch>
          </p:blipFill>
          <p:spPr>
            <a:xfrm>
              <a:off x="0" y="818464"/>
              <a:ext cx="12192000" cy="5821822"/>
            </a:xfrm>
            <a:prstGeom prst="rect">
              <a:avLst/>
            </a:prstGeom>
          </p:spPr>
        </p:pic>
      </p:grpSp>
      <p:pic>
        <p:nvPicPr>
          <p:cNvPr id="72" name="图片 71" descr="穿黑色衣服的人的黑白照&#10;&#10;低可信度描述已自动生成"/>
          <p:cNvPicPr>
            <a:picLocks noChangeAspect="1"/>
          </p:cNvPicPr>
          <p:nvPr/>
        </p:nvPicPr>
        <p:blipFill>
          <a:blip r:embed="rId6"/>
          <a:stretch>
            <a:fillRect/>
          </a:stretch>
        </p:blipFill>
        <p:spPr>
          <a:xfrm>
            <a:off x="0" y="0"/>
            <a:ext cx="12192000" cy="6097721"/>
          </a:xfrm>
          <a:custGeom>
            <a:avLst/>
            <a:gdLst>
              <a:gd name="connsiteX0" fmla="*/ 9423461 w 12192000"/>
              <a:gd name="connsiteY0" fmla="*/ 3048860 h 6097721"/>
              <a:gd name="connsiteX1" fmla="*/ 8980398 w 12192000"/>
              <a:gd name="connsiteY1" fmla="*/ 3437721 h 6097721"/>
              <a:gd name="connsiteX2" fmla="*/ 9423461 w 12192000"/>
              <a:gd name="connsiteY2" fmla="*/ 3826582 h 6097721"/>
              <a:gd name="connsiteX3" fmla="*/ 9866524 w 12192000"/>
              <a:gd name="connsiteY3" fmla="*/ 3437721 h 6097721"/>
              <a:gd name="connsiteX4" fmla="*/ 9423461 w 12192000"/>
              <a:gd name="connsiteY4" fmla="*/ 3048860 h 6097721"/>
              <a:gd name="connsiteX5" fmla="*/ 0 w 12192000"/>
              <a:gd name="connsiteY5" fmla="*/ 0 h 6097721"/>
              <a:gd name="connsiteX6" fmla="*/ 12192000 w 12192000"/>
              <a:gd name="connsiteY6" fmla="*/ 0 h 6097721"/>
              <a:gd name="connsiteX7" fmla="*/ 12192000 w 12192000"/>
              <a:gd name="connsiteY7" fmla="*/ 6097721 h 6097721"/>
              <a:gd name="connsiteX8" fmla="*/ 0 w 12192000"/>
              <a:gd name="connsiteY8" fmla="*/ 6097721 h 609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097721">
                <a:moveTo>
                  <a:pt x="9423461" y="3048860"/>
                </a:moveTo>
                <a:cubicBezTo>
                  <a:pt x="9178764" y="3048860"/>
                  <a:pt x="8980398" y="3222959"/>
                  <a:pt x="8980398" y="3437721"/>
                </a:cubicBezTo>
                <a:cubicBezTo>
                  <a:pt x="8980398" y="3652483"/>
                  <a:pt x="9178764" y="3826582"/>
                  <a:pt x="9423461" y="3826582"/>
                </a:cubicBezTo>
                <a:cubicBezTo>
                  <a:pt x="9668158" y="3826582"/>
                  <a:pt x="9866524" y="3652483"/>
                  <a:pt x="9866524" y="3437721"/>
                </a:cubicBezTo>
                <a:cubicBezTo>
                  <a:pt x="9866524" y="3222959"/>
                  <a:pt x="9668158" y="3048860"/>
                  <a:pt x="9423461" y="3048860"/>
                </a:cubicBezTo>
                <a:close/>
                <a:moveTo>
                  <a:pt x="0" y="0"/>
                </a:moveTo>
                <a:lnTo>
                  <a:pt x="12192000" y="0"/>
                </a:lnTo>
                <a:lnTo>
                  <a:pt x="12192000" y="6097721"/>
                </a:lnTo>
                <a:lnTo>
                  <a:pt x="0" y="6097721"/>
                </a:lnTo>
                <a:close/>
              </a:path>
            </a:pathLst>
          </a:custGeom>
        </p:spPr>
      </p:pic>
      <p:sp>
        <p:nvSpPr>
          <p:cNvPr id="9" name="矩形 8"/>
          <p:cNvSpPr/>
          <p:nvPr/>
        </p:nvSpPr>
        <p:spPr>
          <a:xfrm>
            <a:off x="3089719" y="4545646"/>
            <a:ext cx="5022506"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marL="285750" indent="-285750" algn="ctr" defTabSz="1218565">
              <a:buFont typeface="Wingdings" panose="05000000000000000000" pitchFamily="2" charset="2"/>
              <a:buChar char="l"/>
            </a:pPr>
            <a:r>
              <a:rPr lang="zh-CN" altLang="en-US" sz="1400" spc="300" dirty="0">
                <a:solidFill>
                  <a:schemeClr val="tx1">
                    <a:lumMod val="85000"/>
                    <a:lumOff val="15000"/>
                  </a:schemeClr>
                </a:solidFill>
                <a:latin typeface="宋体"/>
                <a:ea typeface="微软雅黑" panose="020B0503020204020204" pitchFamily="34" charset="-122"/>
                <a:cs typeface="+mn-ea"/>
                <a:sym typeface="宋体"/>
              </a:rPr>
              <a:t>汇报人：肖海泉 丁伟海 熊语博</a:t>
            </a:r>
            <a:r>
              <a:rPr lang="zh-CN" altLang="zh-CN" sz="1400" spc="300" dirty="0">
                <a:solidFill>
                  <a:schemeClr val="tx1">
                    <a:lumMod val="85000"/>
                    <a:lumOff val="15000"/>
                  </a:schemeClr>
                </a:solidFill>
                <a:latin typeface="宋体"/>
                <a:ea typeface="微软雅黑" panose="020B0503020204020204" pitchFamily="34" charset="-122"/>
                <a:cs typeface="+mn-ea"/>
                <a:sym typeface="宋体"/>
              </a:rPr>
              <a:t> </a:t>
            </a:r>
            <a:r>
              <a:rPr lang="zh-CN" altLang="en-US" sz="1400" spc="300" dirty="0">
                <a:solidFill>
                  <a:schemeClr val="tx1">
                    <a:lumMod val="85000"/>
                    <a:lumOff val="15000"/>
                  </a:schemeClr>
                </a:solidFill>
                <a:latin typeface="宋体"/>
                <a:ea typeface="微软雅黑" panose="020B0503020204020204" pitchFamily="34" charset="-122"/>
                <a:cs typeface="+mn-ea"/>
                <a:sym typeface="宋体"/>
              </a:rPr>
              <a:t> </a:t>
            </a:r>
            <a:endParaRPr lang="zh-CN" altLang="zh-CN" sz="1400" spc="300" dirty="0">
              <a:solidFill>
                <a:schemeClr val="tx1">
                  <a:lumMod val="85000"/>
                  <a:lumOff val="15000"/>
                </a:schemeClr>
              </a:solidFill>
              <a:latin typeface="宋体"/>
              <a:ea typeface="微软雅黑" panose="020B0503020204020204" pitchFamily="34" charset="-122"/>
              <a:cs typeface="+mn-ea"/>
              <a:sym typeface="宋体"/>
            </a:endParaRPr>
          </a:p>
        </p:txBody>
      </p:sp>
      <p:pic>
        <p:nvPicPr>
          <p:cNvPr id="70" name="图片 69" descr="穿黑色衣服的人的黑白照&#10;&#10;低可信度描述已自动生成"/>
          <p:cNvPicPr>
            <a:picLocks noChangeAspect="1"/>
          </p:cNvPicPr>
          <p:nvPr/>
        </p:nvPicPr>
        <p:blipFill>
          <a:blip r:embed="rId7"/>
          <a:stretch>
            <a:fillRect/>
          </a:stretch>
        </p:blipFill>
        <p:spPr>
          <a:xfrm>
            <a:off x="7038905" y="-2447492"/>
            <a:ext cx="3722976" cy="6097721"/>
          </a:xfrm>
          <a:prstGeom prst="rect">
            <a:avLst/>
          </a:prstGeom>
        </p:spPr>
      </p:pic>
      <p:pic>
        <p:nvPicPr>
          <p:cNvPr id="69" name="图片 68" descr="穿黑色衣服的人的黑白照&#10;&#10;低可信度描述已自动生成"/>
          <p:cNvPicPr>
            <a:picLocks noChangeAspect="1"/>
          </p:cNvPicPr>
          <p:nvPr/>
        </p:nvPicPr>
        <p:blipFill>
          <a:blip r:embed="rId8"/>
          <a:stretch>
            <a:fillRect/>
          </a:stretch>
        </p:blipFill>
        <p:spPr>
          <a:xfrm>
            <a:off x="9295898" y="-1803928"/>
            <a:ext cx="2308727" cy="6097721"/>
          </a:xfrm>
          <a:prstGeom prst="rect">
            <a:avLst/>
          </a:prstGeom>
        </p:spPr>
      </p:pic>
      <p:sp>
        <p:nvSpPr>
          <p:cNvPr id="4" name="PA-文本框 5"/>
          <p:cNvSpPr txBox="1"/>
          <p:nvPr>
            <p:custDataLst>
              <p:tags r:id="rId1"/>
            </p:custDataLst>
          </p:nvPr>
        </p:nvSpPr>
        <p:spPr>
          <a:xfrm>
            <a:off x="1027212" y="2937445"/>
            <a:ext cx="9716859" cy="1577359"/>
          </a:xfrm>
          <a:prstGeom prst="rect">
            <a:avLst/>
          </a:prstGeom>
          <a:noFill/>
        </p:spPr>
        <p:txBody>
          <a:bodyPr wrap="square"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a:r>
              <a:rPr lang="zh-CN" altLang="en-US" sz="3600" spc="-150" dirty="0">
                <a:ln w="101600">
                  <a:noFill/>
                </a:ln>
                <a:solidFill>
                  <a:srgbClr val="000000"/>
                </a:solidFill>
                <a:latin typeface="宋体"/>
                <a:ea typeface="014-上首水滴体" panose="02010609000101010101" pitchFamily="49" charset="-122"/>
                <a:cs typeface="+mn-ea"/>
                <a:sym typeface="宋体"/>
              </a:rPr>
              <a:t>基于大模型的碳排放智能评估与交互式可视化系统</a:t>
            </a:r>
            <a:endParaRPr lang="zh-CN" altLang="zh-CN" sz="3600" spc="-150" dirty="0">
              <a:ln w="101600">
                <a:noFill/>
              </a:ln>
              <a:solidFill>
                <a:srgbClr val="000000"/>
              </a:solidFill>
              <a:latin typeface="宋体"/>
              <a:ea typeface="014-上首水滴体" panose="02010609000101010101" pitchFamily="49" charset="-122"/>
              <a:cs typeface="+mn-ea"/>
              <a:sym typeface="宋体"/>
            </a:endParaRPr>
          </a:p>
        </p:txBody>
      </p:sp>
      <p:sp>
        <p:nvSpPr>
          <p:cNvPr id="5" name="文本框 4">
            <a:extLst>
              <a:ext uri="{FF2B5EF4-FFF2-40B4-BE49-F238E27FC236}">
                <a16:creationId xmlns:a16="http://schemas.microsoft.com/office/drawing/2014/main" id="{E6C474F3-ED27-A64F-2581-615DF4D14D22}"/>
              </a:ext>
            </a:extLst>
          </p:cNvPr>
          <p:cNvSpPr txBox="1"/>
          <p:nvPr/>
        </p:nvSpPr>
        <p:spPr>
          <a:xfrm>
            <a:off x="4481485" y="2420888"/>
            <a:ext cx="2808312" cy="769441"/>
          </a:xfrm>
          <a:prstGeom prst="rect">
            <a:avLst/>
          </a:prstGeom>
          <a:noFill/>
        </p:spPr>
        <p:txBody>
          <a:bodyPr wrap="square" rtlCol="0">
            <a:spAutoFit/>
          </a:bodyPr>
          <a:lstStyle/>
          <a:p>
            <a:pPr algn="ctr"/>
            <a:r>
              <a:rPr lang="zh-CN" altLang="en-US" sz="4400" spc="-150" dirty="0">
                <a:ln w="101600">
                  <a:noFill/>
                </a:ln>
                <a:solidFill>
                  <a:srgbClr val="000000"/>
                </a:solidFill>
                <a:latin typeface="宋体"/>
                <a:ea typeface="014-上首水滴体" panose="02010609000101010101" pitchFamily="49" charset="-122"/>
                <a:cs typeface="+mn-ea"/>
                <a:sym typeface="宋体"/>
              </a:rPr>
              <a:t>碳踪捷算</a:t>
            </a:r>
            <a:endParaRPr lang="zh-CN" altLang="en-US" sz="4400" dirty="0"/>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rLst="">
                                      <p:cBhvr>
                                        <p:cTn id="7" dur="750"/>
                                        <p:tgtEl>
                                          <p:spTgt spid="70"/>
                                        </p:tgtEl>
                                      </p:cBhvr>
                                    </p:animEffect>
                                    <p:anim calcmode="lin" valueType="num">
                                      <p:cBhvr>
                                        <p:cTn id="8" dur="750" fill="hold"/>
                                        <p:tgtEl>
                                          <p:spTgt spid="70"/>
                                        </p:tgtEl>
                                        <p:attrNameLst>
                                          <p:attrName>ppt_x</p:attrName>
                                        </p:attrNameLst>
                                      </p:cBhvr>
                                      <p:tavLst>
                                        <p:tav tm="0">
                                          <p:val>
                                            <p:strVal val="#ppt_x"/>
                                          </p:val>
                                        </p:tav>
                                        <p:tav tm="100000">
                                          <p:val>
                                            <p:strVal val="#ppt_x"/>
                                          </p:val>
                                        </p:tav>
                                      </p:tavLst>
                                    </p:anim>
                                    <p:anim calcmode="lin" valueType="num">
                                      <p:cBhvr>
                                        <p:cTn id="9" dur="750" fill="hold"/>
                                        <p:tgtEl>
                                          <p:spTgt spid="70"/>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750"/>
                            </p:stCondLst>
                            <p:childTnLst>
                              <p:par>
                                <p:cTn id="11" presetID="42" presetClass="entr" presetSubtype="0" fill="hold" nodeType="after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fade" prLst="">
                                      <p:cBhvr>
                                        <p:cTn id="13" dur="750"/>
                                        <p:tgtEl>
                                          <p:spTgt spid="69"/>
                                        </p:tgtEl>
                                      </p:cBhvr>
                                    </p:animEffect>
                                    <p:anim calcmode="lin" valueType="num">
                                      <p:cBhvr>
                                        <p:cTn id="14" dur="750" fill="hold"/>
                                        <p:tgtEl>
                                          <p:spTgt spid="69"/>
                                        </p:tgtEl>
                                        <p:attrNameLst>
                                          <p:attrName>ppt_x</p:attrName>
                                        </p:attrNameLst>
                                      </p:cBhvr>
                                      <p:tavLst>
                                        <p:tav tm="0">
                                          <p:val>
                                            <p:strVal val="#ppt_x"/>
                                          </p:val>
                                        </p:tav>
                                        <p:tav tm="100000">
                                          <p:val>
                                            <p:strVal val="#ppt_x"/>
                                          </p:val>
                                        </p:tav>
                                      </p:tavLst>
                                    </p:anim>
                                    <p:anim calcmode="lin" valueType="num">
                                      <p:cBhvr>
                                        <p:cTn id="15" dur="750" fill="hold"/>
                                        <p:tgtEl>
                                          <p:spTgt spid="69"/>
                                        </p:tgtEl>
                                        <p:attrNameLst>
                                          <p:attrName>ppt_y</p:attrName>
                                        </p:attrNameLst>
                                      </p:cBhvr>
                                      <p:tavLst>
                                        <p:tav tm="0">
                                          <p:val>
                                            <p:strVal val="#ppt_y+.1"/>
                                          </p:val>
                                        </p:tav>
                                        <p:tav tm="100000">
                                          <p:val>
                                            <p:strVal val="#ppt_y"/>
                                          </p:val>
                                        </p:tav>
                                      </p:tavLst>
                                    </p:anim>
                                  </p:childTnLst>
                                </p:cTn>
                              </p:par>
                            </p:childTnLst>
                          </p:cTn>
                        </p:par>
                        <p:par>
                          <p:cTn id="16" fill="hold" nodeType="afterGroup">
                            <p:stCondLst>
                              <p:cond delay="1500"/>
                            </p:stCondLst>
                            <p:childTnLst>
                              <p:par>
                                <p:cTn id="17" presetID="42" presetClass="entr" presetSubtype="0" fill="hold" nodeType="after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fade" prLst="">
                                      <p:cBhvr>
                                        <p:cTn id="19" dur="750"/>
                                        <p:tgtEl>
                                          <p:spTgt spid="72"/>
                                        </p:tgtEl>
                                      </p:cBhvr>
                                    </p:animEffect>
                                    <p:anim calcmode="lin" valueType="num">
                                      <p:cBhvr>
                                        <p:cTn id="20" dur="750" fill="hold"/>
                                        <p:tgtEl>
                                          <p:spTgt spid="72"/>
                                        </p:tgtEl>
                                        <p:attrNameLst>
                                          <p:attrName>ppt_x</p:attrName>
                                        </p:attrNameLst>
                                      </p:cBhvr>
                                      <p:tavLst>
                                        <p:tav tm="0">
                                          <p:val>
                                            <p:strVal val="#ppt_x"/>
                                          </p:val>
                                        </p:tav>
                                        <p:tav tm="100000">
                                          <p:val>
                                            <p:strVal val="#ppt_x"/>
                                          </p:val>
                                        </p:tav>
                                      </p:tavLst>
                                    </p:anim>
                                    <p:anim calcmode="lin" valueType="num">
                                      <p:cBhvr>
                                        <p:cTn id="21" dur="750" fill="hold"/>
                                        <p:tgtEl>
                                          <p:spTgt spid="7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69" name="New picture"/>
            <p:cNvPicPr/>
            <p:nvPr/>
          </p:nvPicPr>
          <p:blipFill>
            <a:blip r:embed="rId3"/>
            <a:stretch>
              <a:fillRect/>
            </a:stretch>
          </p:blipFill>
          <p:spPr>
            <a:xfrm>
              <a:off x="0" y="0"/>
              <a:ext cx="12192000" cy="6097721"/>
            </a:xfrm>
            <a:prstGeom prst="rect">
              <a:avLst/>
            </a:prstGeom>
            <a:ln>
              <a:noFill/>
            </a:ln>
          </p:spPr>
        </p:pic>
        <p:pic>
          <p:nvPicPr>
            <p:cNvPr id="70" name="New picture"/>
            <p:cNvPicPr/>
            <p:nvPr/>
          </p:nvPicPr>
          <p:blipFill>
            <a:blip r:embed="rId4"/>
            <a:stretch>
              <a:fillRect/>
            </a:stretch>
          </p:blipFill>
          <p:spPr>
            <a:xfrm>
              <a:off x="0" y="1693729"/>
              <a:ext cx="12192000" cy="5164271"/>
            </a:xfrm>
            <a:prstGeom prst="rect">
              <a:avLst/>
            </a:prstGeom>
            <a:ln>
              <a:noFill/>
            </a:ln>
          </p:spPr>
        </p:pic>
      </p:grpSp>
      <p:sp>
        <p:nvSpPr>
          <p:cNvPr id="71"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72"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10" name="椭圆 9"/>
          <p:cNvSpPr/>
          <p:nvPr/>
        </p:nvSpPr>
        <p:spPr>
          <a:xfrm>
            <a:off x="850149" y="5006408"/>
            <a:ext cx="10491703" cy="1713569"/>
          </a:xfrm>
          <a:prstGeom prst="ellipse">
            <a:avLst/>
          </a:prstGeom>
          <a:gradFill>
            <a:gsLst>
              <a:gs pos="0">
                <a:srgbClr val="2F6E27">
                  <a:alpha val="0"/>
                </a:srgbClr>
              </a:gs>
              <a:gs pos="100000">
                <a:srgbClr val="2F6E27">
                  <a:lumMod val="60000"/>
                  <a:lumOff val="40000"/>
                  <a:alpha val="76000"/>
                </a:srgbClr>
              </a:gs>
            </a:gsLst>
            <a:lin ang="5400000" scaled="1"/>
          </a:gradFill>
          <a:ln w="6350">
            <a:gradFill>
              <a:gsLst>
                <a:gs pos="26000">
                  <a:schemeClr val="accent1">
                    <a:lumMod val="45000"/>
                    <a:lumOff val="55000"/>
                    <a:alpha val="0"/>
                  </a:schemeClr>
                </a:gs>
                <a:gs pos="100000">
                  <a:schemeClr val="accent1">
                    <a:lumMod val="30000"/>
                    <a:lumOff val="7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9pPr>
          </a:lstStyle>
          <a:p>
            <a:endParaRPr/>
          </a:p>
        </p:txBody>
      </p:sp>
      <p:sp>
        <p:nvSpPr>
          <p:cNvPr id="11" name="椭圆 10"/>
          <p:cNvSpPr/>
          <p:nvPr/>
        </p:nvSpPr>
        <p:spPr>
          <a:xfrm>
            <a:off x="2952157" y="4988622"/>
            <a:ext cx="6287687" cy="1002150"/>
          </a:xfrm>
          <a:prstGeom prst="ellipse">
            <a:avLst/>
          </a:prstGeom>
          <a:gradFill>
            <a:gsLst>
              <a:gs pos="0">
                <a:srgbClr val="2F6E27">
                  <a:alpha val="0"/>
                </a:srgbClr>
              </a:gs>
              <a:gs pos="100000">
                <a:srgbClr val="2F6E27">
                  <a:lumMod val="60000"/>
                  <a:lumOff val="40000"/>
                  <a:alpha val="88000"/>
                </a:srgbClr>
              </a:gs>
            </a:gsLst>
            <a:lin ang="5400000" scaled="1"/>
          </a:gradFill>
          <a:ln w="6350">
            <a:gradFill>
              <a:gsLst>
                <a:gs pos="0">
                  <a:schemeClr val="accent1">
                    <a:lumMod val="20000"/>
                    <a:lumOff val="80000"/>
                    <a:alpha val="0"/>
                  </a:schemeClr>
                </a:gs>
                <a:gs pos="100000">
                  <a:schemeClr val="accent1">
                    <a:lumMod val="30000"/>
                    <a:lumOff val="7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9pPr>
          </a:lstStyle>
          <a:p>
            <a:endParaRPr/>
          </a:p>
        </p:txBody>
      </p:sp>
      <p:grpSp>
        <p:nvGrpSpPr>
          <p:cNvPr id="12" name="组合 11"/>
          <p:cNvGrpSpPr/>
          <p:nvPr/>
        </p:nvGrpSpPr>
        <p:grpSpPr>
          <a:xfrm>
            <a:off x="4678392" y="1447303"/>
            <a:ext cx="2835216" cy="2819228"/>
            <a:chOff x="3826067" y="767073"/>
            <a:chExt cx="4539866" cy="4514264"/>
          </a:xfrm>
        </p:grpSpPr>
        <p:pic>
          <p:nvPicPr>
            <p:cNvPr id="13" name="图片 12" hidden="1"/>
            <p:cNvPicPr>
              <a:picLocks noChangeAspect="1"/>
            </p:cNvPicPr>
            <p:nvPr/>
          </p:nvPicPr>
          <p:blipFill>
            <a:blip r:embed="rId5">
              <a:duotone>
                <a:prstClr val="black"/>
                <a:schemeClr val="accent6">
                  <a:lumMod val="60000"/>
                  <a:lumOff val="40000"/>
                  <a:tint val="45000"/>
                  <a:satMod val="400000"/>
                </a:schemeClr>
              </a:duotone>
            </a:blip>
            <a:stretch>
              <a:fillRect/>
            </a:stretch>
          </p:blipFill>
          <p:spPr>
            <a:xfrm>
              <a:off x="3826067" y="767073"/>
              <a:ext cx="4539866" cy="4514264"/>
            </a:xfrm>
            <a:prstGeom prst="rect">
              <a:avLst/>
            </a:prstGeom>
            <a:ln>
              <a:noFill/>
            </a:ln>
          </p:spPr>
        </p:pic>
        <p:pic>
          <p:nvPicPr>
            <p:cNvPr id="14" name="图片 13"/>
            <p:cNvPicPr>
              <a:picLocks noChangeAspect="1"/>
            </p:cNvPicPr>
            <p:nvPr/>
          </p:nvPicPr>
          <p:blipFill>
            <a:blip r:embed="rId5">
              <a:duotone>
                <a:prstClr val="black"/>
                <a:schemeClr val="accent6">
                  <a:lumMod val="60000"/>
                  <a:lumOff val="40000"/>
                  <a:tint val="45000"/>
                  <a:satMod val="400000"/>
                </a:schemeClr>
              </a:duotone>
            </a:blip>
            <a:stretch>
              <a:fillRect/>
            </a:stretch>
          </p:blipFill>
          <p:spPr>
            <a:xfrm>
              <a:off x="3826067" y="767073"/>
              <a:ext cx="4539866" cy="4514264"/>
            </a:xfrm>
            <a:prstGeom prst="rect">
              <a:avLst/>
            </a:prstGeom>
            <a:ln>
              <a:noFill/>
            </a:ln>
          </p:spPr>
        </p:pic>
      </p:grpSp>
      <p:sp>
        <p:nvSpPr>
          <p:cNvPr id="15" name="椭圆 14"/>
          <p:cNvSpPr/>
          <p:nvPr/>
        </p:nvSpPr>
        <p:spPr>
          <a:xfrm>
            <a:off x="1203767" y="2405575"/>
            <a:ext cx="9784466" cy="1351284"/>
          </a:xfrm>
          <a:prstGeom prst="ellipse">
            <a:avLst/>
          </a:prstGeom>
          <a:noFill/>
          <a:ln w="6350">
            <a:gradFill>
              <a:gsLst>
                <a:gs pos="0">
                  <a:schemeClr val="accent1">
                    <a:lumMod val="45000"/>
                    <a:lumOff val="55000"/>
                    <a:alpha val="0"/>
                  </a:schemeClr>
                </a:gs>
                <a:gs pos="100000">
                  <a:schemeClr val="accent1">
                    <a:lumMod val="30000"/>
                    <a:lumOff val="7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ontserrat Black"/>
                <a:ea typeface="思源黑体 CN Normal"/>
                <a:cs typeface="+mn-cs"/>
              </a:defRPr>
            </a:lvl9pPr>
          </a:lstStyle>
          <a:p>
            <a:endParaRPr/>
          </a:p>
        </p:txBody>
      </p:sp>
      <p:grpSp>
        <p:nvGrpSpPr>
          <p:cNvPr id="20" name="组合 19"/>
          <p:cNvGrpSpPr/>
          <p:nvPr/>
        </p:nvGrpSpPr>
        <p:grpSpPr>
          <a:xfrm rot="16200000">
            <a:off x="1234655" y="2928015"/>
            <a:ext cx="739140" cy="739140"/>
            <a:chOff x="9670044" y="4020427"/>
            <a:chExt cx="759939" cy="759939"/>
          </a:xfrm>
          <a:solidFill>
            <a:srgbClr val="2F6E27"/>
          </a:solidFill>
          <a:effectLst>
            <a:outerShdw blurRad="177800" dist="38100" dir="2700000" algn="tl" rotWithShape="0">
              <a:prstClr val="black">
                <a:alpha val="20000"/>
              </a:prstClr>
            </a:outerShdw>
          </a:effectLst>
        </p:grpSpPr>
        <p:sp>
          <p:nvSpPr>
            <p:cNvPr id="21" name="椭圆 20"/>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22" name="椭圆 21"/>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23" name="椭圆 22"/>
            <p:cNvSpPr/>
            <p:nvPr/>
          </p:nvSpPr>
          <p:spPr>
            <a:xfrm>
              <a:off x="9670044" y="4020427"/>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grpSp>
        <p:nvGrpSpPr>
          <p:cNvPr id="24" name="组合 23"/>
          <p:cNvGrpSpPr/>
          <p:nvPr/>
        </p:nvGrpSpPr>
        <p:grpSpPr>
          <a:xfrm rot="16200000">
            <a:off x="2731913" y="3213730"/>
            <a:ext cx="739140" cy="739140"/>
            <a:chOff x="9670044" y="4020427"/>
            <a:chExt cx="759939" cy="759939"/>
          </a:xfrm>
          <a:solidFill>
            <a:srgbClr val="2F6E27"/>
          </a:solidFill>
          <a:effectLst>
            <a:outerShdw blurRad="177800" dist="38100" dir="2700000" algn="tl" rotWithShape="0">
              <a:prstClr val="black">
                <a:alpha val="20000"/>
              </a:prstClr>
            </a:outerShdw>
          </a:effectLst>
        </p:grpSpPr>
        <p:sp>
          <p:nvSpPr>
            <p:cNvPr id="25" name="椭圆 24"/>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26" name="椭圆 25"/>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27" name="椭圆 26"/>
            <p:cNvSpPr/>
            <p:nvPr/>
          </p:nvSpPr>
          <p:spPr>
            <a:xfrm>
              <a:off x="9670044" y="4020427"/>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grpSp>
        <p:nvGrpSpPr>
          <p:cNvPr id="28" name="组合 27"/>
          <p:cNvGrpSpPr/>
          <p:nvPr/>
        </p:nvGrpSpPr>
        <p:grpSpPr>
          <a:xfrm rot="16200000">
            <a:off x="4229171" y="3370928"/>
            <a:ext cx="739140" cy="739140"/>
            <a:chOff x="9670044" y="4020427"/>
            <a:chExt cx="759939" cy="759939"/>
          </a:xfrm>
          <a:solidFill>
            <a:srgbClr val="2F6E27"/>
          </a:solidFill>
          <a:effectLst>
            <a:outerShdw blurRad="177800" dist="38100" dir="2700000" algn="tl" rotWithShape="0">
              <a:prstClr val="black">
                <a:alpha val="20000"/>
              </a:prstClr>
            </a:outerShdw>
          </a:effectLst>
        </p:grpSpPr>
        <p:sp>
          <p:nvSpPr>
            <p:cNvPr id="29" name="椭圆 28"/>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0" name="椭圆 29"/>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1" name="椭圆 30"/>
            <p:cNvSpPr/>
            <p:nvPr/>
          </p:nvSpPr>
          <p:spPr>
            <a:xfrm>
              <a:off x="9670044" y="4020427"/>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grpSp>
        <p:nvGrpSpPr>
          <p:cNvPr id="32" name="组合 31"/>
          <p:cNvGrpSpPr/>
          <p:nvPr/>
        </p:nvGrpSpPr>
        <p:grpSpPr>
          <a:xfrm rot="16200000">
            <a:off x="5726429" y="3394176"/>
            <a:ext cx="739140" cy="739140"/>
            <a:chOff x="9670044" y="4020427"/>
            <a:chExt cx="759939" cy="759939"/>
          </a:xfrm>
          <a:solidFill>
            <a:srgbClr val="2F6E27"/>
          </a:solidFill>
          <a:effectLst>
            <a:outerShdw blurRad="177800" dist="38100" dir="2700000" algn="tl" rotWithShape="0">
              <a:prstClr val="black">
                <a:alpha val="20000"/>
              </a:prstClr>
            </a:outerShdw>
          </a:effectLst>
        </p:grpSpPr>
        <p:sp>
          <p:nvSpPr>
            <p:cNvPr id="33" name="椭圆 32"/>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4" name="椭圆 33"/>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5" name="椭圆 34"/>
            <p:cNvSpPr/>
            <p:nvPr/>
          </p:nvSpPr>
          <p:spPr>
            <a:xfrm>
              <a:off x="9670044" y="4020427"/>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grpSp>
        <p:nvGrpSpPr>
          <p:cNvPr id="36" name="组合 35"/>
          <p:cNvGrpSpPr/>
          <p:nvPr/>
        </p:nvGrpSpPr>
        <p:grpSpPr>
          <a:xfrm rot="16200000">
            <a:off x="7223687" y="3370929"/>
            <a:ext cx="739140" cy="739140"/>
            <a:chOff x="9670044" y="4020427"/>
            <a:chExt cx="759939" cy="759939"/>
          </a:xfrm>
          <a:solidFill>
            <a:srgbClr val="2F6E27"/>
          </a:solidFill>
          <a:effectLst>
            <a:outerShdw blurRad="177800" dist="38100" dir="2700000" algn="tl" rotWithShape="0">
              <a:prstClr val="black">
                <a:alpha val="20000"/>
              </a:prstClr>
            </a:outerShdw>
          </a:effectLst>
        </p:grpSpPr>
        <p:sp>
          <p:nvSpPr>
            <p:cNvPr id="37" name="椭圆 36"/>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8" name="椭圆 37"/>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9" name="椭圆 38"/>
            <p:cNvSpPr/>
            <p:nvPr/>
          </p:nvSpPr>
          <p:spPr>
            <a:xfrm>
              <a:off x="9670044" y="4020427"/>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grpSp>
        <p:nvGrpSpPr>
          <p:cNvPr id="40" name="组合 39"/>
          <p:cNvGrpSpPr/>
          <p:nvPr/>
        </p:nvGrpSpPr>
        <p:grpSpPr>
          <a:xfrm rot="16200000">
            <a:off x="8720945" y="3213729"/>
            <a:ext cx="739140" cy="739140"/>
            <a:chOff x="9670044" y="4020427"/>
            <a:chExt cx="759939" cy="759939"/>
          </a:xfrm>
          <a:solidFill>
            <a:srgbClr val="2F6E27"/>
          </a:solidFill>
          <a:effectLst>
            <a:outerShdw blurRad="177800" dist="38100" dir="2700000" algn="tl" rotWithShape="0">
              <a:prstClr val="black">
                <a:alpha val="20000"/>
              </a:prstClr>
            </a:outerShdw>
          </a:effectLst>
        </p:grpSpPr>
        <p:sp>
          <p:nvSpPr>
            <p:cNvPr id="41" name="椭圆 40"/>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42" name="椭圆 41"/>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43" name="椭圆 42"/>
            <p:cNvSpPr/>
            <p:nvPr/>
          </p:nvSpPr>
          <p:spPr>
            <a:xfrm>
              <a:off x="9670044" y="4020427"/>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grpSp>
        <p:nvGrpSpPr>
          <p:cNvPr id="44" name="组合 43"/>
          <p:cNvGrpSpPr/>
          <p:nvPr/>
        </p:nvGrpSpPr>
        <p:grpSpPr>
          <a:xfrm rot="16200000">
            <a:off x="10218205" y="2928014"/>
            <a:ext cx="739140" cy="739140"/>
            <a:chOff x="9670044" y="4020427"/>
            <a:chExt cx="759939" cy="759939"/>
          </a:xfrm>
          <a:solidFill>
            <a:srgbClr val="2F6E27"/>
          </a:solidFill>
          <a:effectLst>
            <a:outerShdw blurRad="177800" dist="38100" dir="2700000" algn="tl" rotWithShape="0">
              <a:prstClr val="black">
                <a:alpha val="20000"/>
              </a:prstClr>
            </a:outerShdw>
          </a:effectLst>
        </p:grpSpPr>
        <p:sp>
          <p:nvSpPr>
            <p:cNvPr id="45" name="椭圆 44"/>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46" name="椭圆 45"/>
            <p:cNvSpPr/>
            <p:nvPr/>
          </p:nvSpPr>
          <p:spPr>
            <a:xfrm>
              <a:off x="9670045" y="4020428"/>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47" name="椭圆 46"/>
            <p:cNvSpPr/>
            <p:nvPr/>
          </p:nvSpPr>
          <p:spPr>
            <a:xfrm>
              <a:off x="9670044" y="4020427"/>
              <a:ext cx="759938" cy="7599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sp>
        <p:nvSpPr>
          <p:cNvPr id="48" name="文本框 47"/>
          <p:cNvSpPr txBox="1"/>
          <p:nvPr/>
        </p:nvSpPr>
        <p:spPr>
          <a:xfrm>
            <a:off x="1161436" y="3853340"/>
            <a:ext cx="894974" cy="305105"/>
          </a:xfrm>
          <a:prstGeom prst="rect">
            <a:avLst/>
          </a:prstGeom>
          <a:noFill/>
        </p:spPr>
        <p:txBody>
          <a:bodyPr wrap="none" rtlCol="0">
            <a:spAutoFit/>
          </a:bodyPr>
          <a:lstStyle>
            <a:defPPr>
              <a:defRPr lang="zh-CN"/>
            </a:defPPr>
            <a:lvl1pPr marL="0" marR="0" lvl="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a:ln>
                  <a:noFill/>
                </a:ln>
                <a:solidFill>
                  <a:schemeClr val="accent6"/>
                </a:solidFill>
                <a:effectLst/>
                <a:uLnTx/>
                <a:uFillTx/>
                <a:latin typeface="+mj-ea"/>
                <a:ea typeface="+mj-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stStyle>
          <a:p>
            <a:pPr algn="ctr"/>
            <a:r>
              <a:rPr lang="zh-CN" altLang="en-US" sz="1400" b="0" i="0" dirty="0">
                <a:solidFill>
                  <a:schemeClr val="tx1">
                    <a:lumMod val="75000"/>
                    <a:lumOff val="25000"/>
                  </a:schemeClr>
                </a:solidFill>
                <a:latin typeface="宋体"/>
                <a:ea typeface="+mn-ea"/>
                <a:sym typeface="宋体"/>
              </a:rPr>
              <a:t>作品概述</a:t>
            </a:r>
          </a:p>
        </p:txBody>
      </p:sp>
      <p:sp>
        <p:nvSpPr>
          <p:cNvPr id="50" name="文本框 49"/>
          <p:cNvSpPr txBox="1"/>
          <p:nvPr/>
        </p:nvSpPr>
        <p:spPr>
          <a:xfrm>
            <a:off x="2662329" y="4116362"/>
            <a:ext cx="894974" cy="305105"/>
          </a:xfrm>
          <a:prstGeom prst="rect">
            <a:avLst/>
          </a:prstGeom>
          <a:noFill/>
        </p:spPr>
        <p:txBody>
          <a:bodyPr wrap="none" rtlCol="0">
            <a:spAutoFit/>
          </a:bodyPr>
          <a:lstStyle>
            <a:defPPr>
              <a:defRPr lang="zh-CN"/>
            </a:defPPr>
            <a:lvl1pPr marL="0" marR="0" lvl="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a:ln>
                  <a:noFill/>
                </a:ln>
                <a:solidFill>
                  <a:schemeClr val="accent6"/>
                </a:solidFill>
                <a:effectLst/>
                <a:uLnTx/>
                <a:uFillTx/>
                <a:latin typeface="+mj-ea"/>
                <a:ea typeface="+mj-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stStyle>
          <a:p>
            <a:pPr algn="ctr"/>
            <a:r>
              <a:rPr lang="zh-CN" altLang="en-US" sz="1400" b="0" i="0">
                <a:solidFill>
                  <a:schemeClr val="tx1">
                    <a:lumMod val="75000"/>
                    <a:lumOff val="25000"/>
                  </a:schemeClr>
                </a:solidFill>
                <a:latin typeface="宋体"/>
                <a:ea typeface="+mn-ea"/>
                <a:sym typeface="宋体"/>
              </a:rPr>
              <a:t>问题分析</a:t>
            </a:r>
          </a:p>
        </p:txBody>
      </p:sp>
      <p:sp>
        <p:nvSpPr>
          <p:cNvPr id="52" name="文本框 51"/>
          <p:cNvSpPr txBox="1"/>
          <p:nvPr/>
        </p:nvSpPr>
        <p:spPr>
          <a:xfrm>
            <a:off x="8649348" y="4116362"/>
            <a:ext cx="894974" cy="305105"/>
          </a:xfrm>
          <a:prstGeom prst="rect">
            <a:avLst/>
          </a:prstGeom>
          <a:noFill/>
        </p:spPr>
        <p:txBody>
          <a:bodyPr wrap="none" rtlCol="0">
            <a:spAutoFit/>
          </a:bodyPr>
          <a:lstStyle>
            <a:defPPr>
              <a:defRPr lang="zh-CN"/>
            </a:defPPr>
            <a:lvl1pPr marL="0" marR="0" lvl="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a:ln>
                  <a:noFill/>
                </a:ln>
                <a:solidFill>
                  <a:schemeClr val="accent6"/>
                </a:solidFill>
                <a:effectLst/>
                <a:uLnTx/>
                <a:uFillTx/>
                <a:latin typeface="+mj-ea"/>
                <a:ea typeface="+mj-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stStyle>
          <a:p>
            <a:pPr algn="ctr"/>
            <a:r>
              <a:rPr lang="zh-CN" altLang="en-US" sz="1400" b="0" i="0">
                <a:solidFill>
                  <a:schemeClr val="tx1">
                    <a:lumMod val="75000"/>
                    <a:lumOff val="25000"/>
                  </a:schemeClr>
                </a:solidFill>
                <a:latin typeface="宋体"/>
                <a:ea typeface="+mn-ea"/>
                <a:sym typeface="宋体"/>
              </a:rPr>
              <a:t>作品总结</a:t>
            </a:r>
          </a:p>
        </p:txBody>
      </p:sp>
      <p:sp>
        <p:nvSpPr>
          <p:cNvPr id="54" name="文本框 53"/>
          <p:cNvSpPr txBox="1"/>
          <p:nvPr/>
        </p:nvSpPr>
        <p:spPr>
          <a:xfrm>
            <a:off x="10144985" y="3853340"/>
            <a:ext cx="894974" cy="305105"/>
          </a:xfrm>
          <a:prstGeom prst="rect">
            <a:avLst/>
          </a:prstGeom>
          <a:noFill/>
        </p:spPr>
        <p:txBody>
          <a:bodyPr wrap="none" rtlCol="0">
            <a:spAutoFit/>
          </a:bodyPr>
          <a:lstStyle>
            <a:defPPr>
              <a:defRPr lang="zh-CN"/>
            </a:defPPr>
            <a:lvl1pPr marL="0" marR="0" lvl="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a:ln>
                  <a:noFill/>
                </a:ln>
                <a:solidFill>
                  <a:schemeClr val="accent6"/>
                </a:solidFill>
                <a:effectLst/>
                <a:uLnTx/>
                <a:uFillTx/>
                <a:latin typeface="+mj-ea"/>
                <a:ea typeface="+mj-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stStyle>
          <a:p>
            <a:pPr algn="ctr"/>
            <a:r>
              <a:rPr lang="zh-CN" altLang="en-US" sz="1400" b="0" i="0">
                <a:solidFill>
                  <a:schemeClr val="tx1">
                    <a:lumMod val="75000"/>
                    <a:lumOff val="25000"/>
                  </a:schemeClr>
                </a:solidFill>
                <a:latin typeface="宋体"/>
                <a:ea typeface="+mn-ea"/>
                <a:sym typeface="宋体"/>
              </a:rPr>
              <a:t>参考文献</a:t>
            </a:r>
          </a:p>
        </p:txBody>
      </p:sp>
      <p:sp>
        <p:nvSpPr>
          <p:cNvPr id="56" name="文本框 55"/>
          <p:cNvSpPr txBox="1"/>
          <p:nvPr/>
        </p:nvSpPr>
        <p:spPr>
          <a:xfrm>
            <a:off x="4155951" y="4297947"/>
            <a:ext cx="894974" cy="305105"/>
          </a:xfrm>
          <a:prstGeom prst="rect">
            <a:avLst/>
          </a:prstGeom>
          <a:noFill/>
        </p:spPr>
        <p:txBody>
          <a:bodyPr wrap="none" rtlCol="0">
            <a:spAutoFit/>
          </a:bodyPr>
          <a:lstStyle>
            <a:defPPr>
              <a:defRPr lang="zh-CN"/>
            </a:defPPr>
            <a:lvl1pPr marL="0" marR="0" lvl="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a:ln>
                  <a:noFill/>
                </a:ln>
                <a:solidFill>
                  <a:schemeClr val="accent6"/>
                </a:solidFill>
                <a:effectLst/>
                <a:uLnTx/>
                <a:uFillTx/>
                <a:latin typeface="+mj-ea"/>
                <a:ea typeface="+mj-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stStyle>
          <a:p>
            <a:pPr algn="ctr"/>
            <a:r>
              <a:rPr lang="zh-CN" altLang="en-US" sz="1400" b="0" i="0">
                <a:solidFill>
                  <a:schemeClr val="tx1">
                    <a:lumMod val="75000"/>
                    <a:lumOff val="25000"/>
                  </a:schemeClr>
                </a:solidFill>
                <a:latin typeface="宋体"/>
                <a:ea typeface="+mn-ea"/>
                <a:sym typeface="宋体"/>
              </a:rPr>
              <a:t>技术方案</a:t>
            </a:r>
          </a:p>
        </p:txBody>
      </p:sp>
      <p:sp>
        <p:nvSpPr>
          <p:cNvPr id="58" name="文本框 57"/>
          <p:cNvSpPr txBox="1"/>
          <p:nvPr/>
        </p:nvSpPr>
        <p:spPr>
          <a:xfrm>
            <a:off x="7163006" y="4297947"/>
            <a:ext cx="894974" cy="305105"/>
          </a:xfrm>
          <a:prstGeom prst="rect">
            <a:avLst/>
          </a:prstGeom>
          <a:noFill/>
        </p:spPr>
        <p:txBody>
          <a:bodyPr wrap="none" rtlCol="0">
            <a:spAutoFit/>
          </a:bodyPr>
          <a:lstStyle>
            <a:defPPr>
              <a:defRPr lang="zh-CN"/>
            </a:defPPr>
            <a:lvl1pPr marL="0" marR="0" lvl="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a:ln>
                  <a:noFill/>
                </a:ln>
                <a:solidFill>
                  <a:schemeClr val="accent6"/>
                </a:solidFill>
                <a:effectLst/>
                <a:uLnTx/>
                <a:uFillTx/>
                <a:latin typeface="+mj-ea"/>
                <a:ea typeface="+mj-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stStyle>
          <a:p>
            <a:pPr algn="ctr"/>
            <a:r>
              <a:rPr lang="zh-CN" altLang="en-US" sz="1400" b="0" i="0">
                <a:solidFill>
                  <a:schemeClr val="tx1">
                    <a:lumMod val="75000"/>
                    <a:lumOff val="25000"/>
                  </a:schemeClr>
                </a:solidFill>
                <a:latin typeface="宋体"/>
                <a:ea typeface="+mn-ea"/>
                <a:sym typeface="宋体"/>
              </a:rPr>
              <a:t>测试分析</a:t>
            </a:r>
          </a:p>
        </p:txBody>
      </p:sp>
      <p:sp>
        <p:nvSpPr>
          <p:cNvPr id="60" name="文本框 59"/>
          <p:cNvSpPr txBox="1"/>
          <p:nvPr/>
        </p:nvSpPr>
        <p:spPr>
          <a:xfrm>
            <a:off x="5653211" y="4382796"/>
            <a:ext cx="894974" cy="305105"/>
          </a:xfrm>
          <a:prstGeom prst="rect">
            <a:avLst/>
          </a:prstGeom>
          <a:noFill/>
        </p:spPr>
        <p:txBody>
          <a:bodyPr wrap="none" rtlCol="0">
            <a:spAutoFit/>
          </a:bodyPr>
          <a:lstStyle>
            <a:defPPr>
              <a:defRPr lang="zh-CN"/>
            </a:defPPr>
            <a:lvl1pPr marL="0" marR="0" lvl="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a:ln>
                  <a:noFill/>
                </a:ln>
                <a:solidFill>
                  <a:schemeClr val="accent6"/>
                </a:solidFill>
                <a:effectLst/>
                <a:uLnTx/>
                <a:uFillTx/>
                <a:latin typeface="+mj-ea"/>
                <a:ea typeface="+mj-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stStyle>
          <a:p>
            <a:pPr algn="ctr"/>
            <a:r>
              <a:rPr lang="zh-CN" altLang="en-US" sz="1400" b="0" i="0">
                <a:solidFill>
                  <a:schemeClr val="tx1">
                    <a:lumMod val="75000"/>
                    <a:lumOff val="25000"/>
                  </a:schemeClr>
                </a:solidFill>
                <a:latin typeface="宋体"/>
                <a:ea typeface="+mn-ea"/>
                <a:sym typeface="宋体"/>
              </a:rPr>
              <a:t>系统实现</a:t>
            </a:r>
          </a:p>
        </p:txBody>
      </p:sp>
      <p:pic>
        <p:nvPicPr>
          <p:cNvPr id="62" name="图形 61"/>
          <p:cNvPicPr>
            <a:picLocks noChangeAspect="1"/>
          </p:cNvPicPr>
          <p:nvPr/>
        </p:nvPicPr>
        <p:blipFill>
          <a:blip r:embed="rId6"/>
          <a:stretch>
            <a:fillRect/>
          </a:stretch>
        </p:blipFill>
        <p:spPr>
          <a:xfrm>
            <a:off x="2916318" y="3398134"/>
            <a:ext cx="370330" cy="370330"/>
          </a:xfrm>
          <a:prstGeom prst="rect">
            <a:avLst/>
          </a:prstGeom>
          <a:ln>
            <a:noFill/>
          </a:ln>
        </p:spPr>
      </p:pic>
      <p:pic>
        <p:nvPicPr>
          <p:cNvPr id="63" name="图形 62"/>
          <p:cNvPicPr>
            <a:picLocks noChangeAspect="1"/>
          </p:cNvPicPr>
          <p:nvPr/>
        </p:nvPicPr>
        <p:blipFill>
          <a:blip r:embed="rId7"/>
          <a:stretch>
            <a:fillRect/>
          </a:stretch>
        </p:blipFill>
        <p:spPr>
          <a:xfrm>
            <a:off x="4368379" y="3510136"/>
            <a:ext cx="460725" cy="460725"/>
          </a:xfrm>
          <a:prstGeom prst="rect">
            <a:avLst/>
          </a:prstGeom>
          <a:ln>
            <a:noFill/>
          </a:ln>
        </p:spPr>
      </p:pic>
      <p:pic>
        <p:nvPicPr>
          <p:cNvPr id="64" name="图形 63"/>
          <p:cNvPicPr>
            <a:picLocks noChangeAspect="1"/>
          </p:cNvPicPr>
          <p:nvPr/>
        </p:nvPicPr>
        <p:blipFill>
          <a:blip r:embed="rId8"/>
          <a:stretch>
            <a:fillRect/>
          </a:stretch>
        </p:blipFill>
        <p:spPr>
          <a:xfrm>
            <a:off x="7410588" y="3557829"/>
            <a:ext cx="365338" cy="365338"/>
          </a:xfrm>
          <a:prstGeom prst="rect">
            <a:avLst/>
          </a:prstGeom>
          <a:ln>
            <a:noFill/>
          </a:ln>
        </p:spPr>
      </p:pic>
      <p:pic>
        <p:nvPicPr>
          <p:cNvPr id="65" name="图形 64"/>
          <p:cNvPicPr>
            <a:picLocks noChangeAspect="1"/>
          </p:cNvPicPr>
          <p:nvPr/>
        </p:nvPicPr>
        <p:blipFill>
          <a:blip r:embed="rId9"/>
          <a:stretch>
            <a:fillRect/>
          </a:stretch>
        </p:blipFill>
        <p:spPr>
          <a:xfrm>
            <a:off x="8912078" y="3400630"/>
            <a:ext cx="365338" cy="365338"/>
          </a:xfrm>
          <a:prstGeom prst="rect">
            <a:avLst/>
          </a:prstGeom>
          <a:ln>
            <a:noFill/>
          </a:ln>
        </p:spPr>
      </p:pic>
      <p:pic>
        <p:nvPicPr>
          <p:cNvPr id="66" name="图形 65"/>
          <p:cNvPicPr>
            <a:picLocks noChangeAspect="1"/>
          </p:cNvPicPr>
          <p:nvPr/>
        </p:nvPicPr>
        <p:blipFill>
          <a:blip r:embed="rId10"/>
          <a:stretch>
            <a:fillRect/>
          </a:stretch>
        </p:blipFill>
        <p:spPr>
          <a:xfrm>
            <a:off x="1424645" y="3118004"/>
            <a:ext cx="359160" cy="359160"/>
          </a:xfrm>
          <a:prstGeom prst="rect">
            <a:avLst/>
          </a:prstGeom>
          <a:ln>
            <a:noFill/>
          </a:ln>
        </p:spPr>
      </p:pic>
      <p:pic>
        <p:nvPicPr>
          <p:cNvPr id="67" name="图形 66"/>
          <p:cNvPicPr>
            <a:picLocks noChangeAspect="1"/>
          </p:cNvPicPr>
          <p:nvPr/>
        </p:nvPicPr>
        <p:blipFill>
          <a:blip r:embed="rId11"/>
          <a:stretch>
            <a:fillRect/>
          </a:stretch>
        </p:blipFill>
        <p:spPr>
          <a:xfrm>
            <a:off x="10419992" y="3129801"/>
            <a:ext cx="335567" cy="335567"/>
          </a:xfrm>
          <a:prstGeom prst="rect">
            <a:avLst/>
          </a:prstGeom>
          <a:ln>
            <a:noFill/>
          </a:ln>
        </p:spPr>
      </p:pic>
      <p:pic>
        <p:nvPicPr>
          <p:cNvPr id="68" name="图形 67"/>
          <p:cNvPicPr>
            <a:picLocks noChangeAspect="1"/>
          </p:cNvPicPr>
          <p:nvPr/>
        </p:nvPicPr>
        <p:blipFill>
          <a:blip r:embed="rId12"/>
          <a:stretch>
            <a:fillRect/>
          </a:stretch>
        </p:blipFill>
        <p:spPr>
          <a:xfrm>
            <a:off x="5888884" y="3556630"/>
            <a:ext cx="414232" cy="414232"/>
          </a:xfrm>
          <a:prstGeom prst="rect">
            <a:avLst/>
          </a:prstGeom>
          <a:ln>
            <a:noFill/>
          </a:ln>
        </p:spPr>
      </p:pic>
    </p:spTree>
    <p:extLst>
      <p:ext uri="{BB962C8B-B14F-4D97-AF65-F5344CB8AC3E}">
        <p14:creationId xmlns:p14="http://schemas.microsoft.com/office/powerpoint/2010/main" val="3717775176"/>
      </p:ext>
    </p:extLst>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pic>
        <p:nvPicPr>
          <p:cNvPr id="2" name="图片 1" descr="图片包含 形状&#10;&#10;描述已自动生成"/>
          <p:cNvPicPr>
            <a:picLocks noChangeAspect="1"/>
          </p:cNvPicPr>
          <p:nvPr/>
        </p:nvPicPr>
        <p:blipFill>
          <a:blip r:embed="rId3"/>
          <a:stretch>
            <a:fillRect/>
          </a:stretch>
        </p:blipFill>
        <p:spPr>
          <a:xfrm>
            <a:off x="0" y="0"/>
            <a:ext cx="12192000" cy="6097721"/>
          </a:xfrm>
          <a:prstGeom prst="rect">
            <a:avLst/>
          </a:prstGeom>
        </p:spPr>
      </p:pic>
      <p:pic>
        <p:nvPicPr>
          <p:cNvPr id="3" name="图片 2" descr="湖边的景色&#10;&#10;描述已自动生成"/>
          <p:cNvPicPr>
            <a:picLocks noChangeAspect="1"/>
          </p:cNvPicPr>
          <p:nvPr/>
        </p:nvPicPr>
        <p:blipFill>
          <a:blip r:embed="rId4"/>
          <a:stretch>
            <a:fillRect/>
          </a:stretch>
        </p:blipFill>
        <p:spPr>
          <a:xfrm>
            <a:off x="0" y="760279"/>
            <a:ext cx="12192000" cy="6097721"/>
          </a:xfrm>
          <a:prstGeom prst="rect">
            <a:avLst/>
          </a:prstGeom>
        </p:spPr>
      </p:pic>
      <p:grpSp>
        <p:nvGrpSpPr>
          <p:cNvPr id="4" name="组合 3"/>
          <p:cNvGrpSpPr/>
          <p:nvPr/>
        </p:nvGrpSpPr>
        <p:grpSpPr>
          <a:xfrm>
            <a:off x="0" y="-2447492"/>
            <a:ext cx="12192000" cy="8545213"/>
            <a:chOff x="0" y="-2447492"/>
            <a:chExt cx="12192000" cy="8545213"/>
          </a:xfrm>
        </p:grpSpPr>
        <p:pic>
          <p:nvPicPr>
            <p:cNvPr id="6" name="图片 5" descr="穿黑色衣服的人的黑白照&#10;&#10;低可信度描述已自动生成"/>
            <p:cNvPicPr>
              <a:picLocks noChangeAspect="1"/>
            </p:cNvPicPr>
            <p:nvPr/>
          </p:nvPicPr>
          <p:blipFill>
            <a:blip r:embed="rId5"/>
            <a:stretch>
              <a:fillRect/>
            </a:stretch>
          </p:blipFill>
          <p:spPr>
            <a:xfrm>
              <a:off x="0" y="0"/>
              <a:ext cx="12192000" cy="6097721"/>
            </a:xfrm>
            <a:custGeom>
              <a:avLst/>
              <a:gdLst>
                <a:gd name="connsiteX0" fmla="*/ 9423461 w 12192000"/>
                <a:gd name="connsiteY0" fmla="*/ 3048860 h 6097721"/>
                <a:gd name="connsiteX1" fmla="*/ 8980398 w 12192000"/>
                <a:gd name="connsiteY1" fmla="*/ 3437721 h 6097721"/>
                <a:gd name="connsiteX2" fmla="*/ 9423461 w 12192000"/>
                <a:gd name="connsiteY2" fmla="*/ 3826582 h 6097721"/>
                <a:gd name="connsiteX3" fmla="*/ 9866524 w 12192000"/>
                <a:gd name="connsiteY3" fmla="*/ 3437721 h 6097721"/>
                <a:gd name="connsiteX4" fmla="*/ 9423461 w 12192000"/>
                <a:gd name="connsiteY4" fmla="*/ 3048860 h 6097721"/>
                <a:gd name="connsiteX5" fmla="*/ 0 w 12192000"/>
                <a:gd name="connsiteY5" fmla="*/ 0 h 6097721"/>
                <a:gd name="connsiteX6" fmla="*/ 12192000 w 12192000"/>
                <a:gd name="connsiteY6" fmla="*/ 0 h 6097721"/>
                <a:gd name="connsiteX7" fmla="*/ 12192000 w 12192000"/>
                <a:gd name="connsiteY7" fmla="*/ 6097721 h 6097721"/>
                <a:gd name="connsiteX8" fmla="*/ 0 w 12192000"/>
                <a:gd name="connsiteY8" fmla="*/ 6097721 h 609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097721">
                  <a:moveTo>
                    <a:pt x="9423461" y="3048860"/>
                  </a:moveTo>
                  <a:cubicBezTo>
                    <a:pt x="9178764" y="3048860"/>
                    <a:pt x="8980398" y="3222959"/>
                    <a:pt x="8980398" y="3437721"/>
                  </a:cubicBezTo>
                  <a:cubicBezTo>
                    <a:pt x="8980398" y="3652483"/>
                    <a:pt x="9178764" y="3826582"/>
                    <a:pt x="9423461" y="3826582"/>
                  </a:cubicBezTo>
                  <a:cubicBezTo>
                    <a:pt x="9668158" y="3826582"/>
                    <a:pt x="9866524" y="3652483"/>
                    <a:pt x="9866524" y="3437721"/>
                  </a:cubicBezTo>
                  <a:cubicBezTo>
                    <a:pt x="9866524" y="3222959"/>
                    <a:pt x="9668158" y="3048860"/>
                    <a:pt x="9423461" y="3048860"/>
                  </a:cubicBezTo>
                  <a:close/>
                  <a:moveTo>
                    <a:pt x="0" y="0"/>
                  </a:moveTo>
                  <a:lnTo>
                    <a:pt x="12192000" y="0"/>
                  </a:lnTo>
                  <a:lnTo>
                    <a:pt x="12192000" y="6097721"/>
                  </a:lnTo>
                  <a:lnTo>
                    <a:pt x="0" y="6097721"/>
                  </a:lnTo>
                  <a:close/>
                </a:path>
              </a:pathLst>
            </a:custGeom>
          </p:spPr>
        </p:pic>
        <p:pic>
          <p:nvPicPr>
            <p:cNvPr id="7" name="图片 6" descr="穿黑色衣服的人的黑白照&#10;&#10;低可信度描述已自动生成"/>
            <p:cNvPicPr>
              <a:picLocks noChangeAspect="1"/>
            </p:cNvPicPr>
            <p:nvPr/>
          </p:nvPicPr>
          <p:blipFill>
            <a:blip r:embed="rId6"/>
            <a:stretch>
              <a:fillRect/>
            </a:stretch>
          </p:blipFill>
          <p:spPr>
            <a:xfrm>
              <a:off x="7038905" y="-2447492"/>
              <a:ext cx="3722976" cy="6097721"/>
            </a:xfrm>
            <a:prstGeom prst="rect">
              <a:avLst/>
            </a:prstGeom>
          </p:spPr>
        </p:pic>
        <p:pic>
          <p:nvPicPr>
            <p:cNvPr id="8" name="图片 7" descr="穿黑色衣服的人的黑白照&#10;&#10;低可信度描述已自动生成"/>
            <p:cNvPicPr>
              <a:picLocks noChangeAspect="1"/>
            </p:cNvPicPr>
            <p:nvPr/>
          </p:nvPicPr>
          <p:blipFill>
            <a:blip r:embed="rId7"/>
            <a:stretch>
              <a:fillRect/>
            </a:stretch>
          </p:blipFill>
          <p:spPr>
            <a:xfrm>
              <a:off x="9295898" y="-1803928"/>
              <a:ext cx="2308727" cy="6097721"/>
            </a:xfrm>
            <a:prstGeom prst="rect">
              <a:avLst/>
            </a:prstGeom>
          </p:spPr>
        </p:pic>
      </p:grpSp>
      <p:grpSp>
        <p:nvGrpSpPr>
          <p:cNvPr id="37" name="组合 36"/>
          <p:cNvGrpSpPr/>
          <p:nvPr/>
        </p:nvGrpSpPr>
        <p:grpSpPr>
          <a:xfrm>
            <a:off x="4404370" y="1479727"/>
            <a:ext cx="3383261" cy="657415"/>
            <a:chOff x="4771220" y="1773297"/>
            <a:chExt cx="2670192" cy="657415"/>
          </a:xfrm>
        </p:grpSpPr>
        <p:sp>
          <p:nvSpPr>
            <p:cNvPr id="38" name="矩形: 圆角 2"/>
            <p:cNvSpPr/>
            <p:nvPr/>
          </p:nvSpPr>
          <p:spPr>
            <a:xfrm>
              <a:off x="4771220" y="1773297"/>
              <a:ext cx="2670192" cy="657415"/>
            </a:xfrm>
            <a:prstGeom prst="roundRect">
              <a:avLst>
                <a:gd name="adj" fmla="val 50000"/>
              </a:avLst>
            </a:prstGeom>
            <a:gradFill>
              <a:gsLst>
                <a:gs pos="0">
                  <a:srgbClr val="FF0000"/>
                </a:gs>
                <a:gs pos="100000">
                  <a:srgbClr val="C00000"/>
                </a:gs>
              </a:gsLst>
              <a:lin ang="27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9" name="文本框 38"/>
            <p:cNvSpPr txBox="1"/>
            <p:nvPr/>
          </p:nvSpPr>
          <p:spPr>
            <a:xfrm>
              <a:off x="5073438" y="1815533"/>
              <a:ext cx="2101946" cy="5796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a:r>
                <a:rPr lang="zh-CN" altLang="en-US" sz="3200" b="1">
                  <a:solidFill>
                    <a:srgbClr val="FFFDF8"/>
                  </a:solidFill>
                  <a:latin typeface="宋体"/>
                  <a:ea typeface="微软雅黑" panose="020B0503020204020204" pitchFamily="34" charset="-122"/>
                  <a:cs typeface="思源宋体 CN Heavy" panose="02020900000000000000" charset="-122"/>
                  <a:sym typeface="宋体"/>
                </a:rPr>
                <a:t>第1部分</a:t>
              </a:r>
            </a:p>
          </p:txBody>
        </p:sp>
      </p:grpSp>
      <p:sp>
        <p:nvSpPr>
          <p:cNvPr id="40" name="TextBox 48"/>
          <p:cNvSpPr txBox="1"/>
          <p:nvPr/>
        </p:nvSpPr>
        <p:spPr>
          <a:xfrm>
            <a:off x="2290994" y="2724048"/>
            <a:ext cx="7120909" cy="1569047"/>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defTabSz="685800"/>
            <a:r>
              <a:rPr lang="zh-CN" altLang="en-US" sz="6600" b="1">
                <a:solidFill>
                  <a:srgbClr val="000000"/>
                </a:solidFill>
                <a:latin typeface="宋体"/>
                <a:ea typeface="微软雅黑" panose="020B0503020204020204" pitchFamily="34" charset="-122"/>
                <a:cs typeface="+mn-ea"/>
                <a:sym typeface="宋体"/>
              </a:rPr>
              <a:t>作品概述</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arn(inVertical)" prLst="">
                                      <p:cBhvr>
                                        <p:cTn id="7" dur="500"/>
                                        <p:tgtEl>
                                          <p:spTgt spid="37"/>
                                        </p:tgtEl>
                                      </p:cBhvr>
                                    </p:animEffect>
                                  </p:childTnLst>
                                </p:cTn>
                              </p:par>
                            </p:childTnLst>
                          </p:cTn>
                        </p:par>
                        <p:par>
                          <p:cTn id="8" fill="hold" nodeType="afterGroup">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p:cTn id="11" dur="500" fill="hold"/>
                                        <p:tgtEl>
                                          <p:spTgt spid="40"/>
                                        </p:tgtEl>
                                        <p:attrNameLst>
                                          <p:attrName>ppt_w</p:attrName>
                                        </p:attrNameLst>
                                      </p:cBhvr>
                                      <p:tavLst>
                                        <p:tav tm="0">
                                          <p:val>
                                            <p:fltVal val="0"/>
                                          </p:val>
                                        </p:tav>
                                        <p:tav tm="100000">
                                          <p:val>
                                            <p:strVal val="#ppt_w"/>
                                          </p:val>
                                        </p:tav>
                                      </p:tavLst>
                                    </p:anim>
                                    <p:anim calcmode="lin" valueType="num">
                                      <p:cBhvr>
                                        <p:cTn id="12" dur="500" fill="hold"/>
                                        <p:tgtEl>
                                          <p:spTgt spid="40"/>
                                        </p:tgtEl>
                                        <p:attrNameLst>
                                          <p:attrName>ppt_h</p:attrName>
                                        </p:attrNameLst>
                                      </p:cBhvr>
                                      <p:tavLst>
                                        <p:tav tm="0">
                                          <p:val>
                                            <p:fltVal val="0"/>
                                          </p:val>
                                        </p:tav>
                                        <p:tav tm="100000">
                                          <p:val>
                                            <p:strVal val="#ppt_h"/>
                                          </p:val>
                                        </p:tav>
                                      </p:tavLst>
                                    </p:anim>
                                    <p:animEffect transition="in" filter="fade" prLst="">
                                      <p:cBhvr>
                                        <p:cTn id="13" dur="500"/>
                                        <p:tgtEl>
                                          <p:spTgt spid="40"/>
                                        </p:tgtEl>
                                      </p:cBhvr>
                                    </p:animEffect>
                                  </p:childTnLst>
                                </p:cTn>
                              </p:par>
                            </p:childTnLst>
                          </p:cTn>
                        </p:par>
                        <p:par>
                          <p:cTn id="14" fill="hold" nodeType="afterGroup">
                            <p:stCondLst>
                              <p:cond delay="1000"/>
                            </p:stCondLst>
                            <p:childTnLst>
                              <p:par>
                                <p:cTn id="15" presetID="42"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rLst="">
                                      <p:cBhvr>
                                        <p:cTn id="17" dur="500"/>
                                        <p:tgtEl>
                                          <p:spTgt spid="4"/>
                                        </p:tgtEl>
                                      </p:cBhvr>
                                    </p:animEffect>
                                    <p:anim calcmode="lin" valueType="num">
                                      <p:cBhvr>
                                        <p:cTn id="18" dur="500" fill="hold"/>
                                        <p:tgtEl>
                                          <p:spTgt spid="4"/>
                                        </p:tgtEl>
                                        <p:attrNameLst>
                                          <p:attrName>ppt_x</p:attrName>
                                        </p:attrNameLst>
                                      </p:cBhvr>
                                      <p:tavLst>
                                        <p:tav tm="0">
                                          <p:val>
                                            <p:strVal val="#ppt_x"/>
                                          </p:val>
                                        </p:tav>
                                        <p:tav tm="100000">
                                          <p:val>
                                            <p:strVal val="#ppt_x"/>
                                          </p:val>
                                        </p:tav>
                                      </p:tavLst>
                                    </p:anim>
                                    <p:anim calcmode="lin" valueType="num">
                                      <p:cBhvr>
                                        <p:cTn id="1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dirty="0"/>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作品概述</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1412776"/>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研究背景</a:t>
            </a:r>
            <a:endParaRPr sz="3700" b="1" dirty="0">
              <a:solidFill>
                <a:srgbClr val="000000"/>
              </a:solidFill>
              <a:latin typeface="宋体"/>
            </a:endParaRPr>
          </a:p>
        </p:txBody>
      </p:sp>
      <p:sp>
        <p:nvSpPr>
          <p:cNvPr id="19" name="New shape"/>
          <p:cNvSpPr/>
          <p:nvPr/>
        </p:nvSpPr>
        <p:spPr>
          <a:xfrm>
            <a:off x="1117600" y="22187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全球气候变化加剧背景下</a:t>
            </a:r>
            <a:endParaRPr sz="3700" b="1" dirty="0">
              <a:solidFill>
                <a:srgbClr val="000000"/>
              </a:solidFill>
              <a:latin typeface="宋体"/>
            </a:endParaRPr>
          </a:p>
        </p:txBody>
      </p:sp>
      <p:sp>
        <p:nvSpPr>
          <p:cNvPr id="20" name="New shape"/>
          <p:cNvSpPr/>
          <p:nvPr/>
        </p:nvSpPr>
        <p:spPr>
          <a:xfrm>
            <a:off x="1113036" y="2897669"/>
            <a:ext cx="9956800" cy="17145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sz="2400" b="0" dirty="0">
                <a:solidFill>
                  <a:srgbClr val="000000"/>
                </a:solidFill>
                <a:latin typeface="宋体"/>
              </a:rPr>
              <a:t>碳减排成为各国政府及企业的核心议题。据国际能源署（IEA）统计，2022年全球能源相关碳排放量达368亿吨，工业与能源领域占比超70%。我国提出"双碳"目标（2030碳达峰、2060碳中和），亟需数字化工具支撑碳排放监测与管理。现有系统普遍存在数据孤岛、用户交互性差、分析维度单一等问题，本系统旨在通过技术创新填补市场空白</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作品概述</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1616936"/>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主题创意来源与用户群体</a:t>
            </a:r>
            <a:endParaRPr sz="3700" b="1" dirty="0">
              <a:solidFill>
                <a:srgbClr val="000000"/>
              </a:solidFill>
              <a:latin typeface="宋体"/>
            </a:endParaRPr>
          </a:p>
        </p:txBody>
      </p:sp>
      <p:sp>
        <p:nvSpPr>
          <p:cNvPr id="19" name="New shape"/>
          <p:cNvSpPr/>
          <p:nvPr/>
        </p:nvSpPr>
        <p:spPr>
          <a:xfrm>
            <a:off x="1130920" y="2275850"/>
            <a:ext cx="9956800" cy="8382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85000" lnSpcReduction="20000"/>
          </a:bodyPr>
          <a:lstStyle/>
          <a:p>
            <a:pPr indent="0" algn="l">
              <a:lnSpc>
                <a:spcPct val="100000"/>
              </a:lnSpc>
            </a:pPr>
            <a:r>
              <a:rPr sz="3700" b="1" dirty="0" err="1">
                <a:solidFill>
                  <a:srgbClr val="000000"/>
                </a:solidFill>
                <a:latin typeface="宋体"/>
              </a:rPr>
              <a:t>本项目灵感来源于个人碳账户理念的普及（如蚂蚁森林）和中国“双碳”目标要求建立数字化碳管理工具</a:t>
            </a:r>
            <a:endParaRPr sz="3700" b="1" dirty="0">
              <a:solidFill>
                <a:srgbClr val="000000"/>
              </a:solidFill>
              <a:latin typeface="宋体"/>
            </a:endParaRPr>
          </a:p>
        </p:txBody>
      </p:sp>
      <p:sp>
        <p:nvSpPr>
          <p:cNvPr id="20" name="New shape"/>
          <p:cNvSpPr/>
          <p:nvPr/>
        </p:nvSpPr>
        <p:spPr>
          <a:xfrm>
            <a:off x="1117600" y="3379292"/>
            <a:ext cx="9956800" cy="13716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sz="2400" b="0" dirty="0">
                <a:solidFill>
                  <a:srgbClr val="000000"/>
                </a:solidFill>
                <a:latin typeface="宋体"/>
              </a:rPr>
              <a:t>支撑碳排放监测与交易，以及人工智能与大数据技术在解决复杂市场分析问题上的巨大潜力。聚焦于打造一个融合先进科技与用户友好体验的碳排放智能评估与交互式可视化系统。本作品面向广泛的用户群体，包括但不限于个人与组织、政府与监管机构、高排放行业与企业</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作品概述</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pic>
        <p:nvPicPr>
          <p:cNvPr id="18" name="New picture"/>
          <p:cNvPicPr/>
          <p:nvPr/>
        </p:nvPicPr>
        <p:blipFill>
          <a:blip r:embed="rId6"/>
          <a:stretch>
            <a:fillRect/>
          </a:stretch>
        </p:blipFill>
        <p:spPr>
          <a:xfrm>
            <a:off x="1117600" y="2743200"/>
            <a:ext cx="4914900" cy="1270000"/>
          </a:xfrm>
          <a:prstGeom prst="rect">
            <a:avLst/>
          </a:prstGeom>
          <a:ln>
            <a:solidFill>
              <a:srgbClr val="FFFFFF">
                <a:alpha val="0"/>
              </a:srgbClr>
            </a:solidFill>
          </a:ln>
        </p:spPr>
      </p:pic>
      <p:pic>
        <p:nvPicPr>
          <p:cNvPr id="19" name="New picture"/>
          <p:cNvPicPr/>
          <p:nvPr/>
        </p:nvPicPr>
        <p:blipFill>
          <a:blip r:embed="rId6"/>
          <a:stretch>
            <a:fillRect/>
          </a:stretch>
        </p:blipFill>
        <p:spPr>
          <a:xfrm>
            <a:off x="6159500" y="2743200"/>
            <a:ext cx="4914900" cy="1270000"/>
          </a:xfrm>
          <a:prstGeom prst="rect">
            <a:avLst/>
          </a:prstGeom>
          <a:ln>
            <a:solidFill>
              <a:srgbClr val="FFFFFF">
                <a:alpha val="0"/>
              </a:srgbClr>
            </a:solidFill>
          </a:ln>
        </p:spPr>
      </p:pic>
      <p:pic>
        <p:nvPicPr>
          <p:cNvPr id="20" name="New picture"/>
          <p:cNvPicPr/>
          <p:nvPr/>
        </p:nvPicPr>
        <p:blipFill>
          <a:blip r:embed="rId6"/>
          <a:stretch>
            <a:fillRect/>
          </a:stretch>
        </p:blipFill>
        <p:spPr>
          <a:xfrm>
            <a:off x="1117600" y="4686300"/>
            <a:ext cx="4914900" cy="1270000"/>
          </a:xfrm>
          <a:prstGeom prst="rect">
            <a:avLst/>
          </a:prstGeom>
          <a:ln>
            <a:solidFill>
              <a:srgbClr val="FFFFFF">
                <a:alpha val="0"/>
              </a:srgbClr>
            </a:solidFill>
          </a:ln>
        </p:spPr>
      </p:pic>
      <p:pic>
        <p:nvPicPr>
          <p:cNvPr id="21" name="New picture"/>
          <p:cNvPicPr/>
          <p:nvPr/>
        </p:nvPicPr>
        <p:blipFill>
          <a:blip r:embed="rId6"/>
          <a:stretch>
            <a:fillRect/>
          </a:stretch>
        </p:blipFill>
        <p:spPr>
          <a:xfrm>
            <a:off x="6159500" y="4686300"/>
            <a:ext cx="4914900" cy="1270000"/>
          </a:xfrm>
          <a:prstGeom prst="rect">
            <a:avLst/>
          </a:prstGeom>
          <a:ln>
            <a:solidFill>
              <a:srgbClr val="FFFFFF">
                <a:alpha val="0"/>
              </a:srgbClr>
            </a:solidFill>
          </a:ln>
        </p:spPr>
      </p:pic>
      <p:sp>
        <p:nvSpPr>
          <p:cNvPr id="22" name="New shape"/>
          <p:cNvSpPr/>
          <p:nvPr/>
        </p:nvSpPr>
        <p:spPr>
          <a:xfrm>
            <a:off x="1117600" y="14732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主要功能与特色</a:t>
            </a:r>
            <a:endParaRPr sz="3700" b="1" dirty="0">
              <a:solidFill>
                <a:srgbClr val="000000"/>
              </a:solidFill>
              <a:latin typeface="宋体"/>
            </a:endParaRPr>
          </a:p>
        </p:txBody>
      </p:sp>
      <p:sp>
        <p:nvSpPr>
          <p:cNvPr id="23" name="New shape"/>
          <p:cNvSpPr/>
          <p:nvPr/>
        </p:nvSpPr>
        <p:spPr>
          <a:xfrm>
            <a:off x="1371600" y="2197100"/>
            <a:ext cx="4406900" cy="13716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87500" lnSpcReduction="20000"/>
          </a:bodyPr>
          <a:lstStyle/>
          <a:p>
            <a:pPr indent="0" algn="l">
              <a:lnSpc>
                <a:spcPct val="125000"/>
              </a:lnSpc>
            </a:pPr>
            <a:r>
              <a:rPr sz="2400" b="0">
                <a:solidFill>
                  <a:srgbClr val="000000"/>
                </a:solidFill>
                <a:latin typeface="宋体"/>
              </a:rPr>
              <a:t>智能化ai对话系统：基于大模型，综合多模态融合、深度学习和场景化适配，并补充对话历史查询及内部文件调用丰富用户体验</a:t>
            </a:r>
          </a:p>
        </p:txBody>
      </p:sp>
      <p:sp>
        <p:nvSpPr>
          <p:cNvPr id="24" name="New shape"/>
          <p:cNvSpPr/>
          <p:nvPr/>
        </p:nvSpPr>
        <p:spPr>
          <a:xfrm>
            <a:off x="6413500" y="2197100"/>
            <a:ext cx="4406900" cy="13716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87500" lnSpcReduction="20000"/>
          </a:bodyPr>
          <a:lstStyle/>
          <a:p>
            <a:pPr indent="0" algn="l">
              <a:lnSpc>
                <a:spcPct val="125000"/>
              </a:lnSpc>
            </a:pPr>
            <a:r>
              <a:rPr sz="2400" b="0">
                <a:solidFill>
                  <a:srgbClr val="000000"/>
                </a:solidFill>
                <a:latin typeface="宋体"/>
              </a:rPr>
              <a:t>数据动态洞察：通过动态图表与数据可视化，展示各地区及日常活动各类碳排放数值等，为用户提供深度数据分析</a:t>
            </a:r>
          </a:p>
        </p:txBody>
      </p:sp>
      <p:sp>
        <p:nvSpPr>
          <p:cNvPr id="25" name="New shape"/>
          <p:cNvSpPr/>
          <p:nvPr/>
        </p:nvSpPr>
        <p:spPr>
          <a:xfrm>
            <a:off x="1371600" y="4140200"/>
            <a:ext cx="4406900" cy="13716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a:bodyPr>
          <a:lstStyle/>
          <a:p>
            <a:pPr indent="0" algn="l">
              <a:lnSpc>
                <a:spcPct val="125000"/>
              </a:lnSpc>
            </a:pPr>
            <a:r>
              <a:rPr sz="2400" b="0">
                <a:solidFill>
                  <a:srgbClr val="000000"/>
                </a:solidFill>
                <a:latin typeface="宋体"/>
              </a:rPr>
              <a:t>个性化体验：结合用户行为分析，智能生成不同称号，增强用户粘性与满意度</a:t>
            </a:r>
          </a:p>
        </p:txBody>
      </p:sp>
      <p:sp>
        <p:nvSpPr>
          <p:cNvPr id="26" name="New shape"/>
          <p:cNvSpPr/>
          <p:nvPr/>
        </p:nvSpPr>
        <p:spPr>
          <a:xfrm>
            <a:off x="6413500" y="4140200"/>
            <a:ext cx="4406900" cy="13716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400" b="0">
                <a:solidFill>
                  <a:srgbClr val="000000"/>
                </a:solidFill>
                <a:latin typeface="宋体"/>
              </a:rPr>
              <a:t>交互式分析工具：用户可自定义查询参数，探索影响碳排放的多种因素，提升决策的自主性与透明度</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6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200" fill="hold"/>
                                        <p:tgtEl>
                                          <p:spTgt spid="21"/>
                                        </p:tgtEl>
                                        <p:attrNameLst>
                                          <p:attrName>ppt_w</p:attrName>
                                        </p:attrNameLst>
                                      </p:cBhvr>
                                      <p:tavLst>
                                        <p:tav tm="0">
                                          <p:val>
                                            <p:fltVal val="0"/>
                                          </p:val>
                                        </p:tav>
                                        <p:tav tm="100000">
                                          <p:val>
                                            <p:strVal val="#ppt_w"/>
                                          </p:val>
                                        </p:tav>
                                      </p:tavLst>
                                    </p:anim>
                                    <p:anim calcmode="lin" valueType="num">
                                      <p:cBhvr>
                                        <p:cTn id="23" dur="2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8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200" fill="hold"/>
                                        <p:tgtEl>
                                          <p:spTgt spid="22"/>
                                        </p:tgtEl>
                                        <p:attrNameLst>
                                          <p:attrName>ppt_w</p:attrName>
                                        </p:attrNameLst>
                                      </p:cBhvr>
                                      <p:tavLst>
                                        <p:tav tm="0">
                                          <p:val>
                                            <p:fltVal val="0"/>
                                          </p:val>
                                        </p:tav>
                                        <p:tav tm="100000">
                                          <p:val>
                                            <p:strVal val="#ppt_w"/>
                                          </p:val>
                                        </p:tav>
                                      </p:tavLst>
                                    </p:anim>
                                    <p:anim calcmode="lin" valueType="num">
                                      <p:cBhvr>
                                        <p:cTn id="28" dur="2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0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200" fill="hold"/>
                                        <p:tgtEl>
                                          <p:spTgt spid="23"/>
                                        </p:tgtEl>
                                        <p:attrNameLst>
                                          <p:attrName>ppt_w</p:attrName>
                                        </p:attrNameLst>
                                      </p:cBhvr>
                                      <p:tavLst>
                                        <p:tav tm="0">
                                          <p:val>
                                            <p:fltVal val="0"/>
                                          </p:val>
                                        </p:tav>
                                        <p:tav tm="100000">
                                          <p:val>
                                            <p:strVal val="#ppt_w"/>
                                          </p:val>
                                        </p:tav>
                                      </p:tavLst>
                                    </p:anim>
                                    <p:anim calcmode="lin" valueType="num">
                                      <p:cBhvr>
                                        <p:cTn id="33" dur="2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2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200" fill="hold"/>
                                        <p:tgtEl>
                                          <p:spTgt spid="24"/>
                                        </p:tgtEl>
                                        <p:attrNameLst>
                                          <p:attrName>ppt_w</p:attrName>
                                        </p:attrNameLst>
                                      </p:cBhvr>
                                      <p:tavLst>
                                        <p:tav tm="0">
                                          <p:val>
                                            <p:fltVal val="0"/>
                                          </p:val>
                                        </p:tav>
                                        <p:tav tm="100000">
                                          <p:val>
                                            <p:strVal val="#ppt_w"/>
                                          </p:val>
                                        </p:tav>
                                      </p:tavLst>
                                    </p:anim>
                                    <p:anim calcmode="lin" valueType="num">
                                      <p:cBhvr>
                                        <p:cTn id="38" dur="200" fill="hold"/>
                                        <p:tgtEl>
                                          <p:spTgt spid="2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1400"/>
                            </p:stCondLst>
                            <p:childTnLst>
                              <p:par>
                                <p:cTn id="40" presetID="23" presetClass="entr" presetSubtype="16" fill="hold" grpId="7"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200" fill="hold"/>
                                        <p:tgtEl>
                                          <p:spTgt spid="25"/>
                                        </p:tgtEl>
                                        <p:attrNameLst>
                                          <p:attrName>ppt_w</p:attrName>
                                        </p:attrNameLst>
                                      </p:cBhvr>
                                      <p:tavLst>
                                        <p:tav tm="0">
                                          <p:val>
                                            <p:fltVal val="0"/>
                                          </p:val>
                                        </p:tav>
                                        <p:tav tm="100000">
                                          <p:val>
                                            <p:strVal val="#ppt_w"/>
                                          </p:val>
                                        </p:tav>
                                      </p:tavLst>
                                    </p:anim>
                                    <p:anim calcmode="lin" valueType="num">
                                      <p:cBhvr>
                                        <p:cTn id="43" dur="200" fill="hold"/>
                                        <p:tgtEl>
                                          <p:spTgt spid="25"/>
                                        </p:tgtEl>
                                        <p:attrNameLst>
                                          <p:attrName>ppt_h</p:attrName>
                                        </p:attrNameLst>
                                      </p:cBhvr>
                                      <p:tavLst>
                                        <p:tav tm="0">
                                          <p:val>
                                            <p:fltVal val="0"/>
                                          </p:val>
                                        </p:tav>
                                        <p:tav tm="100000">
                                          <p:val>
                                            <p:strVal val="#ppt_h"/>
                                          </p:val>
                                        </p:tav>
                                      </p:tavLst>
                                    </p:anim>
                                  </p:childTnLst>
                                </p:cTn>
                              </p:par>
                            </p:childTnLst>
                          </p:cTn>
                        </p:par>
                        <p:par>
                          <p:cTn id="44" fill="hold" nodeType="afterGroup">
                            <p:stCondLst>
                              <p:cond delay="1600"/>
                            </p:stCondLst>
                            <p:childTnLst>
                              <p:par>
                                <p:cTn id="45" presetID="23" presetClass="entr" presetSubtype="16" fill="hold" grpId="8" nodeType="after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200" fill="hold"/>
                                        <p:tgtEl>
                                          <p:spTgt spid="26"/>
                                        </p:tgtEl>
                                        <p:attrNameLst>
                                          <p:attrName>ppt_w</p:attrName>
                                        </p:attrNameLst>
                                      </p:cBhvr>
                                      <p:tavLst>
                                        <p:tav tm="0">
                                          <p:val>
                                            <p:fltVal val="0"/>
                                          </p:val>
                                        </p:tav>
                                        <p:tav tm="100000">
                                          <p:val>
                                            <p:strVal val="#ppt_w"/>
                                          </p:val>
                                        </p:tav>
                                      </p:tavLst>
                                    </p:anim>
                                    <p:anim calcmode="lin" valueType="num">
                                      <p:cBhvr>
                                        <p:cTn id="48" dur="200" fill="hold"/>
                                        <p:tgtEl>
                                          <p:spTgt spid="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P spid="25" grpId="7" animBg="1"/>
      <p:bldP spid="26" grpId="8"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333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dirty="0"/>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作品概述</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2667000"/>
            <a:ext cx="9956800" cy="723900"/>
          </a:xfrm>
          <a:prstGeom prst="roundRect">
            <a:avLst>
              <a:gd name="adj" fmla="val 10526"/>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New shape"/>
          <p:cNvSpPr/>
          <p:nvPr/>
        </p:nvSpPr>
        <p:spPr>
          <a:xfrm>
            <a:off x="1168400" y="2717800"/>
            <a:ext cx="76200" cy="6223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New shape"/>
          <p:cNvSpPr/>
          <p:nvPr/>
        </p:nvSpPr>
        <p:spPr>
          <a:xfrm>
            <a:off x="1117600" y="3517900"/>
            <a:ext cx="9956800" cy="723900"/>
          </a:xfrm>
          <a:prstGeom prst="roundRect">
            <a:avLst>
              <a:gd name="adj" fmla="val 10526"/>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New shape"/>
          <p:cNvSpPr/>
          <p:nvPr/>
        </p:nvSpPr>
        <p:spPr>
          <a:xfrm>
            <a:off x="1168400" y="3568700"/>
            <a:ext cx="76200" cy="6223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New shape"/>
          <p:cNvSpPr/>
          <p:nvPr/>
        </p:nvSpPr>
        <p:spPr>
          <a:xfrm>
            <a:off x="1117600" y="4368800"/>
            <a:ext cx="9956800" cy="723900"/>
          </a:xfrm>
          <a:prstGeom prst="roundRect">
            <a:avLst>
              <a:gd name="adj" fmla="val 10526"/>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New shape"/>
          <p:cNvSpPr/>
          <p:nvPr/>
        </p:nvSpPr>
        <p:spPr>
          <a:xfrm>
            <a:off x="1168400" y="4419600"/>
            <a:ext cx="76200" cy="6223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New shape"/>
          <p:cNvSpPr/>
          <p:nvPr/>
        </p:nvSpPr>
        <p:spPr>
          <a:xfrm>
            <a:off x="1117600" y="19431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应用价值</a:t>
            </a:r>
            <a:endParaRPr sz="3700" b="1" dirty="0">
              <a:solidFill>
                <a:srgbClr val="000000"/>
              </a:solidFill>
              <a:latin typeface="宋体"/>
            </a:endParaRPr>
          </a:p>
        </p:txBody>
      </p:sp>
      <p:sp>
        <p:nvSpPr>
          <p:cNvPr id="25" name="New shape"/>
          <p:cNvSpPr/>
          <p:nvPr/>
        </p:nvSpPr>
        <p:spPr>
          <a:xfrm>
            <a:off x="1435100" y="2857500"/>
            <a:ext cx="9639300" cy="3302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sz="2400" b="0" dirty="0" err="1">
                <a:solidFill>
                  <a:srgbClr val="000000"/>
                </a:solidFill>
                <a:latin typeface="宋体"/>
              </a:rPr>
              <a:t>提升计算效率：缩短企业碳核查周期，降低人工成本</a:t>
            </a:r>
            <a:endParaRPr sz="2400" b="0" dirty="0">
              <a:solidFill>
                <a:srgbClr val="000000"/>
              </a:solidFill>
              <a:latin typeface="宋体"/>
            </a:endParaRPr>
          </a:p>
        </p:txBody>
      </p:sp>
      <p:sp>
        <p:nvSpPr>
          <p:cNvPr id="26" name="New shape"/>
          <p:cNvSpPr/>
          <p:nvPr/>
        </p:nvSpPr>
        <p:spPr>
          <a:xfrm>
            <a:off x="1435100" y="3708400"/>
            <a:ext cx="9639300" cy="3302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sz="2400" b="0" dirty="0" err="1">
                <a:solidFill>
                  <a:srgbClr val="000000"/>
                </a:solidFill>
                <a:latin typeface="宋体"/>
              </a:rPr>
              <a:t>增强市场透明度：提供公开、公正的估价标准，建立用户信任</a:t>
            </a:r>
            <a:endParaRPr sz="2400" b="0" dirty="0">
              <a:solidFill>
                <a:srgbClr val="000000"/>
              </a:solidFill>
              <a:latin typeface="宋体"/>
            </a:endParaRPr>
          </a:p>
        </p:txBody>
      </p:sp>
      <p:sp>
        <p:nvSpPr>
          <p:cNvPr id="27" name="New shape"/>
          <p:cNvSpPr/>
          <p:nvPr/>
        </p:nvSpPr>
        <p:spPr>
          <a:xfrm>
            <a:off x="1435100" y="4559300"/>
            <a:ext cx="9485436" cy="3302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sz="2400" b="0" dirty="0" err="1">
                <a:solidFill>
                  <a:srgbClr val="000000"/>
                </a:solidFill>
                <a:latin typeface="宋体"/>
              </a:rPr>
              <a:t>辅助决策支持：为供应链管理者和行业参与者提供数据支持，优化策略</a:t>
            </a:r>
            <a:endParaRPr sz="2400" b="0" dirty="0">
              <a:solidFill>
                <a:srgbClr val="000000"/>
              </a:solidFill>
              <a:latin typeface="宋体"/>
            </a:endParaRPr>
          </a:p>
        </p:txBody>
      </p:sp>
      <p:sp>
        <p:nvSpPr>
          <p:cNvPr id="28" name="New shape"/>
          <p:cNvSpPr/>
          <p:nvPr/>
        </p:nvSpPr>
        <p:spPr>
          <a:xfrm>
            <a:off x="1435100" y="5417528"/>
            <a:ext cx="9956800" cy="2667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Autofit/>
          </a:bodyPr>
          <a:lstStyle/>
          <a:p>
            <a:pPr indent="0" algn="l">
              <a:lnSpc>
                <a:spcPct val="100000"/>
              </a:lnSpc>
            </a:pPr>
            <a:r>
              <a:rPr sz="2400" b="0" dirty="0" err="1">
                <a:solidFill>
                  <a:srgbClr val="000000"/>
                </a:solidFill>
                <a:latin typeface="宋体"/>
              </a:rPr>
              <a:t>推动产业升级：促进碳排放规范化发展，引导资源合理配置</a:t>
            </a:r>
            <a:endParaRPr sz="2400" b="0" dirty="0">
              <a:solidFill>
                <a:srgbClr val="000000"/>
              </a:solidFill>
              <a:latin typeface="宋体"/>
            </a:endParaRPr>
          </a:p>
        </p:txBody>
      </p:sp>
      <p:sp>
        <p:nvSpPr>
          <p:cNvPr id="9" name="New shape">
            <a:extLst>
              <a:ext uri="{FF2B5EF4-FFF2-40B4-BE49-F238E27FC236}">
                <a16:creationId xmlns:a16="http://schemas.microsoft.com/office/drawing/2014/main" id="{A4C66E2C-1504-C292-8C23-000AECE0983A}"/>
              </a:ext>
            </a:extLst>
          </p:cNvPr>
          <p:cNvSpPr/>
          <p:nvPr/>
        </p:nvSpPr>
        <p:spPr>
          <a:xfrm>
            <a:off x="1117600" y="5219700"/>
            <a:ext cx="9956800" cy="723900"/>
          </a:xfrm>
          <a:prstGeom prst="roundRect">
            <a:avLst>
              <a:gd name="adj" fmla="val 10526"/>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New shape">
            <a:extLst>
              <a:ext uri="{FF2B5EF4-FFF2-40B4-BE49-F238E27FC236}">
                <a16:creationId xmlns:a16="http://schemas.microsoft.com/office/drawing/2014/main" id="{9E8F31FC-9493-0509-1E5B-C019061D3753}"/>
              </a:ext>
            </a:extLst>
          </p:cNvPr>
          <p:cNvSpPr/>
          <p:nvPr/>
        </p:nvSpPr>
        <p:spPr>
          <a:xfrm>
            <a:off x="1168400" y="5249494"/>
            <a:ext cx="76200" cy="6223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300" fill="hold"/>
                                        <p:tgtEl>
                                          <p:spTgt spid="18"/>
                                        </p:tgtEl>
                                        <p:attrNameLst>
                                          <p:attrName>ppt_w</p:attrName>
                                        </p:attrNameLst>
                                      </p:cBhvr>
                                      <p:tavLst>
                                        <p:tav tm="0">
                                          <p:val>
                                            <p:fltVal val="0"/>
                                          </p:val>
                                        </p:tav>
                                        <p:tav tm="100000">
                                          <p:val>
                                            <p:strVal val="#ppt_w"/>
                                          </p:val>
                                        </p:tav>
                                      </p:tavLst>
                                    </p:anim>
                                    <p:anim calcmode="lin" valueType="num">
                                      <p:cBhvr>
                                        <p:cTn id="8" dur="3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3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300" fill="hold"/>
                                        <p:tgtEl>
                                          <p:spTgt spid="19"/>
                                        </p:tgtEl>
                                        <p:attrNameLst>
                                          <p:attrName>ppt_w</p:attrName>
                                        </p:attrNameLst>
                                      </p:cBhvr>
                                      <p:tavLst>
                                        <p:tav tm="0">
                                          <p:val>
                                            <p:fltVal val="0"/>
                                          </p:val>
                                        </p:tav>
                                        <p:tav tm="100000">
                                          <p:val>
                                            <p:strVal val="#ppt_w"/>
                                          </p:val>
                                        </p:tav>
                                      </p:tavLst>
                                    </p:anim>
                                    <p:anim calcmode="lin" valueType="num">
                                      <p:cBhvr>
                                        <p:cTn id="13" dur="3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6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300" fill="hold"/>
                                        <p:tgtEl>
                                          <p:spTgt spid="20"/>
                                        </p:tgtEl>
                                        <p:attrNameLst>
                                          <p:attrName>ppt_w</p:attrName>
                                        </p:attrNameLst>
                                      </p:cBhvr>
                                      <p:tavLst>
                                        <p:tav tm="0">
                                          <p:val>
                                            <p:fltVal val="0"/>
                                          </p:val>
                                        </p:tav>
                                        <p:tav tm="100000">
                                          <p:val>
                                            <p:strVal val="#ppt_w"/>
                                          </p:val>
                                        </p:tav>
                                      </p:tavLst>
                                    </p:anim>
                                    <p:anim calcmode="lin" valueType="num">
                                      <p:cBhvr>
                                        <p:cTn id="18" dur="3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9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300" fill="hold"/>
                                        <p:tgtEl>
                                          <p:spTgt spid="21"/>
                                        </p:tgtEl>
                                        <p:attrNameLst>
                                          <p:attrName>ppt_w</p:attrName>
                                        </p:attrNameLst>
                                      </p:cBhvr>
                                      <p:tavLst>
                                        <p:tav tm="0">
                                          <p:val>
                                            <p:fltVal val="0"/>
                                          </p:val>
                                        </p:tav>
                                        <p:tav tm="100000">
                                          <p:val>
                                            <p:strVal val="#ppt_w"/>
                                          </p:val>
                                        </p:tav>
                                      </p:tavLst>
                                    </p:anim>
                                    <p:anim calcmode="lin" valueType="num">
                                      <p:cBhvr>
                                        <p:cTn id="23" dur="3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12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300" fill="hold"/>
                                        <p:tgtEl>
                                          <p:spTgt spid="22"/>
                                        </p:tgtEl>
                                        <p:attrNameLst>
                                          <p:attrName>ppt_w</p:attrName>
                                        </p:attrNameLst>
                                      </p:cBhvr>
                                      <p:tavLst>
                                        <p:tav tm="0">
                                          <p:val>
                                            <p:fltVal val="0"/>
                                          </p:val>
                                        </p:tav>
                                        <p:tav tm="100000">
                                          <p:val>
                                            <p:strVal val="#ppt_w"/>
                                          </p:val>
                                        </p:tav>
                                      </p:tavLst>
                                    </p:anim>
                                    <p:anim calcmode="lin" valueType="num">
                                      <p:cBhvr>
                                        <p:cTn id="28" dur="3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5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300" fill="hold"/>
                                        <p:tgtEl>
                                          <p:spTgt spid="23"/>
                                        </p:tgtEl>
                                        <p:attrNameLst>
                                          <p:attrName>ppt_w</p:attrName>
                                        </p:attrNameLst>
                                      </p:cBhvr>
                                      <p:tavLst>
                                        <p:tav tm="0">
                                          <p:val>
                                            <p:fltVal val="0"/>
                                          </p:val>
                                        </p:tav>
                                        <p:tav tm="100000">
                                          <p:val>
                                            <p:strVal val="#ppt_w"/>
                                          </p:val>
                                        </p:tav>
                                      </p:tavLst>
                                    </p:anim>
                                    <p:anim calcmode="lin" valueType="num">
                                      <p:cBhvr>
                                        <p:cTn id="33" dur="3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8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200" fill="hold"/>
                                        <p:tgtEl>
                                          <p:spTgt spid="24"/>
                                        </p:tgtEl>
                                        <p:attrNameLst>
                                          <p:attrName>ppt_w</p:attrName>
                                        </p:attrNameLst>
                                      </p:cBhvr>
                                      <p:tavLst>
                                        <p:tav tm="0">
                                          <p:val>
                                            <p:fltVal val="0"/>
                                          </p:val>
                                        </p:tav>
                                        <p:tav tm="100000">
                                          <p:val>
                                            <p:strVal val="#ppt_w"/>
                                          </p:val>
                                        </p:tav>
                                      </p:tavLst>
                                    </p:anim>
                                    <p:anim calcmode="lin" valueType="num">
                                      <p:cBhvr>
                                        <p:cTn id="38" dur="200" fill="hold"/>
                                        <p:tgtEl>
                                          <p:spTgt spid="2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2000"/>
                            </p:stCondLst>
                            <p:childTnLst>
                              <p:par>
                                <p:cTn id="40" presetID="23" presetClass="entr" presetSubtype="16" fill="hold" grpId="7"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200" fill="hold"/>
                                        <p:tgtEl>
                                          <p:spTgt spid="25"/>
                                        </p:tgtEl>
                                        <p:attrNameLst>
                                          <p:attrName>ppt_w</p:attrName>
                                        </p:attrNameLst>
                                      </p:cBhvr>
                                      <p:tavLst>
                                        <p:tav tm="0">
                                          <p:val>
                                            <p:fltVal val="0"/>
                                          </p:val>
                                        </p:tav>
                                        <p:tav tm="100000">
                                          <p:val>
                                            <p:strVal val="#ppt_w"/>
                                          </p:val>
                                        </p:tav>
                                      </p:tavLst>
                                    </p:anim>
                                    <p:anim calcmode="lin" valueType="num">
                                      <p:cBhvr>
                                        <p:cTn id="43" dur="200" fill="hold"/>
                                        <p:tgtEl>
                                          <p:spTgt spid="25"/>
                                        </p:tgtEl>
                                        <p:attrNameLst>
                                          <p:attrName>ppt_h</p:attrName>
                                        </p:attrNameLst>
                                      </p:cBhvr>
                                      <p:tavLst>
                                        <p:tav tm="0">
                                          <p:val>
                                            <p:fltVal val="0"/>
                                          </p:val>
                                        </p:tav>
                                        <p:tav tm="100000">
                                          <p:val>
                                            <p:strVal val="#ppt_h"/>
                                          </p:val>
                                        </p:tav>
                                      </p:tavLst>
                                    </p:anim>
                                  </p:childTnLst>
                                </p:cTn>
                              </p:par>
                            </p:childTnLst>
                          </p:cTn>
                        </p:par>
                        <p:par>
                          <p:cTn id="44" fill="hold" nodeType="afterGroup">
                            <p:stCondLst>
                              <p:cond delay="2200"/>
                            </p:stCondLst>
                            <p:childTnLst>
                              <p:par>
                                <p:cTn id="45" presetID="23" presetClass="entr" presetSubtype="16" fill="hold" grpId="8" nodeType="after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200" fill="hold"/>
                                        <p:tgtEl>
                                          <p:spTgt spid="26"/>
                                        </p:tgtEl>
                                        <p:attrNameLst>
                                          <p:attrName>ppt_w</p:attrName>
                                        </p:attrNameLst>
                                      </p:cBhvr>
                                      <p:tavLst>
                                        <p:tav tm="0">
                                          <p:val>
                                            <p:fltVal val="0"/>
                                          </p:val>
                                        </p:tav>
                                        <p:tav tm="100000">
                                          <p:val>
                                            <p:strVal val="#ppt_w"/>
                                          </p:val>
                                        </p:tav>
                                      </p:tavLst>
                                    </p:anim>
                                    <p:anim calcmode="lin" valueType="num">
                                      <p:cBhvr>
                                        <p:cTn id="48" dur="200" fill="hold"/>
                                        <p:tgtEl>
                                          <p:spTgt spid="26"/>
                                        </p:tgtEl>
                                        <p:attrNameLst>
                                          <p:attrName>ppt_h</p:attrName>
                                        </p:attrNameLst>
                                      </p:cBhvr>
                                      <p:tavLst>
                                        <p:tav tm="0">
                                          <p:val>
                                            <p:fltVal val="0"/>
                                          </p:val>
                                        </p:tav>
                                        <p:tav tm="100000">
                                          <p:val>
                                            <p:strVal val="#ppt_h"/>
                                          </p:val>
                                        </p:tav>
                                      </p:tavLst>
                                    </p:anim>
                                  </p:childTnLst>
                                </p:cTn>
                              </p:par>
                            </p:childTnLst>
                          </p:cTn>
                        </p:par>
                        <p:par>
                          <p:cTn id="49" fill="hold" nodeType="afterGroup">
                            <p:stCondLst>
                              <p:cond delay="2400"/>
                            </p:stCondLst>
                            <p:childTnLst>
                              <p:par>
                                <p:cTn id="50" presetID="23" presetClass="entr" presetSubtype="16" fill="hold" grpId="9" nodeType="after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p:cTn id="52" dur="200" fill="hold"/>
                                        <p:tgtEl>
                                          <p:spTgt spid="27"/>
                                        </p:tgtEl>
                                        <p:attrNameLst>
                                          <p:attrName>ppt_w</p:attrName>
                                        </p:attrNameLst>
                                      </p:cBhvr>
                                      <p:tavLst>
                                        <p:tav tm="0">
                                          <p:val>
                                            <p:fltVal val="0"/>
                                          </p:val>
                                        </p:tav>
                                        <p:tav tm="100000">
                                          <p:val>
                                            <p:strVal val="#ppt_w"/>
                                          </p:val>
                                        </p:tav>
                                      </p:tavLst>
                                    </p:anim>
                                    <p:anim calcmode="lin" valueType="num">
                                      <p:cBhvr>
                                        <p:cTn id="53" dur="200" fill="hold"/>
                                        <p:tgtEl>
                                          <p:spTgt spid="27"/>
                                        </p:tgtEl>
                                        <p:attrNameLst>
                                          <p:attrName>ppt_h</p:attrName>
                                        </p:attrNameLst>
                                      </p:cBhvr>
                                      <p:tavLst>
                                        <p:tav tm="0">
                                          <p:val>
                                            <p:fltVal val="0"/>
                                          </p:val>
                                        </p:tav>
                                        <p:tav tm="100000">
                                          <p:val>
                                            <p:strVal val="#ppt_h"/>
                                          </p:val>
                                        </p:tav>
                                      </p:tavLst>
                                    </p:anim>
                                  </p:childTnLst>
                                </p:cTn>
                              </p:par>
                            </p:childTnLst>
                          </p:cTn>
                        </p:par>
                        <p:par>
                          <p:cTn id="54" fill="hold" nodeType="afterGroup">
                            <p:stCondLst>
                              <p:cond delay="2600"/>
                            </p:stCondLst>
                            <p:childTnLst>
                              <p:par>
                                <p:cTn id="55" presetID="23" presetClass="entr" presetSubtype="16" fill="hold" grpId="10" nodeType="afterEffect">
                                  <p:stCondLst>
                                    <p:cond delay="0"/>
                                  </p:stCondLst>
                                  <p:childTnLst>
                                    <p:set>
                                      <p:cBhvr>
                                        <p:cTn id="56" dur="1" fill="hold">
                                          <p:stCondLst>
                                            <p:cond delay="0"/>
                                          </p:stCondLst>
                                        </p:cTn>
                                        <p:tgtEl>
                                          <p:spTgt spid="28"/>
                                        </p:tgtEl>
                                        <p:attrNameLst>
                                          <p:attrName>style.visibility</p:attrName>
                                        </p:attrNameLst>
                                      </p:cBhvr>
                                      <p:to>
                                        <p:strVal val="visible"/>
                                      </p:to>
                                    </p:set>
                                    <p:anim calcmode="lin" valueType="num">
                                      <p:cBhvr>
                                        <p:cTn id="57" dur="200" fill="hold"/>
                                        <p:tgtEl>
                                          <p:spTgt spid="28"/>
                                        </p:tgtEl>
                                        <p:attrNameLst>
                                          <p:attrName>ppt_w</p:attrName>
                                        </p:attrNameLst>
                                      </p:cBhvr>
                                      <p:tavLst>
                                        <p:tav tm="0">
                                          <p:val>
                                            <p:fltVal val="0"/>
                                          </p:val>
                                        </p:tav>
                                        <p:tav tm="100000">
                                          <p:val>
                                            <p:strVal val="#ppt_w"/>
                                          </p:val>
                                        </p:tav>
                                      </p:tavLst>
                                    </p:anim>
                                    <p:anim calcmode="lin" valueType="num">
                                      <p:cBhvr>
                                        <p:cTn id="58" dur="200" fill="hold"/>
                                        <p:tgtEl>
                                          <p:spTgt spid="28"/>
                                        </p:tgtEl>
                                        <p:attrNameLst>
                                          <p:attrName>ppt_h</p:attrName>
                                        </p:attrNameLst>
                                      </p:cBhvr>
                                      <p:tavLst>
                                        <p:tav tm="0">
                                          <p:val>
                                            <p:fltVal val="0"/>
                                          </p:val>
                                        </p:tav>
                                        <p:tav tm="100000">
                                          <p:val>
                                            <p:strVal val="#ppt_h"/>
                                          </p:val>
                                        </p:tav>
                                      </p:tavLst>
                                    </p:anim>
                                  </p:childTnLst>
                                </p:cTn>
                              </p:par>
                            </p:childTnLst>
                          </p:cTn>
                        </p:par>
                        <p:par>
                          <p:cTn id="59" fill="hold">
                            <p:stCondLst>
                              <p:cond delay="2800"/>
                            </p:stCondLst>
                            <p:childTnLst>
                              <p:par>
                                <p:cTn id="60" presetID="23" presetClass="entr" presetSubtype="16" fill="hold" grpId="0" nodeType="afterEffect">
                                  <p:stCondLst>
                                    <p:cond delay="0"/>
                                  </p:stCondLst>
                                  <p:childTnLst>
                                    <p:set>
                                      <p:cBhvr>
                                        <p:cTn id="61" dur="1" fill="hold">
                                          <p:stCondLst>
                                            <p:cond delay="0"/>
                                          </p:stCondLst>
                                        </p:cTn>
                                        <p:tgtEl>
                                          <p:spTgt spid="8"/>
                                        </p:tgtEl>
                                        <p:attrNameLst>
                                          <p:attrName>style.visibility</p:attrName>
                                        </p:attrNameLst>
                                      </p:cBhvr>
                                      <p:to>
                                        <p:strVal val="visible"/>
                                      </p:to>
                                    </p:set>
                                    <p:anim calcmode="lin" valueType="num">
                                      <p:cBhvr>
                                        <p:cTn id="62" dur="300" fill="hold"/>
                                        <p:tgtEl>
                                          <p:spTgt spid="8"/>
                                        </p:tgtEl>
                                        <p:attrNameLst>
                                          <p:attrName>ppt_w</p:attrName>
                                        </p:attrNameLst>
                                      </p:cBhvr>
                                      <p:tavLst>
                                        <p:tav tm="0">
                                          <p:val>
                                            <p:fltVal val="0"/>
                                          </p:val>
                                        </p:tav>
                                        <p:tav tm="100000">
                                          <p:val>
                                            <p:strVal val="#ppt_w"/>
                                          </p:val>
                                        </p:tav>
                                      </p:tavLst>
                                    </p:anim>
                                    <p:anim calcmode="lin" valueType="num">
                                      <p:cBhvr>
                                        <p:cTn id="63" dur="300" fill="hold"/>
                                        <p:tgtEl>
                                          <p:spTgt spid="8"/>
                                        </p:tgtEl>
                                        <p:attrNameLst>
                                          <p:attrName>ppt_h</p:attrName>
                                        </p:attrNameLst>
                                      </p:cBhvr>
                                      <p:tavLst>
                                        <p:tav tm="0">
                                          <p:val>
                                            <p:fltVal val="0"/>
                                          </p:val>
                                        </p:tav>
                                        <p:tav tm="100000">
                                          <p:val>
                                            <p:strVal val="#ppt_h"/>
                                          </p:val>
                                        </p:tav>
                                      </p:tavLst>
                                    </p:anim>
                                  </p:childTnLst>
                                </p:cTn>
                              </p:par>
                            </p:childTnLst>
                          </p:cTn>
                        </p:par>
                        <p:par>
                          <p:cTn id="64" fill="hold">
                            <p:stCondLst>
                              <p:cond delay="3100"/>
                            </p:stCondLst>
                            <p:childTnLst>
                              <p:par>
                                <p:cTn id="65" presetID="23" presetClass="entr" presetSubtype="16" fill="hold" grpId="0" nodeType="afterEffect">
                                  <p:stCondLst>
                                    <p:cond delay="0"/>
                                  </p:stCondLst>
                                  <p:childTnLst>
                                    <p:set>
                                      <p:cBhvr>
                                        <p:cTn id="66" dur="1" fill="hold">
                                          <p:stCondLst>
                                            <p:cond delay="0"/>
                                          </p:stCondLst>
                                        </p:cTn>
                                        <p:tgtEl>
                                          <p:spTgt spid="9"/>
                                        </p:tgtEl>
                                        <p:attrNameLst>
                                          <p:attrName>style.visibility</p:attrName>
                                        </p:attrNameLst>
                                      </p:cBhvr>
                                      <p:to>
                                        <p:strVal val="visible"/>
                                      </p:to>
                                    </p:set>
                                    <p:anim calcmode="lin" valueType="num">
                                      <p:cBhvr>
                                        <p:cTn id="67" dur="300" fill="hold"/>
                                        <p:tgtEl>
                                          <p:spTgt spid="9"/>
                                        </p:tgtEl>
                                        <p:attrNameLst>
                                          <p:attrName>ppt_w</p:attrName>
                                        </p:attrNameLst>
                                      </p:cBhvr>
                                      <p:tavLst>
                                        <p:tav tm="0">
                                          <p:val>
                                            <p:fltVal val="0"/>
                                          </p:val>
                                        </p:tav>
                                        <p:tav tm="100000">
                                          <p:val>
                                            <p:strVal val="#ppt_w"/>
                                          </p:val>
                                        </p:tav>
                                      </p:tavLst>
                                    </p:anim>
                                    <p:anim calcmode="lin" valueType="num">
                                      <p:cBhvr>
                                        <p:cTn id="68" dur="3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P spid="25" grpId="7" animBg="1"/>
      <p:bldP spid="26" grpId="8" animBg="1"/>
      <p:bldP spid="27" grpId="9" animBg="1"/>
      <p:bldP spid="28" grpId="10" animBg="1"/>
      <p:bldP spid="9"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作品概述</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128611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推广前景</a:t>
            </a:r>
            <a:endParaRPr sz="3700" b="1" dirty="0">
              <a:solidFill>
                <a:srgbClr val="000000"/>
              </a:solidFill>
              <a:latin typeface="宋体"/>
            </a:endParaRPr>
          </a:p>
        </p:txBody>
      </p:sp>
      <p:sp>
        <p:nvSpPr>
          <p:cNvPr id="19" name="New shape"/>
          <p:cNvSpPr/>
          <p:nvPr/>
        </p:nvSpPr>
        <p:spPr>
          <a:xfrm>
            <a:off x="1117600" y="1944805"/>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85000" lnSpcReduction="20000"/>
          </a:bodyPr>
          <a:lstStyle/>
          <a:p>
            <a:pPr indent="0" algn="l">
              <a:lnSpc>
                <a:spcPct val="100000"/>
              </a:lnSpc>
            </a:pPr>
            <a:r>
              <a:rPr sz="3700" b="1" dirty="0">
                <a:solidFill>
                  <a:srgbClr val="000000"/>
                </a:solidFill>
                <a:latin typeface="宋体"/>
              </a:rPr>
              <a:t>2025年全国碳市场扩容将覆盖钢铁、水泥等高耗能行业</a:t>
            </a:r>
          </a:p>
        </p:txBody>
      </p:sp>
      <p:sp>
        <p:nvSpPr>
          <p:cNvPr id="20" name="New shape"/>
          <p:cNvSpPr/>
          <p:nvPr/>
        </p:nvSpPr>
        <p:spPr>
          <a:xfrm>
            <a:off x="1117600" y="2657459"/>
            <a:ext cx="9956800" cy="2057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sz="2400" b="0" dirty="0">
                <a:solidFill>
                  <a:srgbClr val="000000"/>
                </a:solidFill>
                <a:latin typeface="宋体"/>
              </a:rPr>
              <a:t>市场交易碳排放量预计将扩充到80多亿吨，碳市场成员企业将达到8000家左右，市场规模有望实现爆发式增长。先进的物联网、大数据、人工智能等技术将应用于碳排放的实时监测和精准管理，提高市场的监管效能，区块链数据溯源与AI减排优化成为技术核心，碳期货、碳质押融资等金融工具创新（如全国碳交易所计划推出衍生品），</a:t>
            </a:r>
            <a:r>
              <a:rPr sz="2400" b="0" dirty="0" err="1">
                <a:solidFill>
                  <a:srgbClr val="000000"/>
                </a:solidFill>
                <a:latin typeface="宋体"/>
              </a:rPr>
              <a:t>将吸引金融机构深度参与，形成“监测-交易-融资”闭环生态</a:t>
            </a:r>
            <a:endParaRPr sz="2400" b="0" dirty="0">
              <a:solidFill>
                <a:srgbClr val="000000"/>
              </a:solidFill>
              <a:latin typeface="宋体"/>
            </a:endParaRP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pic>
        <p:nvPicPr>
          <p:cNvPr id="2" name="图片 1" descr="图片包含 形状&#10;&#10;描述已自动生成"/>
          <p:cNvPicPr>
            <a:picLocks noChangeAspect="1"/>
          </p:cNvPicPr>
          <p:nvPr/>
        </p:nvPicPr>
        <p:blipFill>
          <a:blip r:embed="rId3"/>
          <a:stretch>
            <a:fillRect/>
          </a:stretch>
        </p:blipFill>
        <p:spPr>
          <a:xfrm>
            <a:off x="0" y="0"/>
            <a:ext cx="12192000" cy="6097721"/>
          </a:xfrm>
          <a:prstGeom prst="rect">
            <a:avLst/>
          </a:prstGeom>
        </p:spPr>
      </p:pic>
      <p:pic>
        <p:nvPicPr>
          <p:cNvPr id="3" name="图片 2" descr="湖边的景色&#10;&#10;描述已自动生成"/>
          <p:cNvPicPr>
            <a:picLocks noChangeAspect="1"/>
          </p:cNvPicPr>
          <p:nvPr/>
        </p:nvPicPr>
        <p:blipFill>
          <a:blip r:embed="rId4"/>
          <a:stretch>
            <a:fillRect/>
          </a:stretch>
        </p:blipFill>
        <p:spPr>
          <a:xfrm>
            <a:off x="0" y="760279"/>
            <a:ext cx="12192000" cy="6097721"/>
          </a:xfrm>
          <a:prstGeom prst="rect">
            <a:avLst/>
          </a:prstGeom>
        </p:spPr>
      </p:pic>
      <p:grpSp>
        <p:nvGrpSpPr>
          <p:cNvPr id="4" name="组合 3"/>
          <p:cNvGrpSpPr/>
          <p:nvPr/>
        </p:nvGrpSpPr>
        <p:grpSpPr>
          <a:xfrm>
            <a:off x="0" y="-2447492"/>
            <a:ext cx="12192000" cy="8545213"/>
            <a:chOff x="0" y="-2447492"/>
            <a:chExt cx="12192000" cy="8545213"/>
          </a:xfrm>
        </p:grpSpPr>
        <p:pic>
          <p:nvPicPr>
            <p:cNvPr id="6" name="图片 5" descr="穿黑色衣服的人的黑白照&#10;&#10;低可信度描述已自动生成"/>
            <p:cNvPicPr>
              <a:picLocks noChangeAspect="1"/>
            </p:cNvPicPr>
            <p:nvPr/>
          </p:nvPicPr>
          <p:blipFill>
            <a:blip r:embed="rId5"/>
            <a:stretch>
              <a:fillRect/>
            </a:stretch>
          </p:blipFill>
          <p:spPr>
            <a:xfrm>
              <a:off x="0" y="0"/>
              <a:ext cx="12192000" cy="6097721"/>
            </a:xfrm>
            <a:custGeom>
              <a:avLst/>
              <a:gdLst>
                <a:gd name="connsiteX0" fmla="*/ 9423461 w 12192000"/>
                <a:gd name="connsiteY0" fmla="*/ 3048860 h 6097721"/>
                <a:gd name="connsiteX1" fmla="*/ 8980398 w 12192000"/>
                <a:gd name="connsiteY1" fmla="*/ 3437721 h 6097721"/>
                <a:gd name="connsiteX2" fmla="*/ 9423461 w 12192000"/>
                <a:gd name="connsiteY2" fmla="*/ 3826582 h 6097721"/>
                <a:gd name="connsiteX3" fmla="*/ 9866524 w 12192000"/>
                <a:gd name="connsiteY3" fmla="*/ 3437721 h 6097721"/>
                <a:gd name="connsiteX4" fmla="*/ 9423461 w 12192000"/>
                <a:gd name="connsiteY4" fmla="*/ 3048860 h 6097721"/>
                <a:gd name="connsiteX5" fmla="*/ 0 w 12192000"/>
                <a:gd name="connsiteY5" fmla="*/ 0 h 6097721"/>
                <a:gd name="connsiteX6" fmla="*/ 12192000 w 12192000"/>
                <a:gd name="connsiteY6" fmla="*/ 0 h 6097721"/>
                <a:gd name="connsiteX7" fmla="*/ 12192000 w 12192000"/>
                <a:gd name="connsiteY7" fmla="*/ 6097721 h 6097721"/>
                <a:gd name="connsiteX8" fmla="*/ 0 w 12192000"/>
                <a:gd name="connsiteY8" fmla="*/ 6097721 h 609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097721">
                  <a:moveTo>
                    <a:pt x="9423461" y="3048860"/>
                  </a:moveTo>
                  <a:cubicBezTo>
                    <a:pt x="9178764" y="3048860"/>
                    <a:pt x="8980398" y="3222959"/>
                    <a:pt x="8980398" y="3437721"/>
                  </a:cubicBezTo>
                  <a:cubicBezTo>
                    <a:pt x="8980398" y="3652483"/>
                    <a:pt x="9178764" y="3826582"/>
                    <a:pt x="9423461" y="3826582"/>
                  </a:cubicBezTo>
                  <a:cubicBezTo>
                    <a:pt x="9668158" y="3826582"/>
                    <a:pt x="9866524" y="3652483"/>
                    <a:pt x="9866524" y="3437721"/>
                  </a:cubicBezTo>
                  <a:cubicBezTo>
                    <a:pt x="9866524" y="3222959"/>
                    <a:pt x="9668158" y="3048860"/>
                    <a:pt x="9423461" y="3048860"/>
                  </a:cubicBezTo>
                  <a:close/>
                  <a:moveTo>
                    <a:pt x="0" y="0"/>
                  </a:moveTo>
                  <a:lnTo>
                    <a:pt x="12192000" y="0"/>
                  </a:lnTo>
                  <a:lnTo>
                    <a:pt x="12192000" y="6097721"/>
                  </a:lnTo>
                  <a:lnTo>
                    <a:pt x="0" y="6097721"/>
                  </a:lnTo>
                  <a:close/>
                </a:path>
              </a:pathLst>
            </a:custGeom>
          </p:spPr>
        </p:pic>
        <p:pic>
          <p:nvPicPr>
            <p:cNvPr id="7" name="图片 6" descr="穿黑色衣服的人的黑白照&#10;&#10;低可信度描述已自动生成"/>
            <p:cNvPicPr>
              <a:picLocks noChangeAspect="1"/>
            </p:cNvPicPr>
            <p:nvPr/>
          </p:nvPicPr>
          <p:blipFill>
            <a:blip r:embed="rId6"/>
            <a:stretch>
              <a:fillRect/>
            </a:stretch>
          </p:blipFill>
          <p:spPr>
            <a:xfrm>
              <a:off x="7038905" y="-2447492"/>
              <a:ext cx="3722976" cy="6097721"/>
            </a:xfrm>
            <a:prstGeom prst="rect">
              <a:avLst/>
            </a:prstGeom>
          </p:spPr>
        </p:pic>
        <p:pic>
          <p:nvPicPr>
            <p:cNvPr id="8" name="图片 7" descr="穿黑色衣服的人的黑白照&#10;&#10;低可信度描述已自动生成"/>
            <p:cNvPicPr>
              <a:picLocks noChangeAspect="1"/>
            </p:cNvPicPr>
            <p:nvPr/>
          </p:nvPicPr>
          <p:blipFill>
            <a:blip r:embed="rId7"/>
            <a:stretch>
              <a:fillRect/>
            </a:stretch>
          </p:blipFill>
          <p:spPr>
            <a:xfrm>
              <a:off x="9295898" y="-1803928"/>
              <a:ext cx="2308727" cy="6097721"/>
            </a:xfrm>
            <a:prstGeom prst="rect">
              <a:avLst/>
            </a:prstGeom>
          </p:spPr>
        </p:pic>
      </p:grpSp>
      <p:grpSp>
        <p:nvGrpSpPr>
          <p:cNvPr id="37" name="组合 36"/>
          <p:cNvGrpSpPr/>
          <p:nvPr/>
        </p:nvGrpSpPr>
        <p:grpSpPr>
          <a:xfrm>
            <a:off x="4404370" y="1479727"/>
            <a:ext cx="3383261" cy="657415"/>
            <a:chOff x="4771220" y="1773297"/>
            <a:chExt cx="2670192" cy="657415"/>
          </a:xfrm>
        </p:grpSpPr>
        <p:sp>
          <p:nvSpPr>
            <p:cNvPr id="38" name="矩形: 圆角 2"/>
            <p:cNvSpPr/>
            <p:nvPr/>
          </p:nvSpPr>
          <p:spPr>
            <a:xfrm>
              <a:off x="4771220" y="1773297"/>
              <a:ext cx="2670192" cy="657415"/>
            </a:xfrm>
            <a:prstGeom prst="roundRect">
              <a:avLst>
                <a:gd name="adj" fmla="val 50000"/>
              </a:avLst>
            </a:prstGeom>
            <a:gradFill>
              <a:gsLst>
                <a:gs pos="0">
                  <a:srgbClr val="FF0000"/>
                </a:gs>
                <a:gs pos="100000">
                  <a:srgbClr val="C00000"/>
                </a:gs>
              </a:gsLst>
              <a:lin ang="27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9" name="文本框 38"/>
            <p:cNvSpPr txBox="1"/>
            <p:nvPr/>
          </p:nvSpPr>
          <p:spPr>
            <a:xfrm>
              <a:off x="5073438" y="1815533"/>
              <a:ext cx="2101946" cy="5796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a:r>
                <a:rPr lang="zh-CN" altLang="en-US" sz="3200" b="1">
                  <a:solidFill>
                    <a:srgbClr val="FFFDF8"/>
                  </a:solidFill>
                  <a:latin typeface="宋体"/>
                  <a:ea typeface="微软雅黑" panose="020B0503020204020204" pitchFamily="34" charset="-122"/>
                  <a:cs typeface="思源宋体 CN Heavy" panose="02020900000000000000" charset="-122"/>
                  <a:sym typeface="宋体"/>
                </a:rPr>
                <a:t>第2部分</a:t>
              </a:r>
            </a:p>
          </p:txBody>
        </p:sp>
      </p:grpSp>
      <p:sp>
        <p:nvSpPr>
          <p:cNvPr id="40" name="TextBox 48"/>
          <p:cNvSpPr txBox="1"/>
          <p:nvPr/>
        </p:nvSpPr>
        <p:spPr>
          <a:xfrm>
            <a:off x="2290994" y="2724048"/>
            <a:ext cx="7120909" cy="1569047"/>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defTabSz="685800"/>
            <a:r>
              <a:rPr lang="zh-CN" altLang="en-US" sz="6600" b="1">
                <a:solidFill>
                  <a:srgbClr val="000000"/>
                </a:solidFill>
                <a:latin typeface="宋体"/>
                <a:ea typeface="微软雅黑" panose="020B0503020204020204" pitchFamily="34" charset="-122"/>
                <a:cs typeface="+mn-ea"/>
                <a:sym typeface="宋体"/>
              </a:rPr>
              <a:t>问题分析</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arn(inVertical)" prLst="">
                                      <p:cBhvr>
                                        <p:cTn id="7" dur="500"/>
                                        <p:tgtEl>
                                          <p:spTgt spid="37"/>
                                        </p:tgtEl>
                                      </p:cBhvr>
                                    </p:animEffect>
                                  </p:childTnLst>
                                </p:cTn>
                              </p:par>
                            </p:childTnLst>
                          </p:cTn>
                        </p:par>
                        <p:par>
                          <p:cTn id="8" fill="hold" nodeType="afterGroup">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p:cTn id="11" dur="500" fill="hold"/>
                                        <p:tgtEl>
                                          <p:spTgt spid="40"/>
                                        </p:tgtEl>
                                        <p:attrNameLst>
                                          <p:attrName>ppt_w</p:attrName>
                                        </p:attrNameLst>
                                      </p:cBhvr>
                                      <p:tavLst>
                                        <p:tav tm="0">
                                          <p:val>
                                            <p:fltVal val="0"/>
                                          </p:val>
                                        </p:tav>
                                        <p:tav tm="100000">
                                          <p:val>
                                            <p:strVal val="#ppt_w"/>
                                          </p:val>
                                        </p:tav>
                                      </p:tavLst>
                                    </p:anim>
                                    <p:anim calcmode="lin" valueType="num">
                                      <p:cBhvr>
                                        <p:cTn id="12" dur="500" fill="hold"/>
                                        <p:tgtEl>
                                          <p:spTgt spid="40"/>
                                        </p:tgtEl>
                                        <p:attrNameLst>
                                          <p:attrName>ppt_h</p:attrName>
                                        </p:attrNameLst>
                                      </p:cBhvr>
                                      <p:tavLst>
                                        <p:tav tm="0">
                                          <p:val>
                                            <p:fltVal val="0"/>
                                          </p:val>
                                        </p:tav>
                                        <p:tav tm="100000">
                                          <p:val>
                                            <p:strVal val="#ppt_h"/>
                                          </p:val>
                                        </p:tav>
                                      </p:tavLst>
                                    </p:anim>
                                    <p:animEffect transition="in" filter="fade" prLst="">
                                      <p:cBhvr>
                                        <p:cTn id="13" dur="500"/>
                                        <p:tgtEl>
                                          <p:spTgt spid="40"/>
                                        </p:tgtEl>
                                      </p:cBhvr>
                                    </p:animEffect>
                                  </p:childTnLst>
                                </p:cTn>
                              </p:par>
                            </p:childTnLst>
                          </p:cTn>
                        </p:par>
                        <p:par>
                          <p:cTn id="14" fill="hold" nodeType="afterGroup">
                            <p:stCondLst>
                              <p:cond delay="1000"/>
                            </p:stCondLst>
                            <p:childTnLst>
                              <p:par>
                                <p:cTn id="15" presetID="42"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rLst="">
                                      <p:cBhvr>
                                        <p:cTn id="17" dur="500"/>
                                        <p:tgtEl>
                                          <p:spTgt spid="4"/>
                                        </p:tgtEl>
                                      </p:cBhvr>
                                    </p:animEffect>
                                    <p:anim calcmode="lin" valueType="num">
                                      <p:cBhvr>
                                        <p:cTn id="18" dur="500" fill="hold"/>
                                        <p:tgtEl>
                                          <p:spTgt spid="4"/>
                                        </p:tgtEl>
                                        <p:attrNameLst>
                                          <p:attrName>ppt_x</p:attrName>
                                        </p:attrNameLst>
                                      </p:cBhvr>
                                      <p:tavLst>
                                        <p:tav tm="0">
                                          <p:val>
                                            <p:strVal val="#ppt_x"/>
                                          </p:val>
                                        </p:tav>
                                        <p:tav tm="100000">
                                          <p:val>
                                            <p:strVal val="#ppt_x"/>
                                          </p:val>
                                        </p:tav>
                                      </p:tavLst>
                                    </p:anim>
                                    <p:anim calcmode="lin" valueType="num">
                                      <p:cBhvr>
                                        <p:cTn id="1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问题分析</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1227271"/>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问题来源</a:t>
            </a:r>
            <a:endParaRPr sz="3700" b="1" dirty="0">
              <a:solidFill>
                <a:srgbClr val="000000"/>
              </a:solidFill>
              <a:latin typeface="宋体"/>
            </a:endParaRPr>
          </a:p>
        </p:txBody>
      </p:sp>
      <p:sp>
        <p:nvSpPr>
          <p:cNvPr id="19" name="New shape"/>
          <p:cNvSpPr/>
          <p:nvPr/>
        </p:nvSpPr>
        <p:spPr>
          <a:xfrm>
            <a:off x="1117600" y="1910623"/>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数据层面</a:t>
            </a:r>
            <a:endParaRPr sz="3700" b="1" dirty="0">
              <a:solidFill>
                <a:srgbClr val="000000"/>
              </a:solidFill>
              <a:latin typeface="宋体"/>
            </a:endParaRPr>
          </a:p>
        </p:txBody>
      </p:sp>
      <p:sp>
        <p:nvSpPr>
          <p:cNvPr id="20" name="New shape"/>
          <p:cNvSpPr/>
          <p:nvPr/>
        </p:nvSpPr>
        <p:spPr>
          <a:xfrm>
            <a:off x="1117600" y="2425465"/>
            <a:ext cx="995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dirty="0" err="1">
                <a:solidFill>
                  <a:srgbClr val="000000"/>
                </a:solidFill>
                <a:latin typeface="宋体"/>
              </a:rPr>
              <a:t>企业篡改检测报告（如中碳能投造假事件</a:t>
            </a:r>
            <a:r>
              <a:rPr sz="2100" b="0" dirty="0">
                <a:solidFill>
                  <a:srgbClr val="000000"/>
                </a:solidFill>
                <a:latin typeface="宋体"/>
              </a:rPr>
              <a:t>）、</a:t>
            </a:r>
            <a:r>
              <a:rPr sz="2100" b="0" dirty="0" err="1">
                <a:solidFill>
                  <a:srgbClr val="000000"/>
                </a:solidFill>
                <a:latin typeface="宋体"/>
              </a:rPr>
              <a:t>基层统计口径混乱导致核算失真</a:t>
            </a:r>
            <a:endParaRPr sz="2100" b="0" dirty="0">
              <a:solidFill>
                <a:srgbClr val="000000"/>
              </a:solidFill>
              <a:latin typeface="宋体"/>
            </a:endParaRPr>
          </a:p>
        </p:txBody>
      </p:sp>
      <p:sp>
        <p:nvSpPr>
          <p:cNvPr id="21" name="New shape"/>
          <p:cNvSpPr/>
          <p:nvPr/>
        </p:nvSpPr>
        <p:spPr>
          <a:xfrm>
            <a:off x="1117600" y="2829652"/>
            <a:ext cx="9956800" cy="6858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a:bodyPr>
          <a:lstStyle/>
          <a:p>
            <a:pPr indent="0" algn="l">
              <a:lnSpc>
                <a:spcPct val="125000"/>
              </a:lnSpc>
            </a:pPr>
            <a:r>
              <a:rPr lang="zh-CN" altLang="en-US" sz="2100" b="0" dirty="0">
                <a:solidFill>
                  <a:srgbClr val="000000"/>
                </a:solidFill>
                <a:latin typeface="宋体"/>
              </a:rPr>
              <a:t>技术层面，物联网与</a:t>
            </a:r>
            <a:r>
              <a:rPr lang="en-US" altLang="zh-CN" sz="2100" b="0" dirty="0">
                <a:solidFill>
                  <a:srgbClr val="000000"/>
                </a:solidFill>
                <a:latin typeface="宋体"/>
              </a:rPr>
              <a:t>ERP</a:t>
            </a:r>
            <a:r>
              <a:rPr lang="zh-CN" altLang="en-US" sz="2100" b="0" dirty="0">
                <a:solidFill>
                  <a:srgbClr val="000000"/>
                </a:solidFill>
                <a:latin typeface="宋体"/>
              </a:rPr>
              <a:t>系统数据孤岛难以整合，区块链溯源与</a:t>
            </a:r>
            <a:r>
              <a:rPr lang="en-US" altLang="zh-CN" sz="2100" b="0" dirty="0">
                <a:solidFill>
                  <a:srgbClr val="000000"/>
                </a:solidFill>
                <a:latin typeface="宋体"/>
              </a:rPr>
              <a:t>AI</a:t>
            </a:r>
            <a:r>
              <a:rPr lang="zh-CN" altLang="en-US" sz="2100" b="0" dirty="0">
                <a:solidFill>
                  <a:srgbClr val="000000"/>
                </a:solidFill>
                <a:latin typeface="宋体"/>
              </a:rPr>
              <a:t>预测技术渗透不足</a:t>
            </a:r>
          </a:p>
        </p:txBody>
      </p:sp>
      <p:sp>
        <p:nvSpPr>
          <p:cNvPr id="22" name="New shape"/>
          <p:cNvSpPr/>
          <p:nvPr/>
        </p:nvSpPr>
        <p:spPr>
          <a:xfrm>
            <a:off x="1151260" y="3257550"/>
            <a:ext cx="995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dirty="0" err="1">
                <a:solidFill>
                  <a:srgbClr val="000000"/>
                </a:solidFill>
                <a:latin typeface="宋体"/>
              </a:rPr>
              <a:t>政策层面，碳市场配额分配规则模糊，欧盟CBAM等国际标准适配压力加剧</a:t>
            </a:r>
            <a:endParaRPr sz="2100" b="0" dirty="0">
              <a:solidFill>
                <a:srgbClr val="000000"/>
              </a:solidFill>
              <a:latin typeface="宋体"/>
            </a:endParaRPr>
          </a:p>
        </p:txBody>
      </p:sp>
      <p:sp>
        <p:nvSpPr>
          <p:cNvPr id="23" name="New shape"/>
          <p:cNvSpPr/>
          <p:nvPr/>
        </p:nvSpPr>
        <p:spPr>
          <a:xfrm>
            <a:off x="1116608" y="3752224"/>
            <a:ext cx="995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dirty="0" err="1">
                <a:solidFill>
                  <a:srgbClr val="000000"/>
                </a:solidFill>
                <a:latin typeface="宋体"/>
              </a:rPr>
              <a:t>用户端碳普惠机制覆盖率低，中小企业碳管理成本高企</a:t>
            </a:r>
            <a:endParaRPr sz="2100" b="0" dirty="0">
              <a:solidFill>
                <a:srgbClr val="000000"/>
              </a:solidFill>
              <a:latin typeface="宋体"/>
            </a:endParaRPr>
          </a:p>
        </p:txBody>
      </p:sp>
      <p:sp>
        <p:nvSpPr>
          <p:cNvPr id="24" name="New shape"/>
          <p:cNvSpPr/>
          <p:nvPr/>
        </p:nvSpPr>
        <p:spPr>
          <a:xfrm>
            <a:off x="1116608" y="4275864"/>
            <a:ext cx="995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dirty="0" err="1">
                <a:solidFill>
                  <a:srgbClr val="000000"/>
                </a:solidFill>
                <a:latin typeface="宋体"/>
              </a:rPr>
              <a:t>国际协同层面，关键技术（如CCUS）商业化滞后，行业核算标准未完全接轨</a:t>
            </a:r>
            <a:endParaRPr sz="2100" b="0" dirty="0">
              <a:solidFill>
                <a:srgbClr val="000000"/>
              </a:solidFill>
              <a:latin typeface="宋体"/>
            </a:endParaRPr>
          </a:p>
        </p:txBody>
      </p:sp>
      <p:sp>
        <p:nvSpPr>
          <p:cNvPr id="25" name="New shape"/>
          <p:cNvSpPr/>
          <p:nvPr/>
        </p:nvSpPr>
        <p:spPr>
          <a:xfrm>
            <a:off x="1151260" y="4895090"/>
            <a:ext cx="9956800" cy="6858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lnSpcReduction="10000"/>
          </a:bodyPr>
          <a:lstStyle/>
          <a:p>
            <a:pPr indent="0" algn="l">
              <a:lnSpc>
                <a:spcPct val="125000"/>
              </a:lnSpc>
            </a:pPr>
            <a:r>
              <a:rPr sz="2100" b="0" dirty="0" err="1">
                <a:solidFill>
                  <a:srgbClr val="000000"/>
                </a:solidFill>
                <a:latin typeface="宋体"/>
              </a:rPr>
              <a:t>根源在于数据治理体系薄弱、技术创新滞后及跨部门政策协同不足，需通过区块链存证、动态排放因子库及碳市场黑名单制度实现突破</a:t>
            </a:r>
            <a:endParaRPr sz="2100" b="0" dirty="0">
              <a:solidFill>
                <a:srgbClr val="000000"/>
              </a:solidFill>
              <a:latin typeface="宋体"/>
            </a:endParaRP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6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200" fill="hold"/>
                                        <p:tgtEl>
                                          <p:spTgt spid="21"/>
                                        </p:tgtEl>
                                        <p:attrNameLst>
                                          <p:attrName>ppt_w</p:attrName>
                                        </p:attrNameLst>
                                      </p:cBhvr>
                                      <p:tavLst>
                                        <p:tav tm="0">
                                          <p:val>
                                            <p:fltVal val="0"/>
                                          </p:val>
                                        </p:tav>
                                        <p:tav tm="100000">
                                          <p:val>
                                            <p:strVal val="#ppt_w"/>
                                          </p:val>
                                        </p:tav>
                                      </p:tavLst>
                                    </p:anim>
                                    <p:anim calcmode="lin" valueType="num">
                                      <p:cBhvr>
                                        <p:cTn id="23" dur="2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8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200" fill="hold"/>
                                        <p:tgtEl>
                                          <p:spTgt spid="22"/>
                                        </p:tgtEl>
                                        <p:attrNameLst>
                                          <p:attrName>ppt_w</p:attrName>
                                        </p:attrNameLst>
                                      </p:cBhvr>
                                      <p:tavLst>
                                        <p:tav tm="0">
                                          <p:val>
                                            <p:fltVal val="0"/>
                                          </p:val>
                                        </p:tav>
                                        <p:tav tm="100000">
                                          <p:val>
                                            <p:strVal val="#ppt_w"/>
                                          </p:val>
                                        </p:tav>
                                      </p:tavLst>
                                    </p:anim>
                                    <p:anim calcmode="lin" valueType="num">
                                      <p:cBhvr>
                                        <p:cTn id="28" dur="2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0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200" fill="hold"/>
                                        <p:tgtEl>
                                          <p:spTgt spid="23"/>
                                        </p:tgtEl>
                                        <p:attrNameLst>
                                          <p:attrName>ppt_w</p:attrName>
                                        </p:attrNameLst>
                                      </p:cBhvr>
                                      <p:tavLst>
                                        <p:tav tm="0">
                                          <p:val>
                                            <p:fltVal val="0"/>
                                          </p:val>
                                        </p:tav>
                                        <p:tav tm="100000">
                                          <p:val>
                                            <p:strVal val="#ppt_w"/>
                                          </p:val>
                                        </p:tav>
                                      </p:tavLst>
                                    </p:anim>
                                    <p:anim calcmode="lin" valueType="num">
                                      <p:cBhvr>
                                        <p:cTn id="33" dur="2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2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200" fill="hold"/>
                                        <p:tgtEl>
                                          <p:spTgt spid="24"/>
                                        </p:tgtEl>
                                        <p:attrNameLst>
                                          <p:attrName>ppt_w</p:attrName>
                                        </p:attrNameLst>
                                      </p:cBhvr>
                                      <p:tavLst>
                                        <p:tav tm="0">
                                          <p:val>
                                            <p:fltVal val="0"/>
                                          </p:val>
                                        </p:tav>
                                        <p:tav tm="100000">
                                          <p:val>
                                            <p:strVal val="#ppt_w"/>
                                          </p:val>
                                        </p:tav>
                                      </p:tavLst>
                                    </p:anim>
                                    <p:anim calcmode="lin" valueType="num">
                                      <p:cBhvr>
                                        <p:cTn id="38" dur="200" fill="hold"/>
                                        <p:tgtEl>
                                          <p:spTgt spid="2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1400"/>
                            </p:stCondLst>
                            <p:childTnLst>
                              <p:par>
                                <p:cTn id="40" presetID="23" presetClass="entr" presetSubtype="16" fill="hold" grpId="7"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200" fill="hold"/>
                                        <p:tgtEl>
                                          <p:spTgt spid="25"/>
                                        </p:tgtEl>
                                        <p:attrNameLst>
                                          <p:attrName>ppt_w</p:attrName>
                                        </p:attrNameLst>
                                      </p:cBhvr>
                                      <p:tavLst>
                                        <p:tav tm="0">
                                          <p:val>
                                            <p:fltVal val="0"/>
                                          </p:val>
                                        </p:tav>
                                        <p:tav tm="100000">
                                          <p:val>
                                            <p:strVal val="#ppt_w"/>
                                          </p:val>
                                        </p:tav>
                                      </p:tavLst>
                                    </p:anim>
                                    <p:anim calcmode="lin" valueType="num">
                                      <p:cBhvr>
                                        <p:cTn id="43" dur="200" fill="hold"/>
                                        <p:tgtEl>
                                          <p:spTgt spid="2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P spid="25" grpId="7"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问题分析</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1338364"/>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现有解决方案</a:t>
            </a:r>
            <a:endParaRPr sz="3700" b="1" dirty="0">
              <a:solidFill>
                <a:srgbClr val="000000"/>
              </a:solidFill>
              <a:latin typeface="宋体"/>
            </a:endParaRPr>
          </a:p>
        </p:txBody>
      </p:sp>
      <p:sp>
        <p:nvSpPr>
          <p:cNvPr id="19" name="New shape"/>
          <p:cNvSpPr/>
          <p:nvPr/>
        </p:nvSpPr>
        <p:spPr>
          <a:xfrm>
            <a:off x="1117600" y="1973396"/>
            <a:ext cx="9956800" cy="8382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当前碳排放网页系统通过区块链与隐私计算技术构建可信数据链（如蚂蚁链碳账本</a:t>
            </a:r>
            <a:r>
              <a:rPr sz="3700" b="1" dirty="0">
                <a:solidFill>
                  <a:srgbClr val="000000"/>
                </a:solidFill>
                <a:latin typeface="宋体"/>
              </a:rPr>
              <a:t>），</a:t>
            </a:r>
          </a:p>
        </p:txBody>
      </p:sp>
      <p:sp>
        <p:nvSpPr>
          <p:cNvPr id="20" name="New shape"/>
          <p:cNvSpPr/>
          <p:nvPr/>
        </p:nvSpPr>
        <p:spPr>
          <a:xfrm>
            <a:off x="1117600" y="3055458"/>
            <a:ext cx="9956800" cy="17145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sz="2400" b="0" dirty="0">
                <a:solidFill>
                  <a:srgbClr val="000000"/>
                </a:solidFill>
                <a:latin typeface="宋体"/>
              </a:rPr>
              <a:t>整合5G物联网实时采集高耗能设备运行数据，并依托AI碳核算引擎（碳阻迹等平台调用16万+排放因子库）提升精度；跨链溯源技术穿透式追踪供应链碳足迹，动态排放因子库适配欧盟CBAM等国际规则，政府同步推动企业监测系统强制部署。然而，中小出口企业碳管理成本高企、CCUS技术商业化受阻及碳普惠用户参与度低仍是落地难点，需政策补贴与技术降本双轨突破</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问题分析</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2413000"/>
            <a:ext cx="9956800" cy="1066800"/>
          </a:xfrm>
          <a:prstGeom prst="roundRect">
            <a:avLst>
              <a:gd name="adj" fmla="val 7142"/>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New shape"/>
          <p:cNvSpPr/>
          <p:nvPr/>
        </p:nvSpPr>
        <p:spPr>
          <a:xfrm>
            <a:off x="1168400" y="2463800"/>
            <a:ext cx="76200" cy="9652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New shape"/>
          <p:cNvSpPr/>
          <p:nvPr/>
        </p:nvSpPr>
        <p:spPr>
          <a:xfrm>
            <a:off x="1117600" y="3606800"/>
            <a:ext cx="9956800" cy="1066800"/>
          </a:xfrm>
          <a:prstGeom prst="roundRect">
            <a:avLst>
              <a:gd name="adj" fmla="val 7142"/>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New shape"/>
          <p:cNvSpPr/>
          <p:nvPr/>
        </p:nvSpPr>
        <p:spPr>
          <a:xfrm>
            <a:off x="1168400" y="3657600"/>
            <a:ext cx="76200" cy="9652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New shape"/>
          <p:cNvSpPr/>
          <p:nvPr/>
        </p:nvSpPr>
        <p:spPr>
          <a:xfrm>
            <a:off x="1117600" y="4800600"/>
            <a:ext cx="9956800" cy="1066800"/>
          </a:xfrm>
          <a:prstGeom prst="roundRect">
            <a:avLst>
              <a:gd name="adj" fmla="val 7142"/>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New shape"/>
          <p:cNvSpPr/>
          <p:nvPr/>
        </p:nvSpPr>
        <p:spPr>
          <a:xfrm>
            <a:off x="1168400" y="4851400"/>
            <a:ext cx="76200" cy="9652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New shape"/>
          <p:cNvSpPr/>
          <p:nvPr/>
        </p:nvSpPr>
        <p:spPr>
          <a:xfrm>
            <a:off x="1117600" y="16891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a:solidFill>
                  <a:srgbClr val="000000"/>
                </a:solidFill>
                <a:latin typeface="宋体"/>
              </a:rPr>
              <a:t>本作品解决的痛点问题</a:t>
            </a:r>
          </a:p>
        </p:txBody>
      </p:sp>
      <p:sp>
        <p:nvSpPr>
          <p:cNvPr id="25" name="New shape"/>
          <p:cNvSpPr/>
          <p:nvPr/>
        </p:nvSpPr>
        <p:spPr>
          <a:xfrm>
            <a:off x="1435100" y="2603500"/>
            <a:ext cx="9639300" cy="660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0000" lnSpcReduction="10000"/>
          </a:bodyPr>
          <a:lstStyle/>
          <a:p>
            <a:pPr indent="0" algn="l">
              <a:lnSpc>
                <a:spcPct val="125000"/>
              </a:lnSpc>
            </a:pPr>
            <a:r>
              <a:rPr sz="2100" b="0">
                <a:solidFill>
                  <a:srgbClr val="000000"/>
                </a:solidFill>
                <a:latin typeface="宋体"/>
              </a:rPr>
              <a:t>提高估值精度：通过更精细的数据处理和先进的模型算法，减少估值偏差，提高预测的准确性</a:t>
            </a:r>
          </a:p>
        </p:txBody>
      </p:sp>
      <p:sp>
        <p:nvSpPr>
          <p:cNvPr id="26" name="New shape"/>
          <p:cNvSpPr/>
          <p:nvPr/>
        </p:nvSpPr>
        <p:spPr>
          <a:xfrm>
            <a:off x="1435100" y="3797300"/>
            <a:ext cx="9639300" cy="660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0000" lnSpcReduction="10000"/>
          </a:bodyPr>
          <a:lstStyle/>
          <a:p>
            <a:pPr indent="0" algn="l">
              <a:lnSpc>
                <a:spcPct val="125000"/>
              </a:lnSpc>
            </a:pPr>
            <a:r>
              <a:rPr sz="2100" b="0">
                <a:solidFill>
                  <a:srgbClr val="000000"/>
                </a:solidFill>
                <a:latin typeface="宋体"/>
              </a:rPr>
              <a:t>增强透明度：提供详细的碳排放因子分析，使用户理解碳排放构成，增加决策的透明度和信任感</a:t>
            </a:r>
          </a:p>
        </p:txBody>
      </p:sp>
      <p:sp>
        <p:nvSpPr>
          <p:cNvPr id="27" name="New shape"/>
          <p:cNvSpPr/>
          <p:nvPr/>
        </p:nvSpPr>
        <p:spPr>
          <a:xfrm>
            <a:off x="1435100" y="4991100"/>
            <a:ext cx="9639300" cy="660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a:bodyPr>
          <a:lstStyle/>
          <a:p>
            <a:pPr indent="0" algn="l">
              <a:lnSpc>
                <a:spcPct val="125000"/>
              </a:lnSpc>
            </a:pPr>
            <a:r>
              <a:rPr sz="2100" b="0">
                <a:solidFill>
                  <a:srgbClr val="000000"/>
                </a:solidFill>
                <a:latin typeface="宋体"/>
              </a:rPr>
              <a:t>广泛适用性：覆盖更多类型、地域和年份数据，满足更广泛用户的碳排放评估需求</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300" fill="hold"/>
                                        <p:tgtEl>
                                          <p:spTgt spid="18"/>
                                        </p:tgtEl>
                                        <p:attrNameLst>
                                          <p:attrName>ppt_w</p:attrName>
                                        </p:attrNameLst>
                                      </p:cBhvr>
                                      <p:tavLst>
                                        <p:tav tm="0">
                                          <p:val>
                                            <p:fltVal val="0"/>
                                          </p:val>
                                        </p:tav>
                                        <p:tav tm="100000">
                                          <p:val>
                                            <p:strVal val="#ppt_w"/>
                                          </p:val>
                                        </p:tav>
                                      </p:tavLst>
                                    </p:anim>
                                    <p:anim calcmode="lin" valueType="num">
                                      <p:cBhvr>
                                        <p:cTn id="8" dur="3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3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300" fill="hold"/>
                                        <p:tgtEl>
                                          <p:spTgt spid="19"/>
                                        </p:tgtEl>
                                        <p:attrNameLst>
                                          <p:attrName>ppt_w</p:attrName>
                                        </p:attrNameLst>
                                      </p:cBhvr>
                                      <p:tavLst>
                                        <p:tav tm="0">
                                          <p:val>
                                            <p:fltVal val="0"/>
                                          </p:val>
                                        </p:tav>
                                        <p:tav tm="100000">
                                          <p:val>
                                            <p:strVal val="#ppt_w"/>
                                          </p:val>
                                        </p:tav>
                                      </p:tavLst>
                                    </p:anim>
                                    <p:anim calcmode="lin" valueType="num">
                                      <p:cBhvr>
                                        <p:cTn id="13" dur="3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6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300" fill="hold"/>
                                        <p:tgtEl>
                                          <p:spTgt spid="20"/>
                                        </p:tgtEl>
                                        <p:attrNameLst>
                                          <p:attrName>ppt_w</p:attrName>
                                        </p:attrNameLst>
                                      </p:cBhvr>
                                      <p:tavLst>
                                        <p:tav tm="0">
                                          <p:val>
                                            <p:fltVal val="0"/>
                                          </p:val>
                                        </p:tav>
                                        <p:tav tm="100000">
                                          <p:val>
                                            <p:strVal val="#ppt_w"/>
                                          </p:val>
                                        </p:tav>
                                      </p:tavLst>
                                    </p:anim>
                                    <p:anim calcmode="lin" valueType="num">
                                      <p:cBhvr>
                                        <p:cTn id="18" dur="3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9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300" fill="hold"/>
                                        <p:tgtEl>
                                          <p:spTgt spid="21"/>
                                        </p:tgtEl>
                                        <p:attrNameLst>
                                          <p:attrName>ppt_w</p:attrName>
                                        </p:attrNameLst>
                                      </p:cBhvr>
                                      <p:tavLst>
                                        <p:tav tm="0">
                                          <p:val>
                                            <p:fltVal val="0"/>
                                          </p:val>
                                        </p:tav>
                                        <p:tav tm="100000">
                                          <p:val>
                                            <p:strVal val="#ppt_w"/>
                                          </p:val>
                                        </p:tav>
                                      </p:tavLst>
                                    </p:anim>
                                    <p:anim calcmode="lin" valueType="num">
                                      <p:cBhvr>
                                        <p:cTn id="23" dur="3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12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300" fill="hold"/>
                                        <p:tgtEl>
                                          <p:spTgt spid="22"/>
                                        </p:tgtEl>
                                        <p:attrNameLst>
                                          <p:attrName>ppt_w</p:attrName>
                                        </p:attrNameLst>
                                      </p:cBhvr>
                                      <p:tavLst>
                                        <p:tav tm="0">
                                          <p:val>
                                            <p:fltVal val="0"/>
                                          </p:val>
                                        </p:tav>
                                        <p:tav tm="100000">
                                          <p:val>
                                            <p:strVal val="#ppt_w"/>
                                          </p:val>
                                        </p:tav>
                                      </p:tavLst>
                                    </p:anim>
                                    <p:anim calcmode="lin" valueType="num">
                                      <p:cBhvr>
                                        <p:cTn id="28" dur="3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5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300" fill="hold"/>
                                        <p:tgtEl>
                                          <p:spTgt spid="23"/>
                                        </p:tgtEl>
                                        <p:attrNameLst>
                                          <p:attrName>ppt_w</p:attrName>
                                        </p:attrNameLst>
                                      </p:cBhvr>
                                      <p:tavLst>
                                        <p:tav tm="0">
                                          <p:val>
                                            <p:fltVal val="0"/>
                                          </p:val>
                                        </p:tav>
                                        <p:tav tm="100000">
                                          <p:val>
                                            <p:strVal val="#ppt_w"/>
                                          </p:val>
                                        </p:tav>
                                      </p:tavLst>
                                    </p:anim>
                                    <p:anim calcmode="lin" valueType="num">
                                      <p:cBhvr>
                                        <p:cTn id="33" dur="3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8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200" fill="hold"/>
                                        <p:tgtEl>
                                          <p:spTgt spid="24"/>
                                        </p:tgtEl>
                                        <p:attrNameLst>
                                          <p:attrName>ppt_w</p:attrName>
                                        </p:attrNameLst>
                                      </p:cBhvr>
                                      <p:tavLst>
                                        <p:tav tm="0">
                                          <p:val>
                                            <p:fltVal val="0"/>
                                          </p:val>
                                        </p:tav>
                                        <p:tav tm="100000">
                                          <p:val>
                                            <p:strVal val="#ppt_w"/>
                                          </p:val>
                                        </p:tav>
                                      </p:tavLst>
                                    </p:anim>
                                    <p:anim calcmode="lin" valueType="num">
                                      <p:cBhvr>
                                        <p:cTn id="38" dur="200" fill="hold"/>
                                        <p:tgtEl>
                                          <p:spTgt spid="2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2000"/>
                            </p:stCondLst>
                            <p:childTnLst>
                              <p:par>
                                <p:cTn id="40" presetID="23" presetClass="entr" presetSubtype="16" fill="hold" grpId="7"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200" fill="hold"/>
                                        <p:tgtEl>
                                          <p:spTgt spid="25"/>
                                        </p:tgtEl>
                                        <p:attrNameLst>
                                          <p:attrName>ppt_w</p:attrName>
                                        </p:attrNameLst>
                                      </p:cBhvr>
                                      <p:tavLst>
                                        <p:tav tm="0">
                                          <p:val>
                                            <p:fltVal val="0"/>
                                          </p:val>
                                        </p:tav>
                                        <p:tav tm="100000">
                                          <p:val>
                                            <p:strVal val="#ppt_w"/>
                                          </p:val>
                                        </p:tav>
                                      </p:tavLst>
                                    </p:anim>
                                    <p:anim calcmode="lin" valueType="num">
                                      <p:cBhvr>
                                        <p:cTn id="43" dur="200" fill="hold"/>
                                        <p:tgtEl>
                                          <p:spTgt spid="25"/>
                                        </p:tgtEl>
                                        <p:attrNameLst>
                                          <p:attrName>ppt_h</p:attrName>
                                        </p:attrNameLst>
                                      </p:cBhvr>
                                      <p:tavLst>
                                        <p:tav tm="0">
                                          <p:val>
                                            <p:fltVal val="0"/>
                                          </p:val>
                                        </p:tav>
                                        <p:tav tm="100000">
                                          <p:val>
                                            <p:strVal val="#ppt_h"/>
                                          </p:val>
                                        </p:tav>
                                      </p:tavLst>
                                    </p:anim>
                                  </p:childTnLst>
                                </p:cTn>
                              </p:par>
                            </p:childTnLst>
                          </p:cTn>
                        </p:par>
                        <p:par>
                          <p:cTn id="44" fill="hold" nodeType="afterGroup">
                            <p:stCondLst>
                              <p:cond delay="2200"/>
                            </p:stCondLst>
                            <p:childTnLst>
                              <p:par>
                                <p:cTn id="45" presetID="23" presetClass="entr" presetSubtype="16" fill="hold" grpId="8" nodeType="after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200" fill="hold"/>
                                        <p:tgtEl>
                                          <p:spTgt spid="26"/>
                                        </p:tgtEl>
                                        <p:attrNameLst>
                                          <p:attrName>ppt_w</p:attrName>
                                        </p:attrNameLst>
                                      </p:cBhvr>
                                      <p:tavLst>
                                        <p:tav tm="0">
                                          <p:val>
                                            <p:fltVal val="0"/>
                                          </p:val>
                                        </p:tav>
                                        <p:tav tm="100000">
                                          <p:val>
                                            <p:strVal val="#ppt_w"/>
                                          </p:val>
                                        </p:tav>
                                      </p:tavLst>
                                    </p:anim>
                                    <p:anim calcmode="lin" valueType="num">
                                      <p:cBhvr>
                                        <p:cTn id="48" dur="200" fill="hold"/>
                                        <p:tgtEl>
                                          <p:spTgt spid="26"/>
                                        </p:tgtEl>
                                        <p:attrNameLst>
                                          <p:attrName>ppt_h</p:attrName>
                                        </p:attrNameLst>
                                      </p:cBhvr>
                                      <p:tavLst>
                                        <p:tav tm="0">
                                          <p:val>
                                            <p:fltVal val="0"/>
                                          </p:val>
                                        </p:tav>
                                        <p:tav tm="100000">
                                          <p:val>
                                            <p:strVal val="#ppt_h"/>
                                          </p:val>
                                        </p:tav>
                                      </p:tavLst>
                                    </p:anim>
                                  </p:childTnLst>
                                </p:cTn>
                              </p:par>
                            </p:childTnLst>
                          </p:cTn>
                        </p:par>
                        <p:par>
                          <p:cTn id="49" fill="hold" nodeType="afterGroup">
                            <p:stCondLst>
                              <p:cond delay="2400"/>
                            </p:stCondLst>
                            <p:childTnLst>
                              <p:par>
                                <p:cTn id="50" presetID="23" presetClass="entr" presetSubtype="16" fill="hold" grpId="9" nodeType="after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p:cTn id="52" dur="200" fill="hold"/>
                                        <p:tgtEl>
                                          <p:spTgt spid="27"/>
                                        </p:tgtEl>
                                        <p:attrNameLst>
                                          <p:attrName>ppt_w</p:attrName>
                                        </p:attrNameLst>
                                      </p:cBhvr>
                                      <p:tavLst>
                                        <p:tav tm="0">
                                          <p:val>
                                            <p:fltVal val="0"/>
                                          </p:val>
                                        </p:tav>
                                        <p:tav tm="100000">
                                          <p:val>
                                            <p:strVal val="#ppt_w"/>
                                          </p:val>
                                        </p:tav>
                                      </p:tavLst>
                                    </p:anim>
                                    <p:anim calcmode="lin" valueType="num">
                                      <p:cBhvr>
                                        <p:cTn id="53" dur="200" fill="hold"/>
                                        <p:tgtEl>
                                          <p:spTgt spid="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P spid="25" grpId="7" animBg="1"/>
      <p:bldP spid="26" grpId="8" animBg="1"/>
      <p:bldP spid="27" grpId="9"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问题分析</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15367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功能与性能需求</a:t>
            </a:r>
            <a:endParaRPr sz="3700" b="1" dirty="0">
              <a:solidFill>
                <a:srgbClr val="000000"/>
              </a:solidFill>
              <a:latin typeface="宋体"/>
            </a:endParaRPr>
          </a:p>
        </p:txBody>
      </p:sp>
      <p:sp>
        <p:nvSpPr>
          <p:cNvPr id="19" name="New shape"/>
          <p:cNvSpPr/>
          <p:nvPr/>
        </p:nvSpPr>
        <p:spPr>
          <a:xfrm>
            <a:off x="1117600" y="2266325"/>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开发一个集成化的碳排放评估系统</a:t>
            </a:r>
            <a:r>
              <a:rPr sz="3700" b="1" dirty="0">
                <a:solidFill>
                  <a:srgbClr val="000000"/>
                </a:solidFill>
                <a:latin typeface="宋体"/>
              </a:rPr>
              <a:t>，</a:t>
            </a:r>
          </a:p>
        </p:txBody>
      </p:sp>
      <p:sp>
        <p:nvSpPr>
          <p:cNvPr id="20" name="New shape"/>
          <p:cNvSpPr/>
          <p:nvPr/>
        </p:nvSpPr>
        <p:spPr>
          <a:xfrm>
            <a:off x="1117600" y="2924944"/>
            <a:ext cx="9956800" cy="17145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sz="2400" b="0" dirty="0">
                <a:solidFill>
                  <a:srgbClr val="000000"/>
                </a:solidFill>
                <a:latin typeface="宋体"/>
              </a:rPr>
              <a:t>具备快速估测、市场分析等功能，支持网页和移动设备访问。构建的碳排放评估系统需整合多源数据，通过自动化处理与标准化，通过深度清洗和聚类去重提炼关键碳排放因素，实现快速、准确的估价。系统强调实时预测、用户友好界面及个性化推荐，同时保证数据安全与合规性，确保在高并发下仍能达到低延迟、高准确率及高效资源利用，从而提升决策的自主性与透明度</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问题分析</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14097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数据规范</a:t>
            </a:r>
            <a:endParaRPr sz="3700" b="1" dirty="0">
              <a:solidFill>
                <a:srgbClr val="000000"/>
              </a:solidFill>
              <a:latin typeface="宋体"/>
            </a:endParaRPr>
          </a:p>
        </p:txBody>
      </p:sp>
      <p:sp>
        <p:nvSpPr>
          <p:cNvPr id="19" name="New shape"/>
          <p:cNvSpPr/>
          <p:nvPr/>
        </p:nvSpPr>
        <p:spPr>
          <a:xfrm>
            <a:off x="1117600" y="2070100"/>
            <a:ext cx="995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a:solidFill>
                  <a:srgbClr val="000000"/>
                </a:solidFill>
                <a:latin typeface="宋体"/>
              </a:rPr>
              <a:t>数据格式：Excel，便于处理和分析</a:t>
            </a:r>
          </a:p>
        </p:txBody>
      </p:sp>
      <p:sp>
        <p:nvSpPr>
          <p:cNvPr id="20" name="New shape"/>
          <p:cNvSpPr/>
          <p:nvPr/>
        </p:nvSpPr>
        <p:spPr>
          <a:xfrm>
            <a:off x="1117600" y="2540000"/>
            <a:ext cx="9956800" cy="10287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lnSpcReduction="10000"/>
          </a:bodyPr>
          <a:lstStyle/>
          <a:p>
            <a:pPr indent="0" algn="l">
              <a:lnSpc>
                <a:spcPct val="125000"/>
              </a:lnSpc>
            </a:pPr>
            <a:r>
              <a:rPr sz="2100" b="0">
                <a:solidFill>
                  <a:srgbClr val="000000"/>
                </a:solidFill>
                <a:latin typeface="宋体"/>
              </a:rPr>
              <a:t>数据来源：在线平台抓取（遵守robots.txt规定），中国产品全生命周期温室气体排放系数库（https://lca.cityghg.com/），中国碳核算数据库（https://www.ceads.net.cn/）</a:t>
            </a:r>
          </a:p>
        </p:txBody>
      </p:sp>
      <p:sp>
        <p:nvSpPr>
          <p:cNvPr id="21" name="New shape"/>
          <p:cNvSpPr/>
          <p:nvPr/>
        </p:nvSpPr>
        <p:spPr>
          <a:xfrm>
            <a:off x="1117600" y="3695700"/>
            <a:ext cx="995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a:solidFill>
                  <a:srgbClr val="000000"/>
                </a:solidFill>
                <a:latin typeface="宋体"/>
              </a:rPr>
              <a:t>特征数据：产品类型，碳排放量</a:t>
            </a:r>
          </a:p>
        </p:txBody>
      </p:sp>
      <p:sp>
        <p:nvSpPr>
          <p:cNvPr id="22" name="New shape"/>
          <p:cNvSpPr/>
          <p:nvPr/>
        </p:nvSpPr>
        <p:spPr>
          <a:xfrm>
            <a:off x="1117600" y="4165600"/>
            <a:ext cx="9956800" cy="6858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lnSpcReduction="10000"/>
          </a:bodyPr>
          <a:lstStyle/>
          <a:p>
            <a:pPr indent="0" algn="l">
              <a:lnSpc>
                <a:spcPct val="125000"/>
              </a:lnSpc>
            </a:pPr>
            <a:r>
              <a:rPr sz="2100" b="0">
                <a:solidFill>
                  <a:srgbClr val="000000"/>
                </a:solidFill>
                <a:latin typeface="宋体"/>
              </a:rPr>
              <a:t>Raw coal total， Crude oil total， Natural gas total，Total  apparent CO2 emissions (mt)</a:t>
            </a:r>
          </a:p>
        </p:txBody>
      </p:sp>
      <p:sp>
        <p:nvSpPr>
          <p:cNvPr id="23" name="New shape"/>
          <p:cNvSpPr/>
          <p:nvPr/>
        </p:nvSpPr>
        <p:spPr>
          <a:xfrm>
            <a:off x="1117600" y="4978400"/>
            <a:ext cx="9956800" cy="6858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lnSpcReduction="10000"/>
          </a:bodyPr>
          <a:lstStyle/>
          <a:p>
            <a:pPr indent="0" algn="l">
              <a:lnSpc>
                <a:spcPct val="125000"/>
              </a:lnSpc>
            </a:pPr>
            <a:r>
              <a:rPr sz="2100" b="0">
                <a:solidFill>
                  <a:srgbClr val="000000"/>
                </a:solidFill>
                <a:latin typeface="宋体"/>
              </a:rPr>
              <a:t>数据规模：1997至2021年连续25年间各省份的煤、石油、天然气及整省年度二氧化碳排放量，CPCD所有数据，确保模型训练的全面性和深度</a:t>
            </a:r>
          </a:p>
        </p:txBody>
      </p:sp>
      <p:sp>
        <p:nvSpPr>
          <p:cNvPr id="24" name="New shape"/>
          <p:cNvSpPr/>
          <p:nvPr/>
        </p:nvSpPr>
        <p:spPr>
          <a:xfrm>
            <a:off x="1117600" y="5791200"/>
            <a:ext cx="995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a:solidFill>
                  <a:srgbClr val="000000"/>
                </a:solidFill>
                <a:latin typeface="宋体"/>
              </a:rPr>
              <a:t>数据样例</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6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200" fill="hold"/>
                                        <p:tgtEl>
                                          <p:spTgt spid="21"/>
                                        </p:tgtEl>
                                        <p:attrNameLst>
                                          <p:attrName>ppt_w</p:attrName>
                                        </p:attrNameLst>
                                      </p:cBhvr>
                                      <p:tavLst>
                                        <p:tav tm="0">
                                          <p:val>
                                            <p:fltVal val="0"/>
                                          </p:val>
                                        </p:tav>
                                        <p:tav tm="100000">
                                          <p:val>
                                            <p:strVal val="#ppt_w"/>
                                          </p:val>
                                        </p:tav>
                                      </p:tavLst>
                                    </p:anim>
                                    <p:anim calcmode="lin" valueType="num">
                                      <p:cBhvr>
                                        <p:cTn id="23" dur="2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8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200" fill="hold"/>
                                        <p:tgtEl>
                                          <p:spTgt spid="22"/>
                                        </p:tgtEl>
                                        <p:attrNameLst>
                                          <p:attrName>ppt_w</p:attrName>
                                        </p:attrNameLst>
                                      </p:cBhvr>
                                      <p:tavLst>
                                        <p:tav tm="0">
                                          <p:val>
                                            <p:fltVal val="0"/>
                                          </p:val>
                                        </p:tav>
                                        <p:tav tm="100000">
                                          <p:val>
                                            <p:strVal val="#ppt_w"/>
                                          </p:val>
                                        </p:tav>
                                      </p:tavLst>
                                    </p:anim>
                                    <p:anim calcmode="lin" valueType="num">
                                      <p:cBhvr>
                                        <p:cTn id="28" dur="2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0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200" fill="hold"/>
                                        <p:tgtEl>
                                          <p:spTgt spid="23"/>
                                        </p:tgtEl>
                                        <p:attrNameLst>
                                          <p:attrName>ppt_w</p:attrName>
                                        </p:attrNameLst>
                                      </p:cBhvr>
                                      <p:tavLst>
                                        <p:tav tm="0">
                                          <p:val>
                                            <p:fltVal val="0"/>
                                          </p:val>
                                        </p:tav>
                                        <p:tav tm="100000">
                                          <p:val>
                                            <p:strVal val="#ppt_w"/>
                                          </p:val>
                                        </p:tav>
                                      </p:tavLst>
                                    </p:anim>
                                    <p:anim calcmode="lin" valueType="num">
                                      <p:cBhvr>
                                        <p:cTn id="33" dur="2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2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200" fill="hold"/>
                                        <p:tgtEl>
                                          <p:spTgt spid="24"/>
                                        </p:tgtEl>
                                        <p:attrNameLst>
                                          <p:attrName>ppt_w</p:attrName>
                                        </p:attrNameLst>
                                      </p:cBhvr>
                                      <p:tavLst>
                                        <p:tav tm="0">
                                          <p:val>
                                            <p:fltVal val="0"/>
                                          </p:val>
                                        </p:tav>
                                        <p:tav tm="100000">
                                          <p:val>
                                            <p:strVal val="#ppt_w"/>
                                          </p:val>
                                        </p:tav>
                                      </p:tavLst>
                                    </p:anim>
                                    <p:anim calcmode="lin" valueType="num">
                                      <p:cBhvr>
                                        <p:cTn id="38" dur="200" fill="hold"/>
                                        <p:tgtEl>
                                          <p:spTgt spid="2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问题分析</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pic>
        <p:nvPicPr>
          <p:cNvPr id="18" name="New picture"/>
          <p:cNvPicPr/>
          <p:nvPr/>
        </p:nvPicPr>
        <p:blipFill>
          <a:blip r:embed="rId6"/>
          <a:stretch>
            <a:fillRect/>
          </a:stretch>
        </p:blipFill>
        <p:spPr>
          <a:xfrm>
            <a:off x="7467600" y="850900"/>
            <a:ext cx="4229100" cy="5295900"/>
          </a:xfrm>
          <a:prstGeom prst="rect">
            <a:avLst/>
          </a:prstGeom>
          <a:ln>
            <a:solidFill>
              <a:srgbClr val="FFFFFF">
                <a:alpha val="0"/>
              </a:srgbClr>
            </a:solidFill>
          </a:ln>
        </p:spPr>
      </p:pic>
      <p:pic>
        <p:nvPicPr>
          <p:cNvPr id="19" name="New picture"/>
          <p:cNvPicPr/>
          <p:nvPr/>
        </p:nvPicPr>
        <p:blipFill>
          <a:blip r:embed="rId7"/>
          <a:stretch>
            <a:fillRect/>
          </a:stretch>
        </p:blipFill>
        <p:spPr>
          <a:xfrm>
            <a:off x="958850" y="2493829"/>
            <a:ext cx="6292850" cy="3652971"/>
          </a:xfrm>
          <a:prstGeom prst="rect">
            <a:avLst/>
          </a:prstGeom>
          <a:ln>
            <a:solidFill>
              <a:srgbClr val="FFFFFF">
                <a:alpha val="0"/>
              </a:srgbClr>
            </a:solidFill>
          </a:ln>
        </p:spPr>
      </p:pic>
      <p:sp>
        <p:nvSpPr>
          <p:cNvPr id="20" name="New shape"/>
          <p:cNvSpPr/>
          <p:nvPr/>
        </p:nvSpPr>
        <p:spPr>
          <a:xfrm>
            <a:off x="958850" y="1397000"/>
            <a:ext cx="6305550" cy="800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85000" lnSpcReduction="20000"/>
          </a:bodyPr>
          <a:lstStyle/>
          <a:p>
            <a:pPr indent="0" algn="l">
              <a:lnSpc>
                <a:spcPct val="100000"/>
              </a:lnSpc>
            </a:pPr>
            <a:r>
              <a:rPr sz="2500" b="0" dirty="0" err="1">
                <a:solidFill>
                  <a:srgbClr val="000000"/>
                </a:solidFill>
                <a:latin typeface="宋体"/>
              </a:rPr>
              <a:t>大模型：结合讯飞星火Spark</a:t>
            </a:r>
            <a:r>
              <a:rPr sz="2500" b="0" dirty="0">
                <a:solidFill>
                  <a:srgbClr val="000000"/>
                </a:solidFill>
                <a:latin typeface="宋体"/>
              </a:rPr>
              <a:t> </a:t>
            </a:r>
            <a:r>
              <a:rPr sz="2500" b="0" dirty="0" err="1">
                <a:solidFill>
                  <a:srgbClr val="000000"/>
                </a:solidFill>
                <a:latin typeface="宋体"/>
              </a:rPr>
              <a:t>Lite大模型，支持自然语言对话，解析用户输入并返回专业的碳足迹计算结果</a:t>
            </a:r>
            <a:endParaRPr sz="2500" b="0" dirty="0">
              <a:solidFill>
                <a:srgbClr val="000000"/>
              </a:solidFill>
              <a:latin typeface="宋体"/>
            </a:endParaRP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pic>
        <p:nvPicPr>
          <p:cNvPr id="2" name="图片 1" descr="图片包含 形状&#10;&#10;描述已自动生成"/>
          <p:cNvPicPr>
            <a:picLocks noChangeAspect="1"/>
          </p:cNvPicPr>
          <p:nvPr/>
        </p:nvPicPr>
        <p:blipFill>
          <a:blip r:embed="rId3"/>
          <a:stretch>
            <a:fillRect/>
          </a:stretch>
        </p:blipFill>
        <p:spPr>
          <a:xfrm>
            <a:off x="0" y="0"/>
            <a:ext cx="12192000" cy="6097721"/>
          </a:xfrm>
          <a:prstGeom prst="rect">
            <a:avLst/>
          </a:prstGeom>
        </p:spPr>
      </p:pic>
      <p:pic>
        <p:nvPicPr>
          <p:cNvPr id="3" name="图片 2" descr="湖边的景色&#10;&#10;描述已自动生成"/>
          <p:cNvPicPr>
            <a:picLocks noChangeAspect="1"/>
          </p:cNvPicPr>
          <p:nvPr/>
        </p:nvPicPr>
        <p:blipFill>
          <a:blip r:embed="rId4"/>
          <a:stretch>
            <a:fillRect/>
          </a:stretch>
        </p:blipFill>
        <p:spPr>
          <a:xfrm>
            <a:off x="0" y="760279"/>
            <a:ext cx="12192000" cy="6097721"/>
          </a:xfrm>
          <a:prstGeom prst="rect">
            <a:avLst/>
          </a:prstGeom>
        </p:spPr>
      </p:pic>
      <p:grpSp>
        <p:nvGrpSpPr>
          <p:cNvPr id="4" name="组合 3"/>
          <p:cNvGrpSpPr/>
          <p:nvPr/>
        </p:nvGrpSpPr>
        <p:grpSpPr>
          <a:xfrm>
            <a:off x="0" y="-2447492"/>
            <a:ext cx="12192000" cy="8545213"/>
            <a:chOff x="0" y="-2447492"/>
            <a:chExt cx="12192000" cy="8545213"/>
          </a:xfrm>
        </p:grpSpPr>
        <p:pic>
          <p:nvPicPr>
            <p:cNvPr id="6" name="图片 5" descr="穿黑色衣服的人的黑白照&#10;&#10;低可信度描述已自动生成"/>
            <p:cNvPicPr>
              <a:picLocks noChangeAspect="1"/>
            </p:cNvPicPr>
            <p:nvPr/>
          </p:nvPicPr>
          <p:blipFill>
            <a:blip r:embed="rId5"/>
            <a:stretch>
              <a:fillRect/>
            </a:stretch>
          </p:blipFill>
          <p:spPr>
            <a:xfrm>
              <a:off x="0" y="0"/>
              <a:ext cx="12192000" cy="6097721"/>
            </a:xfrm>
            <a:custGeom>
              <a:avLst/>
              <a:gdLst>
                <a:gd name="connsiteX0" fmla="*/ 9423461 w 12192000"/>
                <a:gd name="connsiteY0" fmla="*/ 3048860 h 6097721"/>
                <a:gd name="connsiteX1" fmla="*/ 8980398 w 12192000"/>
                <a:gd name="connsiteY1" fmla="*/ 3437721 h 6097721"/>
                <a:gd name="connsiteX2" fmla="*/ 9423461 w 12192000"/>
                <a:gd name="connsiteY2" fmla="*/ 3826582 h 6097721"/>
                <a:gd name="connsiteX3" fmla="*/ 9866524 w 12192000"/>
                <a:gd name="connsiteY3" fmla="*/ 3437721 h 6097721"/>
                <a:gd name="connsiteX4" fmla="*/ 9423461 w 12192000"/>
                <a:gd name="connsiteY4" fmla="*/ 3048860 h 6097721"/>
                <a:gd name="connsiteX5" fmla="*/ 0 w 12192000"/>
                <a:gd name="connsiteY5" fmla="*/ 0 h 6097721"/>
                <a:gd name="connsiteX6" fmla="*/ 12192000 w 12192000"/>
                <a:gd name="connsiteY6" fmla="*/ 0 h 6097721"/>
                <a:gd name="connsiteX7" fmla="*/ 12192000 w 12192000"/>
                <a:gd name="connsiteY7" fmla="*/ 6097721 h 6097721"/>
                <a:gd name="connsiteX8" fmla="*/ 0 w 12192000"/>
                <a:gd name="connsiteY8" fmla="*/ 6097721 h 609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097721">
                  <a:moveTo>
                    <a:pt x="9423461" y="3048860"/>
                  </a:moveTo>
                  <a:cubicBezTo>
                    <a:pt x="9178764" y="3048860"/>
                    <a:pt x="8980398" y="3222959"/>
                    <a:pt x="8980398" y="3437721"/>
                  </a:cubicBezTo>
                  <a:cubicBezTo>
                    <a:pt x="8980398" y="3652483"/>
                    <a:pt x="9178764" y="3826582"/>
                    <a:pt x="9423461" y="3826582"/>
                  </a:cubicBezTo>
                  <a:cubicBezTo>
                    <a:pt x="9668158" y="3826582"/>
                    <a:pt x="9866524" y="3652483"/>
                    <a:pt x="9866524" y="3437721"/>
                  </a:cubicBezTo>
                  <a:cubicBezTo>
                    <a:pt x="9866524" y="3222959"/>
                    <a:pt x="9668158" y="3048860"/>
                    <a:pt x="9423461" y="3048860"/>
                  </a:cubicBezTo>
                  <a:close/>
                  <a:moveTo>
                    <a:pt x="0" y="0"/>
                  </a:moveTo>
                  <a:lnTo>
                    <a:pt x="12192000" y="0"/>
                  </a:lnTo>
                  <a:lnTo>
                    <a:pt x="12192000" y="6097721"/>
                  </a:lnTo>
                  <a:lnTo>
                    <a:pt x="0" y="6097721"/>
                  </a:lnTo>
                  <a:close/>
                </a:path>
              </a:pathLst>
            </a:custGeom>
          </p:spPr>
        </p:pic>
        <p:pic>
          <p:nvPicPr>
            <p:cNvPr id="7" name="图片 6" descr="穿黑色衣服的人的黑白照&#10;&#10;低可信度描述已自动生成"/>
            <p:cNvPicPr>
              <a:picLocks noChangeAspect="1"/>
            </p:cNvPicPr>
            <p:nvPr/>
          </p:nvPicPr>
          <p:blipFill>
            <a:blip r:embed="rId6"/>
            <a:stretch>
              <a:fillRect/>
            </a:stretch>
          </p:blipFill>
          <p:spPr>
            <a:xfrm>
              <a:off x="7038905" y="-2447492"/>
              <a:ext cx="3722976" cy="6097721"/>
            </a:xfrm>
            <a:prstGeom prst="rect">
              <a:avLst/>
            </a:prstGeom>
          </p:spPr>
        </p:pic>
        <p:pic>
          <p:nvPicPr>
            <p:cNvPr id="8" name="图片 7" descr="穿黑色衣服的人的黑白照&#10;&#10;低可信度描述已自动生成"/>
            <p:cNvPicPr>
              <a:picLocks noChangeAspect="1"/>
            </p:cNvPicPr>
            <p:nvPr/>
          </p:nvPicPr>
          <p:blipFill>
            <a:blip r:embed="rId7"/>
            <a:stretch>
              <a:fillRect/>
            </a:stretch>
          </p:blipFill>
          <p:spPr>
            <a:xfrm>
              <a:off x="9295898" y="-1803928"/>
              <a:ext cx="2308727" cy="6097721"/>
            </a:xfrm>
            <a:prstGeom prst="rect">
              <a:avLst/>
            </a:prstGeom>
          </p:spPr>
        </p:pic>
      </p:grpSp>
      <p:grpSp>
        <p:nvGrpSpPr>
          <p:cNvPr id="37" name="组合 36"/>
          <p:cNvGrpSpPr/>
          <p:nvPr/>
        </p:nvGrpSpPr>
        <p:grpSpPr>
          <a:xfrm>
            <a:off x="4404370" y="1479727"/>
            <a:ext cx="3383261" cy="657415"/>
            <a:chOff x="4771220" y="1773297"/>
            <a:chExt cx="2670192" cy="657415"/>
          </a:xfrm>
        </p:grpSpPr>
        <p:sp>
          <p:nvSpPr>
            <p:cNvPr id="38" name="矩形: 圆角 2"/>
            <p:cNvSpPr/>
            <p:nvPr/>
          </p:nvSpPr>
          <p:spPr>
            <a:xfrm>
              <a:off x="4771220" y="1773297"/>
              <a:ext cx="2670192" cy="657415"/>
            </a:xfrm>
            <a:prstGeom prst="roundRect">
              <a:avLst>
                <a:gd name="adj" fmla="val 50000"/>
              </a:avLst>
            </a:prstGeom>
            <a:gradFill>
              <a:gsLst>
                <a:gs pos="0">
                  <a:srgbClr val="FF0000"/>
                </a:gs>
                <a:gs pos="100000">
                  <a:srgbClr val="C00000"/>
                </a:gs>
              </a:gsLst>
              <a:lin ang="27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9" name="文本框 38"/>
            <p:cNvSpPr txBox="1"/>
            <p:nvPr/>
          </p:nvSpPr>
          <p:spPr>
            <a:xfrm>
              <a:off x="5073438" y="1815533"/>
              <a:ext cx="2101946" cy="5796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a:r>
                <a:rPr lang="zh-CN" altLang="en-US" sz="3200" b="1">
                  <a:solidFill>
                    <a:srgbClr val="FFFDF8"/>
                  </a:solidFill>
                  <a:latin typeface="宋体"/>
                  <a:ea typeface="微软雅黑" panose="020B0503020204020204" pitchFamily="34" charset="-122"/>
                  <a:cs typeface="思源宋体 CN Heavy" panose="02020900000000000000" charset="-122"/>
                  <a:sym typeface="宋体"/>
                </a:rPr>
                <a:t>第3部分</a:t>
              </a:r>
            </a:p>
          </p:txBody>
        </p:sp>
      </p:grpSp>
      <p:sp>
        <p:nvSpPr>
          <p:cNvPr id="40" name="TextBox 48"/>
          <p:cNvSpPr txBox="1"/>
          <p:nvPr/>
        </p:nvSpPr>
        <p:spPr>
          <a:xfrm>
            <a:off x="2290994" y="2724048"/>
            <a:ext cx="7120909" cy="1569047"/>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defTabSz="685800"/>
            <a:r>
              <a:rPr lang="zh-CN" altLang="en-US" sz="6600" b="1">
                <a:solidFill>
                  <a:srgbClr val="000000"/>
                </a:solidFill>
                <a:latin typeface="宋体"/>
                <a:ea typeface="微软雅黑" panose="020B0503020204020204" pitchFamily="34" charset="-122"/>
                <a:cs typeface="+mn-ea"/>
                <a:sym typeface="宋体"/>
              </a:rPr>
              <a:t>技术方案</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arn(inVertical)" prLst="">
                                      <p:cBhvr>
                                        <p:cTn id="7" dur="500"/>
                                        <p:tgtEl>
                                          <p:spTgt spid="37"/>
                                        </p:tgtEl>
                                      </p:cBhvr>
                                    </p:animEffect>
                                  </p:childTnLst>
                                </p:cTn>
                              </p:par>
                            </p:childTnLst>
                          </p:cTn>
                        </p:par>
                        <p:par>
                          <p:cTn id="8" fill="hold" nodeType="afterGroup">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p:cTn id="11" dur="500" fill="hold"/>
                                        <p:tgtEl>
                                          <p:spTgt spid="40"/>
                                        </p:tgtEl>
                                        <p:attrNameLst>
                                          <p:attrName>ppt_w</p:attrName>
                                        </p:attrNameLst>
                                      </p:cBhvr>
                                      <p:tavLst>
                                        <p:tav tm="0">
                                          <p:val>
                                            <p:fltVal val="0"/>
                                          </p:val>
                                        </p:tav>
                                        <p:tav tm="100000">
                                          <p:val>
                                            <p:strVal val="#ppt_w"/>
                                          </p:val>
                                        </p:tav>
                                      </p:tavLst>
                                    </p:anim>
                                    <p:anim calcmode="lin" valueType="num">
                                      <p:cBhvr>
                                        <p:cTn id="12" dur="500" fill="hold"/>
                                        <p:tgtEl>
                                          <p:spTgt spid="40"/>
                                        </p:tgtEl>
                                        <p:attrNameLst>
                                          <p:attrName>ppt_h</p:attrName>
                                        </p:attrNameLst>
                                      </p:cBhvr>
                                      <p:tavLst>
                                        <p:tav tm="0">
                                          <p:val>
                                            <p:fltVal val="0"/>
                                          </p:val>
                                        </p:tav>
                                        <p:tav tm="100000">
                                          <p:val>
                                            <p:strVal val="#ppt_h"/>
                                          </p:val>
                                        </p:tav>
                                      </p:tavLst>
                                    </p:anim>
                                    <p:animEffect transition="in" filter="fade" prLst="">
                                      <p:cBhvr>
                                        <p:cTn id="13" dur="500"/>
                                        <p:tgtEl>
                                          <p:spTgt spid="40"/>
                                        </p:tgtEl>
                                      </p:cBhvr>
                                    </p:animEffect>
                                  </p:childTnLst>
                                </p:cTn>
                              </p:par>
                            </p:childTnLst>
                          </p:cTn>
                        </p:par>
                        <p:par>
                          <p:cTn id="14" fill="hold" nodeType="afterGroup">
                            <p:stCondLst>
                              <p:cond delay="1000"/>
                            </p:stCondLst>
                            <p:childTnLst>
                              <p:par>
                                <p:cTn id="15" presetID="42"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rLst="">
                                      <p:cBhvr>
                                        <p:cTn id="17" dur="500"/>
                                        <p:tgtEl>
                                          <p:spTgt spid="4"/>
                                        </p:tgtEl>
                                      </p:cBhvr>
                                    </p:animEffect>
                                    <p:anim calcmode="lin" valueType="num">
                                      <p:cBhvr>
                                        <p:cTn id="18" dur="500" fill="hold"/>
                                        <p:tgtEl>
                                          <p:spTgt spid="4"/>
                                        </p:tgtEl>
                                        <p:attrNameLst>
                                          <p:attrName>ppt_x</p:attrName>
                                        </p:attrNameLst>
                                      </p:cBhvr>
                                      <p:tavLst>
                                        <p:tav tm="0">
                                          <p:val>
                                            <p:strVal val="#ppt_x"/>
                                          </p:val>
                                        </p:tav>
                                        <p:tav tm="100000">
                                          <p:val>
                                            <p:strVal val="#ppt_x"/>
                                          </p:val>
                                        </p:tav>
                                      </p:tavLst>
                                    </p:anim>
                                    <p:anim calcmode="lin" valueType="num">
                                      <p:cBhvr>
                                        <p:cTn id="1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技术方案</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1316765"/>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总体介绍</a:t>
            </a:r>
            <a:endParaRPr sz="3700" b="1" dirty="0">
              <a:solidFill>
                <a:srgbClr val="000000"/>
              </a:solidFill>
              <a:latin typeface="宋体"/>
            </a:endParaRPr>
          </a:p>
        </p:txBody>
      </p:sp>
      <p:sp>
        <p:nvSpPr>
          <p:cNvPr id="19" name="New shape"/>
          <p:cNvSpPr/>
          <p:nvPr/>
        </p:nvSpPr>
        <p:spPr>
          <a:xfrm>
            <a:off x="1117600" y="1824236"/>
            <a:ext cx="9956800" cy="2057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sz="2400" b="0" dirty="0" err="1">
                <a:solidFill>
                  <a:srgbClr val="000000"/>
                </a:solidFill>
                <a:latin typeface="宋体"/>
              </a:rPr>
              <a:t>本项目旨在利用大数据与人工智能技术，尤其是大模型方法，对从中国产品全生命周期温室气体排放系数库（https</a:t>
            </a:r>
            <a:r>
              <a:rPr sz="2400" b="0" dirty="0">
                <a:solidFill>
                  <a:srgbClr val="000000"/>
                </a:solidFill>
                <a:latin typeface="宋体"/>
              </a:rPr>
              <a:t>://lca.cityghg.com/）</a:t>
            </a:r>
            <a:r>
              <a:rPr sz="2400" b="0" dirty="0" err="1">
                <a:solidFill>
                  <a:srgbClr val="000000"/>
                </a:solidFill>
                <a:latin typeface="宋体"/>
              </a:rPr>
              <a:t>爬取的以及中国碳核算数据库（https</a:t>
            </a:r>
            <a:r>
              <a:rPr sz="2400" b="0" dirty="0">
                <a:solidFill>
                  <a:srgbClr val="000000"/>
                </a:solidFill>
                <a:latin typeface="宋体"/>
              </a:rPr>
              <a:t>://www.ceads.net.cn/）下载的碳排放因子数据。进行深度清洗和聚类去重。技术路线的核心在于数据预处理、模型构建、可视化展现及交互式分析，最终形成一个综合性的碳排放智能评估与交互式可视化系统</a:t>
            </a:r>
          </a:p>
        </p:txBody>
      </p:sp>
      <p:sp>
        <p:nvSpPr>
          <p:cNvPr id="20" name="New shape"/>
          <p:cNvSpPr/>
          <p:nvPr/>
        </p:nvSpPr>
        <p:spPr>
          <a:xfrm>
            <a:off x="1117600" y="5029200"/>
            <a:ext cx="995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endParaRPr sz="2100" b="0" dirty="0">
              <a:solidFill>
                <a:srgbClr val="000000"/>
              </a:solidFill>
              <a:latin typeface="宋体"/>
            </a:endParaRP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技术方案</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pic>
        <p:nvPicPr>
          <p:cNvPr id="18" name="New picture"/>
          <p:cNvPicPr/>
          <p:nvPr/>
        </p:nvPicPr>
        <p:blipFill>
          <a:blip r:embed="rId6"/>
          <a:stretch>
            <a:fillRect/>
          </a:stretch>
        </p:blipFill>
        <p:spPr>
          <a:xfrm>
            <a:off x="6197600" y="692696"/>
            <a:ext cx="5499100" cy="5416004"/>
          </a:xfrm>
          <a:prstGeom prst="rect">
            <a:avLst/>
          </a:prstGeom>
          <a:ln>
            <a:solidFill>
              <a:srgbClr val="FFFFFF">
                <a:alpha val="0"/>
              </a:srgbClr>
            </a:solidFill>
          </a:ln>
        </p:spPr>
      </p:pic>
      <p:sp>
        <p:nvSpPr>
          <p:cNvPr id="19" name="New shape"/>
          <p:cNvSpPr/>
          <p:nvPr/>
        </p:nvSpPr>
        <p:spPr>
          <a:xfrm>
            <a:off x="1105074" y="1762986"/>
            <a:ext cx="487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dirty="0" err="1">
                <a:solidFill>
                  <a:srgbClr val="000000"/>
                </a:solidFill>
                <a:latin typeface="宋体"/>
              </a:rPr>
              <a:t>各模块详细介绍</a:t>
            </a:r>
            <a:endParaRPr sz="2100" b="0" dirty="0">
              <a:solidFill>
                <a:srgbClr val="000000"/>
              </a:solidFill>
              <a:latin typeface="宋体"/>
            </a:endParaRPr>
          </a:p>
        </p:txBody>
      </p:sp>
      <p:sp>
        <p:nvSpPr>
          <p:cNvPr id="20" name="New shape"/>
          <p:cNvSpPr/>
          <p:nvPr/>
        </p:nvSpPr>
        <p:spPr>
          <a:xfrm>
            <a:off x="1102842" y="2151093"/>
            <a:ext cx="487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dirty="0" err="1">
                <a:solidFill>
                  <a:srgbClr val="000000"/>
                </a:solidFill>
                <a:latin typeface="宋体"/>
              </a:rPr>
              <a:t>数据采集</a:t>
            </a:r>
            <a:endParaRPr sz="2100" b="0" dirty="0">
              <a:solidFill>
                <a:srgbClr val="000000"/>
              </a:solidFill>
              <a:latin typeface="宋体"/>
            </a:endParaRPr>
          </a:p>
        </p:txBody>
      </p:sp>
      <p:sp>
        <p:nvSpPr>
          <p:cNvPr id="21" name="New shape"/>
          <p:cNvSpPr/>
          <p:nvPr/>
        </p:nvSpPr>
        <p:spPr>
          <a:xfrm>
            <a:off x="1081808" y="2561364"/>
            <a:ext cx="4876800" cy="17145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a:bodyPr>
          <a:lstStyle/>
          <a:p>
            <a:pPr indent="0" algn="l">
              <a:lnSpc>
                <a:spcPct val="125000"/>
              </a:lnSpc>
            </a:pPr>
            <a:r>
              <a:rPr sz="2000" b="0" dirty="0">
                <a:solidFill>
                  <a:srgbClr val="000000"/>
                </a:solidFill>
                <a:latin typeface="宋体" panose="02010600030101010101" pitchFamily="2" charset="-122"/>
                <a:ea typeface="宋体" panose="02010600030101010101" pitchFamily="2" charset="-122"/>
              </a:rPr>
              <a:t>使用从CPCD爬取的以及CEADs下载的碳排放因子数据，包括物品类别、行为活动、地理位置等。此部分非原创，遵循相关网站的爬虫政策和robots.txt规则</a:t>
            </a:r>
          </a:p>
        </p:txBody>
      </p:sp>
      <p:sp>
        <p:nvSpPr>
          <p:cNvPr id="22" name="New shape"/>
          <p:cNvSpPr/>
          <p:nvPr/>
        </p:nvSpPr>
        <p:spPr>
          <a:xfrm>
            <a:off x="1092350" y="4153196"/>
            <a:ext cx="487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dirty="0" err="1">
                <a:solidFill>
                  <a:srgbClr val="000000"/>
                </a:solidFill>
                <a:latin typeface="宋体"/>
              </a:rPr>
              <a:t>数据预处理</a:t>
            </a:r>
            <a:endParaRPr sz="2100" b="0" dirty="0">
              <a:solidFill>
                <a:srgbClr val="000000"/>
              </a:solidFill>
              <a:latin typeface="宋体"/>
            </a:endParaRPr>
          </a:p>
        </p:txBody>
      </p:sp>
      <p:sp>
        <p:nvSpPr>
          <p:cNvPr id="2" name="文本框 1">
            <a:extLst>
              <a:ext uri="{FF2B5EF4-FFF2-40B4-BE49-F238E27FC236}">
                <a16:creationId xmlns:a16="http://schemas.microsoft.com/office/drawing/2014/main" id="{6D17E32D-C77A-DBA9-93BF-8776A16D4318}"/>
              </a:ext>
            </a:extLst>
          </p:cNvPr>
          <p:cNvSpPr txBox="1"/>
          <p:nvPr/>
        </p:nvSpPr>
        <p:spPr>
          <a:xfrm>
            <a:off x="958850" y="1136845"/>
            <a:ext cx="4464496" cy="556884"/>
          </a:xfrm>
          <a:prstGeom prst="rect">
            <a:avLst/>
          </a:prstGeom>
          <a:noFill/>
        </p:spPr>
        <p:txBody>
          <a:bodyPr wrap="square" rtlCol="0">
            <a:spAutoFit/>
          </a:bodyPr>
          <a:lstStyle/>
          <a:p>
            <a:pPr indent="0" algn="l">
              <a:lnSpc>
                <a:spcPct val="125000"/>
              </a:lnSpc>
            </a:pPr>
            <a:r>
              <a:rPr lang="zh-CN" altLang="en-US" sz="2800" b="0" dirty="0">
                <a:solidFill>
                  <a:srgbClr val="000000"/>
                </a:solidFill>
                <a:latin typeface="宋体"/>
              </a:rPr>
              <a:t>整体技术路线</a:t>
            </a:r>
            <a:r>
              <a:rPr lang="zh-CN" altLang="en-US" sz="2800" b="0" dirty="0">
                <a:solidFill>
                  <a:srgbClr val="000000"/>
                </a:solidFill>
                <a:latin typeface="宋体" panose="02010600030101010101" pitchFamily="2" charset="-122"/>
                <a:ea typeface="宋体" panose="02010600030101010101" pitchFamily="2" charset="-122"/>
              </a:rPr>
              <a:t>框架</a:t>
            </a:r>
          </a:p>
        </p:txBody>
      </p:sp>
      <p:sp>
        <p:nvSpPr>
          <p:cNvPr id="8" name="文本框 7">
            <a:extLst>
              <a:ext uri="{FF2B5EF4-FFF2-40B4-BE49-F238E27FC236}">
                <a16:creationId xmlns:a16="http://schemas.microsoft.com/office/drawing/2014/main" id="{F6129E4B-4F16-61FC-5E49-2146107ADCAC}"/>
              </a:ext>
            </a:extLst>
          </p:cNvPr>
          <p:cNvSpPr txBox="1"/>
          <p:nvPr/>
        </p:nvSpPr>
        <p:spPr>
          <a:xfrm>
            <a:off x="958850" y="4475415"/>
            <a:ext cx="4876800" cy="1600438"/>
          </a:xfrm>
          <a:prstGeom prst="rect">
            <a:avLst/>
          </a:prstGeom>
          <a:noFill/>
        </p:spPr>
        <p:txBody>
          <a:bodyPr wrap="square" rtlCol="0">
            <a:spAutoFit/>
          </a:bodyPr>
          <a:lstStyle/>
          <a:p>
            <a:r>
              <a:rPr lang="zh-CN" altLang="en-US" sz="2000" b="0" dirty="0">
                <a:solidFill>
                  <a:srgbClr val="000000"/>
                </a:solidFill>
                <a:latin typeface="宋体"/>
              </a:rPr>
              <a:t>包括数据清洗（去除重复记录）、数据类型转换（将分类变量转化为所需类型等）。原创工作在于开发一套针对碳排放数据特性的高效清洗流程</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6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200" fill="hold"/>
                                        <p:tgtEl>
                                          <p:spTgt spid="21"/>
                                        </p:tgtEl>
                                        <p:attrNameLst>
                                          <p:attrName>ppt_w</p:attrName>
                                        </p:attrNameLst>
                                      </p:cBhvr>
                                      <p:tavLst>
                                        <p:tav tm="0">
                                          <p:val>
                                            <p:fltVal val="0"/>
                                          </p:val>
                                        </p:tav>
                                        <p:tav tm="100000">
                                          <p:val>
                                            <p:strVal val="#ppt_w"/>
                                          </p:val>
                                        </p:tav>
                                      </p:tavLst>
                                    </p:anim>
                                    <p:anim calcmode="lin" valueType="num">
                                      <p:cBhvr>
                                        <p:cTn id="23" dur="2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8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200" fill="hold"/>
                                        <p:tgtEl>
                                          <p:spTgt spid="22"/>
                                        </p:tgtEl>
                                        <p:attrNameLst>
                                          <p:attrName>ppt_w</p:attrName>
                                        </p:attrNameLst>
                                      </p:cBhvr>
                                      <p:tavLst>
                                        <p:tav tm="0">
                                          <p:val>
                                            <p:fltVal val="0"/>
                                          </p:val>
                                        </p:tav>
                                        <p:tav tm="100000">
                                          <p:val>
                                            <p:strVal val="#ppt_w"/>
                                          </p:val>
                                        </p:tav>
                                      </p:tavLst>
                                    </p:anim>
                                    <p:anim calcmode="lin" valueType="num">
                                      <p:cBhvr>
                                        <p:cTn id="28" dur="200" fill="hold"/>
                                        <p:tgtEl>
                                          <p:spTgt spid="2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技术方案</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pic>
        <p:nvPicPr>
          <p:cNvPr id="18" name="New picture"/>
          <p:cNvPicPr/>
          <p:nvPr/>
        </p:nvPicPr>
        <p:blipFill>
          <a:blip r:embed="rId6"/>
          <a:stretch>
            <a:fillRect/>
          </a:stretch>
        </p:blipFill>
        <p:spPr>
          <a:xfrm>
            <a:off x="812800" y="1076560"/>
            <a:ext cx="5029200" cy="4841640"/>
          </a:xfrm>
          <a:prstGeom prst="rect">
            <a:avLst/>
          </a:prstGeom>
          <a:ln>
            <a:solidFill>
              <a:srgbClr val="FFFFFF">
                <a:alpha val="0"/>
              </a:srgbClr>
            </a:solidFill>
          </a:ln>
        </p:spPr>
      </p:pic>
      <p:sp>
        <p:nvSpPr>
          <p:cNvPr id="19" name="New shape"/>
          <p:cNvSpPr/>
          <p:nvPr/>
        </p:nvSpPr>
        <p:spPr>
          <a:xfrm>
            <a:off x="1117600" y="1562100"/>
            <a:ext cx="9956800" cy="6858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endParaRPr sz="2100" b="0" dirty="0">
              <a:solidFill>
                <a:srgbClr val="000000"/>
              </a:solidFill>
              <a:latin typeface="宋体"/>
            </a:endParaRPr>
          </a:p>
        </p:txBody>
      </p:sp>
      <p:sp>
        <p:nvSpPr>
          <p:cNvPr id="20" name="New shape"/>
          <p:cNvSpPr/>
          <p:nvPr/>
        </p:nvSpPr>
        <p:spPr>
          <a:xfrm>
            <a:off x="6197600" y="1057008"/>
            <a:ext cx="487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82500" lnSpcReduction="20000"/>
          </a:bodyPr>
          <a:lstStyle/>
          <a:p>
            <a:pPr indent="0" algn="l">
              <a:lnSpc>
                <a:spcPct val="125000"/>
              </a:lnSpc>
            </a:pPr>
            <a:r>
              <a:rPr sz="2800" b="0" dirty="0" err="1">
                <a:solidFill>
                  <a:srgbClr val="000000"/>
                </a:solidFill>
                <a:latin typeface="宋体"/>
              </a:rPr>
              <a:t>模型构建与训练</a:t>
            </a:r>
            <a:endParaRPr sz="2800" b="0" dirty="0">
              <a:solidFill>
                <a:srgbClr val="000000"/>
              </a:solidFill>
              <a:latin typeface="宋体"/>
            </a:endParaRPr>
          </a:p>
        </p:txBody>
      </p:sp>
      <p:sp>
        <p:nvSpPr>
          <p:cNvPr id="21" name="New shape"/>
          <p:cNvSpPr/>
          <p:nvPr/>
        </p:nvSpPr>
        <p:spPr>
          <a:xfrm>
            <a:off x="6204857" y="1443856"/>
            <a:ext cx="4876800" cy="3086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sz="2400" b="0" dirty="0" err="1">
                <a:solidFill>
                  <a:srgbClr val="000000"/>
                </a:solidFill>
                <a:latin typeface="宋体"/>
              </a:rPr>
              <a:t>基于</a:t>
            </a:r>
            <a:r>
              <a:rPr sz="2400" b="0" dirty="0">
                <a:solidFill>
                  <a:srgbClr val="000000"/>
                </a:solidFill>
                <a:latin typeface="宋体"/>
              </a:rPr>
              <a:t> </a:t>
            </a:r>
            <a:r>
              <a:rPr sz="2400" b="0" dirty="0" err="1">
                <a:solidFill>
                  <a:srgbClr val="000000"/>
                </a:solidFill>
                <a:latin typeface="宋体"/>
              </a:rPr>
              <a:t>FastAPI</a:t>
            </a:r>
            <a:r>
              <a:rPr sz="2400" b="0" dirty="0">
                <a:solidFill>
                  <a:srgbClr val="000000"/>
                </a:solidFill>
                <a:latin typeface="宋体"/>
              </a:rPr>
              <a:t> </a:t>
            </a:r>
            <a:r>
              <a:rPr sz="2400" b="0" dirty="0" err="1">
                <a:solidFill>
                  <a:srgbClr val="000000"/>
                </a:solidFill>
                <a:latin typeface="宋体"/>
              </a:rPr>
              <a:t>构建的后端服务，名为</a:t>
            </a:r>
            <a:r>
              <a:rPr sz="2400" b="0" dirty="0">
                <a:solidFill>
                  <a:srgbClr val="000000"/>
                </a:solidFill>
                <a:latin typeface="宋体"/>
              </a:rPr>
              <a:t> </a:t>
            </a:r>
            <a:r>
              <a:rPr sz="2400" b="0" dirty="0" err="1">
                <a:solidFill>
                  <a:srgbClr val="000000"/>
                </a:solidFill>
                <a:latin typeface="宋体"/>
              </a:rPr>
              <a:t>CarbonAI</a:t>
            </a:r>
            <a:r>
              <a:rPr sz="2400" b="0" dirty="0">
                <a:solidFill>
                  <a:srgbClr val="000000"/>
                </a:solidFill>
                <a:latin typeface="宋体"/>
              </a:rPr>
              <a:t> </a:t>
            </a:r>
            <a:r>
              <a:rPr sz="2400" b="0" dirty="0" err="1">
                <a:solidFill>
                  <a:srgbClr val="000000"/>
                </a:solidFill>
                <a:latin typeface="宋体"/>
              </a:rPr>
              <a:t>碳足迹专家系统，旨在提供专业的碳排放计算与分析功能。它通过</a:t>
            </a:r>
            <a:r>
              <a:rPr sz="2400" b="0" dirty="0">
                <a:solidFill>
                  <a:srgbClr val="000000"/>
                </a:solidFill>
                <a:latin typeface="宋体"/>
              </a:rPr>
              <a:t> WebSocket </a:t>
            </a:r>
            <a:r>
              <a:rPr sz="2400" b="0" dirty="0" err="1">
                <a:solidFill>
                  <a:srgbClr val="000000"/>
                </a:solidFill>
                <a:latin typeface="宋体"/>
              </a:rPr>
              <a:t>与讯飞星火Spark</a:t>
            </a:r>
            <a:r>
              <a:rPr sz="2400" b="0" dirty="0">
                <a:solidFill>
                  <a:srgbClr val="000000"/>
                </a:solidFill>
                <a:latin typeface="宋体"/>
              </a:rPr>
              <a:t> Lite大模型通信，支持自然语言对话，解析用户输入并返回专业的碳足迹计算结果。文件还包含文件上传接口，允许用户上传内部Excel数据用于增强对话上下文</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6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200" fill="hold"/>
                                        <p:tgtEl>
                                          <p:spTgt spid="21"/>
                                        </p:tgtEl>
                                        <p:attrNameLst>
                                          <p:attrName>ppt_w</p:attrName>
                                        </p:attrNameLst>
                                      </p:cBhvr>
                                      <p:tavLst>
                                        <p:tav tm="0">
                                          <p:val>
                                            <p:fltVal val="0"/>
                                          </p:val>
                                        </p:tav>
                                        <p:tav tm="100000">
                                          <p:val>
                                            <p:strVal val="#ppt_w"/>
                                          </p:val>
                                        </p:tav>
                                      </p:tavLst>
                                    </p:anim>
                                    <p:anim calcmode="lin" valueType="num">
                                      <p:cBhvr>
                                        <p:cTn id="23" dur="200" fill="hold"/>
                                        <p:tgtEl>
                                          <p:spTgt spid="2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379" name="New picture"/>
            <p:cNvPicPr/>
            <p:nvPr/>
          </p:nvPicPr>
          <p:blipFill>
            <a:blip r:embed="rId224"/>
            <a:stretch>
              <a:fillRect/>
            </a:stretch>
          </p:blipFill>
          <p:spPr>
            <a:xfrm>
              <a:off x="0" y="0"/>
              <a:ext cx="12192000" cy="6097721"/>
            </a:xfrm>
            <a:prstGeom prst="rect">
              <a:avLst/>
            </a:prstGeom>
            <a:ln>
              <a:noFill/>
            </a:ln>
          </p:spPr>
        </p:pic>
        <p:pic>
          <p:nvPicPr>
            <p:cNvPr id="380" name="New picture"/>
            <p:cNvPicPr/>
            <p:nvPr/>
          </p:nvPicPr>
          <p:blipFill>
            <a:blip r:embed="rId225"/>
            <a:stretch>
              <a:fillRect/>
            </a:stretch>
          </p:blipFill>
          <p:spPr>
            <a:xfrm>
              <a:off x="0" y="1693729"/>
              <a:ext cx="12192000" cy="5164271"/>
            </a:xfrm>
            <a:prstGeom prst="rect">
              <a:avLst/>
            </a:prstGeom>
            <a:ln>
              <a:noFill/>
            </a:ln>
          </p:spPr>
        </p:pic>
      </p:grpSp>
      <p:sp>
        <p:nvSpPr>
          <p:cNvPr id="381"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382"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技术方案</a:t>
            </a:r>
          </a:p>
        </p:txBody>
      </p:sp>
      <p:sp>
        <p:nvSpPr>
          <p:cNvPr id="38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grpSp>
        <p:nvGrpSpPr>
          <p:cNvPr id="378" name="组合 377"/>
          <p:cNvGrpSpPr/>
          <p:nvPr/>
        </p:nvGrpSpPr>
        <p:grpSpPr>
          <a:xfrm>
            <a:off x="3379470" y="2433955"/>
            <a:ext cx="5433695" cy="1979930"/>
            <a:chOff x="2798273" y="2360143"/>
            <a:chExt cx="5433710" cy="1979845"/>
          </a:xfrm>
        </p:grpSpPr>
        <p:sp>
          <p:nvSpPr>
            <p:cNvPr id="133" name="Line 5"/>
            <p:cNvSpPr>
              <a:spLocks noChangeShapeType="1"/>
            </p:cNvSpPr>
            <p:nvPr>
              <p:custDataLst>
                <p:tags r:id="rId3"/>
              </p:custDataLst>
            </p:nvPr>
          </p:nvSpPr>
          <p:spPr>
            <a:xfrm flipH="1">
              <a:off x="6876730" y="433998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4" name="Line 6"/>
            <p:cNvSpPr>
              <a:spLocks noChangeShapeType="1"/>
            </p:cNvSpPr>
            <p:nvPr>
              <p:custDataLst>
                <p:tags r:id="rId4"/>
              </p:custDataLst>
            </p:nvPr>
          </p:nvSpPr>
          <p:spPr>
            <a:xfrm flipH="1">
              <a:off x="6876730" y="4339988"/>
              <a:ext cx="0" cy="0"/>
            </a:xfrm>
            <a:prstGeom prst="line">
              <a:avLst/>
            </a:prstGeom>
            <a:noFill/>
            <a:ln w="3810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5" name="Line 7"/>
            <p:cNvSpPr>
              <a:spLocks noChangeShapeType="1"/>
            </p:cNvSpPr>
            <p:nvPr>
              <p:custDataLst>
                <p:tags r:id="rId5"/>
              </p:custDataLst>
            </p:nvPr>
          </p:nvSpPr>
          <p:spPr>
            <a:xfrm flipH="1">
              <a:off x="7460851" y="409785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6" name="Line 8"/>
            <p:cNvSpPr>
              <a:spLocks noChangeShapeType="1"/>
            </p:cNvSpPr>
            <p:nvPr>
              <p:custDataLst>
                <p:tags r:id="rId6"/>
              </p:custDataLst>
            </p:nvPr>
          </p:nvSpPr>
          <p:spPr>
            <a:xfrm flipH="1">
              <a:off x="7460851" y="4097856"/>
              <a:ext cx="0" cy="0"/>
            </a:xfrm>
            <a:prstGeom prst="line">
              <a:avLst/>
            </a:prstGeom>
            <a:noFill/>
            <a:ln w="3810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7" name="Freeform 9"/>
            <p:cNvSpPr/>
            <p:nvPr>
              <p:custDataLst>
                <p:tags r:id="rId7"/>
              </p:custDataLst>
            </p:nvPr>
          </p:nvSpPr>
          <p:spPr>
            <a:xfrm>
              <a:off x="3053393" y="4097856"/>
              <a:ext cx="5178590" cy="242132"/>
            </a:xfrm>
            <a:custGeom>
              <a:avLst/>
              <a:gdLst>
                <a:gd name="T0" fmla="*/ 4486 w 4486"/>
                <a:gd name="T1" fmla="*/ 215 h 215"/>
                <a:gd name="T2" fmla="*/ 112 w 4486"/>
                <a:gd name="T3" fmla="*/ 215 h 215"/>
                <a:gd name="T4" fmla="*/ 0 w 4486"/>
                <a:gd name="T5" fmla="*/ 0 h 215"/>
                <a:gd name="T6" fmla="*/ 4372 w 4486"/>
                <a:gd name="T7" fmla="*/ 0 h 215"/>
                <a:gd name="T8" fmla="*/ 4486 w 4486"/>
                <a:gd name="T9" fmla="*/ 215 h 215"/>
              </a:gdLst>
              <a:ahLst/>
              <a:cxnLst>
                <a:cxn ang="0">
                  <a:pos x="T0" y="T1"/>
                </a:cxn>
                <a:cxn ang="0">
                  <a:pos x="T2" y="T3"/>
                </a:cxn>
                <a:cxn ang="0">
                  <a:pos x="T4" y="T5"/>
                </a:cxn>
                <a:cxn ang="0">
                  <a:pos x="T6" y="T7"/>
                </a:cxn>
                <a:cxn ang="0">
                  <a:pos x="T8" y="T9"/>
                </a:cxn>
              </a:cxnLst>
              <a:rect l="0" t="0" r="r" b="b"/>
              <a:pathLst>
                <a:path w="4486" h="215">
                  <a:moveTo>
                    <a:pt x="4486" y="215"/>
                  </a:moveTo>
                  <a:lnTo>
                    <a:pt x="112" y="215"/>
                  </a:lnTo>
                  <a:lnTo>
                    <a:pt x="0" y="0"/>
                  </a:lnTo>
                  <a:lnTo>
                    <a:pt x="4372" y="0"/>
                  </a:lnTo>
                  <a:lnTo>
                    <a:pt x="4486" y="215"/>
                  </a:lnTo>
                  <a:close/>
                </a:path>
              </a:pathLst>
            </a:custGeom>
            <a:solidFill>
              <a:srgbClr val="2F6E27"/>
            </a:solidFill>
            <a:ln w="38100" cap="rnd">
              <a:solidFill>
                <a:srgbClr val="000000"/>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8" name="Freeform 10"/>
            <p:cNvSpPr/>
            <p:nvPr>
              <p:custDataLst>
                <p:tags r:id="rId8"/>
              </p:custDataLst>
            </p:nvPr>
          </p:nvSpPr>
          <p:spPr>
            <a:xfrm>
              <a:off x="2798273" y="2360143"/>
              <a:ext cx="5302110" cy="1737713"/>
            </a:xfrm>
            <a:custGeom>
              <a:avLst/>
              <a:gdLst>
                <a:gd name="T0" fmla="*/ 4593 w 4593"/>
                <a:gd name="T1" fmla="*/ 0 h 1543"/>
                <a:gd name="T2" fmla="*/ 4593 w 4593"/>
                <a:gd name="T3" fmla="*/ 1543 h 1543"/>
                <a:gd name="T4" fmla="*/ 221 w 4593"/>
                <a:gd name="T5" fmla="*/ 1543 h 1543"/>
                <a:gd name="T6" fmla="*/ 221 w 4593"/>
                <a:gd name="T7" fmla="*/ 857 h 1543"/>
                <a:gd name="T8" fmla="*/ 0 w 4593"/>
                <a:gd name="T9" fmla="*/ 440 h 1543"/>
                <a:gd name="T10" fmla="*/ 221 w 4593"/>
                <a:gd name="T11" fmla="*/ 440 h 1543"/>
                <a:gd name="T12" fmla="*/ 221 w 4593"/>
                <a:gd name="T13" fmla="*/ 0 h 1543"/>
                <a:gd name="T14" fmla="*/ 4593 w 4593"/>
                <a:gd name="T15" fmla="*/ 0 h 15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93" h="1543">
                  <a:moveTo>
                    <a:pt x="4593" y="0"/>
                  </a:moveTo>
                  <a:lnTo>
                    <a:pt x="4593" y="1543"/>
                  </a:lnTo>
                  <a:lnTo>
                    <a:pt x="221" y="1543"/>
                  </a:lnTo>
                  <a:lnTo>
                    <a:pt x="221" y="857"/>
                  </a:lnTo>
                  <a:lnTo>
                    <a:pt x="0" y="440"/>
                  </a:lnTo>
                  <a:lnTo>
                    <a:pt x="221" y="440"/>
                  </a:lnTo>
                  <a:lnTo>
                    <a:pt x="221" y="0"/>
                  </a:lnTo>
                  <a:lnTo>
                    <a:pt x="4593" y="0"/>
                  </a:lnTo>
                  <a:close/>
                </a:path>
              </a:pathLst>
            </a:custGeom>
            <a:solidFill>
              <a:srgbClr val="FFFFFF"/>
            </a:solidFill>
            <a:ln w="38100" cap="rnd">
              <a:solidFill>
                <a:srgbClr val="000000"/>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9" name="Freeform 11"/>
            <p:cNvSpPr/>
            <p:nvPr>
              <p:custDataLst>
                <p:tags r:id="rId9"/>
              </p:custDataLst>
            </p:nvPr>
          </p:nvSpPr>
          <p:spPr>
            <a:xfrm>
              <a:off x="8100383" y="2360143"/>
              <a:ext cx="131600" cy="1979845"/>
            </a:xfrm>
            <a:custGeom>
              <a:avLst/>
              <a:gdLst>
                <a:gd name="T0" fmla="*/ 114 w 114"/>
                <a:gd name="T1" fmla="*/ 215 h 1758"/>
                <a:gd name="T2" fmla="*/ 114 w 114"/>
                <a:gd name="T3" fmla="*/ 1758 h 1758"/>
                <a:gd name="T4" fmla="*/ 0 w 114"/>
                <a:gd name="T5" fmla="*/ 1543 h 1758"/>
                <a:gd name="T6" fmla="*/ 0 w 114"/>
                <a:gd name="T7" fmla="*/ 0 h 1758"/>
                <a:gd name="T8" fmla="*/ 114 w 114"/>
                <a:gd name="T9" fmla="*/ 215 h 1758"/>
              </a:gdLst>
              <a:ahLst/>
              <a:cxnLst>
                <a:cxn ang="0">
                  <a:pos x="T0" y="T1"/>
                </a:cxn>
                <a:cxn ang="0">
                  <a:pos x="T2" y="T3"/>
                </a:cxn>
                <a:cxn ang="0">
                  <a:pos x="T4" y="T5"/>
                </a:cxn>
                <a:cxn ang="0">
                  <a:pos x="T6" y="T7"/>
                </a:cxn>
                <a:cxn ang="0">
                  <a:pos x="T8" y="T9"/>
                </a:cxn>
              </a:cxnLst>
              <a:rect l="0" t="0" r="r" b="b"/>
              <a:pathLst>
                <a:path w="114" h="1758">
                  <a:moveTo>
                    <a:pt x="114" y="215"/>
                  </a:moveTo>
                  <a:lnTo>
                    <a:pt x="114" y="1758"/>
                  </a:lnTo>
                  <a:lnTo>
                    <a:pt x="0" y="1543"/>
                  </a:lnTo>
                  <a:lnTo>
                    <a:pt x="0" y="0"/>
                  </a:lnTo>
                  <a:lnTo>
                    <a:pt x="114" y="215"/>
                  </a:lnTo>
                  <a:close/>
                </a:path>
              </a:pathLst>
            </a:custGeom>
            <a:solidFill>
              <a:srgbClr val="2F6E27"/>
            </a:solidFill>
            <a:ln w="38100" cap="rnd">
              <a:solidFill>
                <a:srgbClr val="000000"/>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nvGrpSpPr>
            <p:cNvPr id="373" name="组合 372"/>
            <p:cNvGrpSpPr/>
            <p:nvPr/>
          </p:nvGrpSpPr>
          <p:grpSpPr>
            <a:xfrm>
              <a:off x="7188368" y="2837858"/>
              <a:ext cx="778751" cy="782283"/>
              <a:chOff x="9670710" y="3787559"/>
              <a:chExt cx="1070927" cy="1075784"/>
            </a:xfrm>
          </p:grpSpPr>
          <p:sp>
            <p:nvSpPr>
              <p:cNvPr id="168" name="Line 15"/>
              <p:cNvSpPr>
                <a:spLocks noChangeShapeType="1"/>
              </p:cNvSpPr>
              <p:nvPr>
                <p:custDataLst>
                  <p:tags r:id="rId206"/>
                </p:custDataLst>
              </p:nvPr>
            </p:nvSpPr>
            <p:spPr>
              <a:xfrm flipV="1">
                <a:off x="9737491" y="3855555"/>
                <a:ext cx="201558" cy="201558"/>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9" name="Line 16"/>
              <p:cNvSpPr>
                <a:spLocks noChangeShapeType="1"/>
              </p:cNvSpPr>
              <p:nvPr>
                <p:custDataLst>
                  <p:tags r:id="rId207"/>
                </p:custDataLst>
              </p:nvPr>
            </p:nvSpPr>
            <p:spPr>
              <a:xfrm flipV="1">
                <a:off x="9675567" y="3796059"/>
                <a:ext cx="421328" cy="421328"/>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0" name="Line 17"/>
              <p:cNvSpPr>
                <a:spLocks noChangeShapeType="1"/>
              </p:cNvSpPr>
              <p:nvPr>
                <p:custDataLst>
                  <p:tags r:id="rId208"/>
                </p:custDataLst>
              </p:nvPr>
            </p:nvSpPr>
            <p:spPr>
              <a:xfrm flipV="1">
                <a:off x="9670710" y="3787559"/>
                <a:ext cx="531821" cy="534249"/>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1" name="Line 18"/>
              <p:cNvSpPr>
                <a:spLocks noChangeShapeType="1"/>
              </p:cNvSpPr>
              <p:nvPr>
                <p:custDataLst>
                  <p:tags r:id="rId209"/>
                </p:custDataLst>
              </p:nvPr>
            </p:nvSpPr>
            <p:spPr>
              <a:xfrm flipV="1">
                <a:off x="9673138" y="3793630"/>
                <a:ext cx="622886" cy="624100"/>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2" name="Line 19"/>
              <p:cNvSpPr>
                <a:spLocks noChangeShapeType="1"/>
              </p:cNvSpPr>
              <p:nvPr>
                <p:custDataLst>
                  <p:tags r:id="rId210"/>
                </p:custDataLst>
              </p:nvPr>
            </p:nvSpPr>
            <p:spPr>
              <a:xfrm flipH="1">
                <a:off x="9692566" y="3813058"/>
                <a:ext cx="681168" cy="682382"/>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3" name="Line 20"/>
              <p:cNvSpPr>
                <a:spLocks noChangeShapeType="1"/>
              </p:cNvSpPr>
              <p:nvPr>
                <p:custDataLst>
                  <p:tags r:id="rId211"/>
                </p:custDataLst>
              </p:nvPr>
            </p:nvSpPr>
            <p:spPr>
              <a:xfrm flipV="1">
                <a:off x="9724135" y="3840984"/>
                <a:ext cx="720022" cy="724879"/>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4" name="Line 21"/>
              <p:cNvSpPr>
                <a:spLocks noChangeShapeType="1"/>
              </p:cNvSpPr>
              <p:nvPr>
                <p:custDataLst>
                  <p:tags r:id="rId212"/>
                </p:custDataLst>
              </p:nvPr>
            </p:nvSpPr>
            <p:spPr>
              <a:xfrm flipV="1">
                <a:off x="9756918" y="3877410"/>
                <a:ext cx="749163" cy="750377"/>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5" name="Line 22"/>
              <p:cNvSpPr>
                <a:spLocks noChangeShapeType="1"/>
              </p:cNvSpPr>
              <p:nvPr>
                <p:custDataLst>
                  <p:tags r:id="rId213"/>
                </p:custDataLst>
              </p:nvPr>
            </p:nvSpPr>
            <p:spPr>
              <a:xfrm flipV="1">
                <a:off x="9801844" y="3919907"/>
                <a:ext cx="760091" cy="763734"/>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6" name="Line 23"/>
              <p:cNvSpPr>
                <a:spLocks noChangeShapeType="1"/>
              </p:cNvSpPr>
              <p:nvPr>
                <p:custDataLst>
                  <p:tags r:id="rId214"/>
                </p:custDataLst>
              </p:nvPr>
            </p:nvSpPr>
            <p:spPr>
              <a:xfrm flipV="1">
                <a:off x="9850412" y="3970904"/>
                <a:ext cx="761305" cy="761305"/>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7" name="Line 24"/>
              <p:cNvSpPr>
                <a:spLocks noChangeShapeType="1"/>
              </p:cNvSpPr>
              <p:nvPr>
                <p:custDataLst>
                  <p:tags r:id="rId215"/>
                </p:custDataLst>
              </p:nvPr>
            </p:nvSpPr>
            <p:spPr>
              <a:xfrm flipH="1">
                <a:off x="9906265" y="4024329"/>
                <a:ext cx="747949" cy="749163"/>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8" name="Line 25"/>
              <p:cNvSpPr>
                <a:spLocks noChangeShapeType="1"/>
              </p:cNvSpPr>
              <p:nvPr>
                <p:custDataLst>
                  <p:tags r:id="rId216"/>
                </p:custDataLst>
              </p:nvPr>
            </p:nvSpPr>
            <p:spPr>
              <a:xfrm flipH="1">
                <a:off x="9968190" y="4088682"/>
                <a:ext cx="722451" cy="722451"/>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79" name="Line 26"/>
              <p:cNvSpPr>
                <a:spLocks noChangeShapeType="1"/>
              </p:cNvSpPr>
              <p:nvPr>
                <p:custDataLst>
                  <p:tags r:id="rId217"/>
                </p:custDataLst>
              </p:nvPr>
            </p:nvSpPr>
            <p:spPr>
              <a:xfrm flipV="1">
                <a:off x="10037399" y="4155463"/>
                <a:ext cx="681168" cy="683596"/>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80" name="Line 27"/>
              <p:cNvSpPr>
                <a:spLocks noChangeShapeType="1"/>
              </p:cNvSpPr>
              <p:nvPr>
                <p:custDataLst>
                  <p:tags r:id="rId218"/>
                </p:custDataLst>
              </p:nvPr>
            </p:nvSpPr>
            <p:spPr>
              <a:xfrm flipH="1">
                <a:off x="10116322" y="4234386"/>
                <a:ext cx="621672" cy="624100"/>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81" name="Line 28"/>
              <p:cNvSpPr>
                <a:spLocks noChangeShapeType="1"/>
              </p:cNvSpPr>
              <p:nvPr>
                <p:custDataLst>
                  <p:tags r:id="rId219"/>
                </p:custDataLst>
              </p:nvPr>
            </p:nvSpPr>
            <p:spPr>
              <a:xfrm flipH="1">
                <a:off x="10208602" y="4330308"/>
                <a:ext cx="533035" cy="533035"/>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82" name="Line 29"/>
              <p:cNvSpPr>
                <a:spLocks noChangeShapeType="1"/>
              </p:cNvSpPr>
              <p:nvPr>
                <p:custDataLst>
                  <p:tags r:id="rId220"/>
                </p:custDataLst>
              </p:nvPr>
            </p:nvSpPr>
            <p:spPr>
              <a:xfrm flipH="1">
                <a:off x="10315452" y="4433515"/>
                <a:ext cx="420114" cy="422543"/>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83" name="Line 30"/>
              <p:cNvSpPr>
                <a:spLocks noChangeShapeType="1"/>
              </p:cNvSpPr>
              <p:nvPr>
                <p:custDataLst>
                  <p:tags r:id="rId221"/>
                </p:custDataLst>
              </p:nvPr>
            </p:nvSpPr>
            <p:spPr>
              <a:xfrm flipH="1">
                <a:off x="10472084" y="4593790"/>
                <a:ext cx="201558" cy="202772"/>
              </a:xfrm>
              <a:prstGeom prst="line">
                <a:avLst/>
              </a:prstGeom>
              <a:noFill/>
              <a:ln w="19050"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sp>
          <p:nvSpPr>
            <p:cNvPr id="349" name="Freeform 196"/>
            <p:cNvSpPr/>
            <p:nvPr>
              <p:custDataLst>
                <p:tags r:id="rId10"/>
              </p:custDataLst>
            </p:nvPr>
          </p:nvSpPr>
          <p:spPr>
            <a:xfrm>
              <a:off x="3155773" y="3462427"/>
              <a:ext cx="148334" cy="132440"/>
            </a:xfrm>
            <a:custGeom>
              <a:avLst/>
              <a:gdLst>
                <a:gd name="T0" fmla="*/ 83 w 168"/>
                <a:gd name="T1" fmla="*/ 0 h 150"/>
                <a:gd name="T2" fmla="*/ 168 w 168"/>
                <a:gd name="T3" fmla="*/ 150 h 150"/>
                <a:gd name="T4" fmla="*/ 83 w 168"/>
                <a:gd name="T5" fmla="*/ 150 h 150"/>
                <a:gd name="T6" fmla="*/ 0 w 168"/>
                <a:gd name="T7" fmla="*/ 150 h 150"/>
                <a:gd name="T8" fmla="*/ 83 w 168"/>
                <a:gd name="T9" fmla="*/ 0 h 150"/>
              </a:gdLst>
              <a:ahLst/>
              <a:cxnLst>
                <a:cxn ang="0">
                  <a:pos x="T0" y="T1"/>
                </a:cxn>
                <a:cxn ang="0">
                  <a:pos x="T2" y="T3"/>
                </a:cxn>
                <a:cxn ang="0">
                  <a:pos x="T4" y="T5"/>
                </a:cxn>
                <a:cxn ang="0">
                  <a:pos x="T6" y="T7"/>
                </a:cxn>
                <a:cxn ang="0">
                  <a:pos x="T8" y="T9"/>
                </a:cxn>
              </a:cxnLst>
              <a:rect l="0" t="0" r="r" b="b"/>
              <a:pathLst>
                <a:path w="168" h="150">
                  <a:moveTo>
                    <a:pt x="83" y="0"/>
                  </a:moveTo>
                  <a:lnTo>
                    <a:pt x="168" y="150"/>
                  </a:lnTo>
                  <a:lnTo>
                    <a:pt x="83" y="150"/>
                  </a:lnTo>
                  <a:lnTo>
                    <a:pt x="0" y="150"/>
                  </a:lnTo>
                  <a:lnTo>
                    <a:pt x="83" y="0"/>
                  </a:lnTo>
                  <a:close/>
                </a:path>
              </a:pathLst>
            </a:custGeom>
            <a:noFill/>
            <a:ln w="1428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nvGrpSpPr>
            <p:cNvPr id="370" name="组合 369"/>
            <p:cNvGrpSpPr/>
            <p:nvPr/>
          </p:nvGrpSpPr>
          <p:grpSpPr>
            <a:xfrm>
              <a:off x="3384028" y="3567485"/>
              <a:ext cx="98006" cy="98006"/>
              <a:chOff x="3961527" y="2130172"/>
              <a:chExt cx="134777" cy="134777"/>
            </a:xfrm>
          </p:grpSpPr>
          <p:sp>
            <p:nvSpPr>
              <p:cNvPr id="355" name="Line 202"/>
              <p:cNvSpPr>
                <a:spLocks noChangeShapeType="1"/>
              </p:cNvSpPr>
              <p:nvPr>
                <p:custDataLst>
                  <p:tags r:id="rId202"/>
                </p:custDataLst>
              </p:nvPr>
            </p:nvSpPr>
            <p:spPr>
              <a:xfrm flipH="1" flipV="1">
                <a:off x="3961527" y="2130172"/>
                <a:ext cx="44926" cy="44926"/>
              </a:xfrm>
              <a:prstGeom prst="line">
                <a:avLst/>
              </a:prstGeom>
              <a:noFill/>
              <a:ln w="14288"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56" name="Line 203"/>
              <p:cNvSpPr>
                <a:spLocks noChangeShapeType="1"/>
              </p:cNvSpPr>
              <p:nvPr>
                <p:custDataLst>
                  <p:tags r:id="rId203"/>
                </p:custDataLst>
              </p:nvPr>
            </p:nvSpPr>
            <p:spPr>
              <a:xfrm flipH="1">
                <a:off x="4053807" y="2130172"/>
                <a:ext cx="42497" cy="44926"/>
              </a:xfrm>
              <a:prstGeom prst="line">
                <a:avLst/>
              </a:prstGeom>
              <a:noFill/>
              <a:ln w="14288"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57" name="Freeform 204"/>
              <p:cNvSpPr/>
              <p:nvPr>
                <p:custDataLst>
                  <p:tags r:id="rId204"/>
                </p:custDataLst>
              </p:nvPr>
            </p:nvSpPr>
            <p:spPr>
              <a:xfrm>
                <a:off x="4053807" y="2222452"/>
                <a:ext cx="42497" cy="42497"/>
              </a:xfrm>
              <a:custGeom>
                <a:avLst/>
                <a:gdLst>
                  <a:gd name="T0" fmla="*/ 0 w 35"/>
                  <a:gd name="T1" fmla="*/ 0 h 35"/>
                  <a:gd name="T2" fmla="*/ 0 w 35"/>
                  <a:gd name="T3" fmla="*/ 0 h 35"/>
                  <a:gd name="T4" fmla="*/ 35 w 35"/>
                  <a:gd name="T5" fmla="*/ 35 h 35"/>
                </a:gdLst>
                <a:ahLst/>
                <a:cxnLst>
                  <a:cxn ang="0">
                    <a:pos x="T0" y="T1"/>
                  </a:cxn>
                  <a:cxn ang="0">
                    <a:pos x="T2" y="T3"/>
                  </a:cxn>
                  <a:cxn ang="0">
                    <a:pos x="T4" y="T5"/>
                  </a:cxn>
                </a:cxnLst>
                <a:rect l="0" t="0" r="r" b="b"/>
                <a:pathLst>
                  <a:path w="35" h="35">
                    <a:moveTo>
                      <a:pt x="0" y="0"/>
                    </a:moveTo>
                    <a:lnTo>
                      <a:pt x="0" y="0"/>
                    </a:lnTo>
                    <a:lnTo>
                      <a:pt x="35" y="35"/>
                    </a:lnTo>
                  </a:path>
                </a:pathLst>
              </a:custGeom>
              <a:noFill/>
              <a:ln w="1428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58" name="Line 205"/>
              <p:cNvSpPr>
                <a:spLocks noChangeShapeType="1"/>
              </p:cNvSpPr>
              <p:nvPr>
                <p:custDataLst>
                  <p:tags r:id="rId205"/>
                </p:custDataLst>
              </p:nvPr>
            </p:nvSpPr>
            <p:spPr>
              <a:xfrm flipH="1">
                <a:off x="3961527" y="2222452"/>
                <a:ext cx="44926" cy="42497"/>
              </a:xfrm>
              <a:prstGeom prst="line">
                <a:avLst/>
              </a:prstGeom>
              <a:noFill/>
              <a:ln w="14288"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sp>
          <p:nvSpPr>
            <p:cNvPr id="359" name="Line 206"/>
            <p:cNvSpPr>
              <a:spLocks noChangeShapeType="1"/>
            </p:cNvSpPr>
            <p:nvPr>
              <p:custDataLst>
                <p:tags r:id="rId11"/>
              </p:custDataLst>
            </p:nvPr>
          </p:nvSpPr>
          <p:spPr>
            <a:xfrm flipH="1" flipV="1">
              <a:off x="7717798" y="2562636"/>
              <a:ext cx="36200" cy="37083"/>
            </a:xfrm>
            <a:prstGeom prst="line">
              <a:avLst/>
            </a:prstGeom>
            <a:noFill/>
            <a:ln w="19050" cap="rnd">
              <a:solidFill>
                <a:srgbClr val="2F6E27"/>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60" name="Line 207"/>
            <p:cNvSpPr>
              <a:spLocks noChangeShapeType="1"/>
            </p:cNvSpPr>
            <p:nvPr>
              <p:custDataLst>
                <p:tags r:id="rId12"/>
              </p:custDataLst>
            </p:nvPr>
          </p:nvSpPr>
          <p:spPr>
            <a:xfrm flipH="1">
              <a:off x="7794614" y="2562636"/>
              <a:ext cx="37083" cy="37083"/>
            </a:xfrm>
            <a:prstGeom prst="line">
              <a:avLst/>
            </a:prstGeom>
            <a:noFill/>
            <a:ln w="19050" cap="rnd">
              <a:solidFill>
                <a:srgbClr val="2F6E27"/>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61" name="Freeform 208"/>
            <p:cNvSpPr/>
            <p:nvPr>
              <p:custDataLst>
                <p:tags r:id="rId13"/>
              </p:custDataLst>
            </p:nvPr>
          </p:nvSpPr>
          <p:spPr>
            <a:xfrm>
              <a:off x="7794614" y="2640335"/>
              <a:ext cx="37083" cy="34435"/>
            </a:xfrm>
            <a:custGeom>
              <a:avLst/>
              <a:gdLst>
                <a:gd name="T0" fmla="*/ 0 w 42"/>
                <a:gd name="T1" fmla="*/ 0 h 39"/>
                <a:gd name="T2" fmla="*/ 0 w 42"/>
                <a:gd name="T3" fmla="*/ 0 h 39"/>
                <a:gd name="T4" fmla="*/ 42 w 42"/>
                <a:gd name="T5" fmla="*/ 39 h 39"/>
              </a:gdLst>
              <a:ahLst/>
              <a:cxnLst>
                <a:cxn ang="0">
                  <a:pos x="T0" y="T1"/>
                </a:cxn>
                <a:cxn ang="0">
                  <a:pos x="T2" y="T3"/>
                </a:cxn>
                <a:cxn ang="0">
                  <a:pos x="T4" y="T5"/>
                </a:cxn>
              </a:cxnLst>
              <a:rect l="0" t="0" r="r" b="b"/>
              <a:pathLst>
                <a:path w="42" h="39">
                  <a:moveTo>
                    <a:pt x="0" y="0"/>
                  </a:moveTo>
                  <a:lnTo>
                    <a:pt x="0" y="0"/>
                  </a:lnTo>
                  <a:lnTo>
                    <a:pt x="42" y="39"/>
                  </a:lnTo>
                </a:path>
              </a:pathLst>
            </a:custGeom>
            <a:noFill/>
            <a:ln w="19050" cap="rnd">
              <a:solidFill>
                <a:srgbClr val="2F6E27"/>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62" name="Line 209"/>
            <p:cNvSpPr>
              <a:spLocks noChangeShapeType="1"/>
            </p:cNvSpPr>
            <p:nvPr>
              <p:custDataLst>
                <p:tags r:id="rId14"/>
              </p:custDataLst>
            </p:nvPr>
          </p:nvSpPr>
          <p:spPr>
            <a:xfrm flipH="1">
              <a:off x="7717798" y="2640335"/>
              <a:ext cx="36200" cy="34435"/>
            </a:xfrm>
            <a:prstGeom prst="line">
              <a:avLst/>
            </a:prstGeom>
            <a:noFill/>
            <a:ln w="19050" cap="rnd">
              <a:solidFill>
                <a:srgbClr val="2F6E27"/>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nvGrpSpPr>
            <p:cNvPr id="369" name="组合 368"/>
            <p:cNvGrpSpPr/>
            <p:nvPr/>
          </p:nvGrpSpPr>
          <p:grpSpPr>
            <a:xfrm>
              <a:off x="3118710" y="2429686"/>
              <a:ext cx="1426455" cy="455732"/>
              <a:chOff x="2156007" y="2425224"/>
              <a:chExt cx="3682679" cy="1176563"/>
            </a:xfrm>
          </p:grpSpPr>
          <p:sp>
            <p:nvSpPr>
              <p:cNvPr id="184" name="Oval 31"/>
              <p:cNvSpPr>
                <a:spLocks noChangeArrowheads="1"/>
              </p:cNvSpPr>
              <p:nvPr>
                <p:custDataLst>
                  <p:tags r:id="rId40"/>
                </p:custDataLst>
              </p:nvPr>
            </p:nvSpPr>
            <p:spPr>
              <a:xfrm>
                <a:off x="3314357" y="2893906"/>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85" name="Oval 32"/>
              <p:cNvSpPr>
                <a:spLocks noChangeArrowheads="1"/>
              </p:cNvSpPr>
              <p:nvPr>
                <p:custDataLst>
                  <p:tags r:id="rId41"/>
                </p:custDataLst>
              </p:nvPr>
            </p:nvSpPr>
            <p:spPr>
              <a:xfrm>
                <a:off x="3314357" y="3060252"/>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86" name="Oval 33"/>
              <p:cNvSpPr>
                <a:spLocks noChangeArrowheads="1"/>
              </p:cNvSpPr>
              <p:nvPr>
                <p:custDataLst>
                  <p:tags r:id="rId42"/>
                </p:custDataLst>
              </p:nvPr>
            </p:nvSpPr>
            <p:spPr>
              <a:xfrm>
                <a:off x="3314357" y="3225383"/>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87" name="Oval 34"/>
              <p:cNvSpPr>
                <a:spLocks noChangeArrowheads="1"/>
              </p:cNvSpPr>
              <p:nvPr>
                <p:custDataLst>
                  <p:tags r:id="rId43"/>
                </p:custDataLst>
              </p:nvPr>
            </p:nvSpPr>
            <p:spPr>
              <a:xfrm>
                <a:off x="3314357" y="3391729"/>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88" name="Oval 35"/>
              <p:cNvSpPr>
                <a:spLocks noChangeArrowheads="1"/>
              </p:cNvSpPr>
              <p:nvPr>
                <p:custDataLst>
                  <p:tags r:id="rId44"/>
                </p:custDataLst>
              </p:nvPr>
            </p:nvSpPr>
            <p:spPr>
              <a:xfrm>
                <a:off x="3314357" y="3556861"/>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89" name="Oval 36"/>
              <p:cNvSpPr>
                <a:spLocks noChangeArrowheads="1"/>
              </p:cNvSpPr>
              <p:nvPr>
                <p:custDataLst>
                  <p:tags r:id="rId45"/>
                </p:custDataLst>
              </p:nvPr>
            </p:nvSpPr>
            <p:spPr>
              <a:xfrm>
                <a:off x="3479489"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0" name="Oval 37"/>
              <p:cNvSpPr>
                <a:spLocks noChangeArrowheads="1"/>
              </p:cNvSpPr>
              <p:nvPr>
                <p:custDataLst>
                  <p:tags r:id="rId46"/>
                </p:custDataLst>
              </p:nvPr>
            </p:nvSpPr>
            <p:spPr>
              <a:xfrm>
                <a:off x="3479489"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1" name="Oval 38"/>
              <p:cNvSpPr>
                <a:spLocks noChangeArrowheads="1"/>
              </p:cNvSpPr>
              <p:nvPr>
                <p:custDataLst>
                  <p:tags r:id="rId47"/>
                </p:custDataLst>
              </p:nvPr>
            </p:nvSpPr>
            <p:spPr>
              <a:xfrm>
                <a:off x="3479489"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2" name="Oval 39"/>
              <p:cNvSpPr>
                <a:spLocks noChangeArrowheads="1"/>
              </p:cNvSpPr>
              <p:nvPr>
                <p:custDataLst>
                  <p:tags r:id="rId48"/>
                </p:custDataLst>
              </p:nvPr>
            </p:nvSpPr>
            <p:spPr>
              <a:xfrm>
                <a:off x="3479489"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3" name="Oval 40"/>
              <p:cNvSpPr>
                <a:spLocks noChangeArrowheads="1"/>
              </p:cNvSpPr>
              <p:nvPr>
                <p:custDataLst>
                  <p:tags r:id="rId49"/>
                </p:custDataLst>
              </p:nvPr>
            </p:nvSpPr>
            <p:spPr>
              <a:xfrm>
                <a:off x="3479489"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4" name="Oval 41"/>
              <p:cNvSpPr>
                <a:spLocks noChangeArrowheads="1"/>
              </p:cNvSpPr>
              <p:nvPr>
                <p:custDataLst>
                  <p:tags r:id="rId50"/>
                </p:custDataLst>
              </p:nvPr>
            </p:nvSpPr>
            <p:spPr>
              <a:xfrm>
                <a:off x="3644620"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5" name="Oval 42"/>
              <p:cNvSpPr>
                <a:spLocks noChangeArrowheads="1"/>
              </p:cNvSpPr>
              <p:nvPr>
                <p:custDataLst>
                  <p:tags r:id="rId51"/>
                </p:custDataLst>
              </p:nvPr>
            </p:nvSpPr>
            <p:spPr>
              <a:xfrm>
                <a:off x="3644620"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6" name="Oval 43"/>
              <p:cNvSpPr>
                <a:spLocks noChangeArrowheads="1"/>
              </p:cNvSpPr>
              <p:nvPr>
                <p:custDataLst>
                  <p:tags r:id="rId52"/>
                </p:custDataLst>
              </p:nvPr>
            </p:nvSpPr>
            <p:spPr>
              <a:xfrm>
                <a:off x="3644620"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7" name="Oval 44"/>
              <p:cNvSpPr>
                <a:spLocks noChangeArrowheads="1"/>
              </p:cNvSpPr>
              <p:nvPr>
                <p:custDataLst>
                  <p:tags r:id="rId53"/>
                </p:custDataLst>
              </p:nvPr>
            </p:nvSpPr>
            <p:spPr>
              <a:xfrm>
                <a:off x="3644620"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8" name="Oval 45"/>
              <p:cNvSpPr>
                <a:spLocks noChangeArrowheads="1"/>
              </p:cNvSpPr>
              <p:nvPr>
                <p:custDataLst>
                  <p:tags r:id="rId54"/>
                </p:custDataLst>
              </p:nvPr>
            </p:nvSpPr>
            <p:spPr>
              <a:xfrm>
                <a:off x="3644620"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99" name="Oval 46"/>
              <p:cNvSpPr>
                <a:spLocks noChangeArrowheads="1"/>
              </p:cNvSpPr>
              <p:nvPr>
                <p:custDataLst>
                  <p:tags r:id="rId55"/>
                </p:custDataLst>
              </p:nvPr>
            </p:nvSpPr>
            <p:spPr>
              <a:xfrm>
                <a:off x="3809752"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0" name="Oval 47"/>
              <p:cNvSpPr>
                <a:spLocks noChangeArrowheads="1"/>
              </p:cNvSpPr>
              <p:nvPr>
                <p:custDataLst>
                  <p:tags r:id="rId56"/>
                </p:custDataLst>
              </p:nvPr>
            </p:nvSpPr>
            <p:spPr>
              <a:xfrm>
                <a:off x="3809752"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1" name="Oval 48"/>
              <p:cNvSpPr>
                <a:spLocks noChangeArrowheads="1"/>
              </p:cNvSpPr>
              <p:nvPr>
                <p:custDataLst>
                  <p:tags r:id="rId57"/>
                </p:custDataLst>
              </p:nvPr>
            </p:nvSpPr>
            <p:spPr>
              <a:xfrm>
                <a:off x="3809752"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2" name="Oval 49"/>
              <p:cNvSpPr>
                <a:spLocks noChangeArrowheads="1"/>
              </p:cNvSpPr>
              <p:nvPr>
                <p:custDataLst>
                  <p:tags r:id="rId58"/>
                </p:custDataLst>
              </p:nvPr>
            </p:nvSpPr>
            <p:spPr>
              <a:xfrm>
                <a:off x="3809752"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3" name="Oval 50"/>
              <p:cNvSpPr>
                <a:spLocks noChangeArrowheads="1"/>
              </p:cNvSpPr>
              <p:nvPr>
                <p:custDataLst>
                  <p:tags r:id="rId59"/>
                </p:custDataLst>
              </p:nvPr>
            </p:nvSpPr>
            <p:spPr>
              <a:xfrm>
                <a:off x="3809752"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4" name="Oval 51"/>
              <p:cNvSpPr>
                <a:spLocks noChangeArrowheads="1"/>
              </p:cNvSpPr>
              <p:nvPr>
                <p:custDataLst>
                  <p:tags r:id="rId60"/>
                </p:custDataLst>
              </p:nvPr>
            </p:nvSpPr>
            <p:spPr>
              <a:xfrm>
                <a:off x="3974884"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5" name="Oval 52"/>
              <p:cNvSpPr>
                <a:spLocks noChangeArrowheads="1"/>
              </p:cNvSpPr>
              <p:nvPr>
                <p:custDataLst>
                  <p:tags r:id="rId61"/>
                </p:custDataLst>
              </p:nvPr>
            </p:nvSpPr>
            <p:spPr>
              <a:xfrm>
                <a:off x="3974884"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6" name="Oval 53"/>
              <p:cNvSpPr>
                <a:spLocks noChangeArrowheads="1"/>
              </p:cNvSpPr>
              <p:nvPr>
                <p:custDataLst>
                  <p:tags r:id="rId62"/>
                </p:custDataLst>
              </p:nvPr>
            </p:nvSpPr>
            <p:spPr>
              <a:xfrm>
                <a:off x="3974884"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7" name="Oval 54"/>
              <p:cNvSpPr>
                <a:spLocks noChangeArrowheads="1"/>
              </p:cNvSpPr>
              <p:nvPr>
                <p:custDataLst>
                  <p:tags r:id="rId63"/>
                </p:custDataLst>
              </p:nvPr>
            </p:nvSpPr>
            <p:spPr>
              <a:xfrm>
                <a:off x="3974884"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8" name="Oval 55"/>
              <p:cNvSpPr>
                <a:spLocks noChangeArrowheads="1"/>
              </p:cNvSpPr>
              <p:nvPr>
                <p:custDataLst>
                  <p:tags r:id="rId64"/>
                </p:custDataLst>
              </p:nvPr>
            </p:nvSpPr>
            <p:spPr>
              <a:xfrm>
                <a:off x="3974884"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09" name="Oval 56"/>
              <p:cNvSpPr>
                <a:spLocks noChangeArrowheads="1"/>
              </p:cNvSpPr>
              <p:nvPr>
                <p:custDataLst>
                  <p:tags r:id="rId65"/>
                </p:custDataLst>
              </p:nvPr>
            </p:nvSpPr>
            <p:spPr>
              <a:xfrm>
                <a:off x="4140015"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10" name="Oval 57"/>
              <p:cNvSpPr>
                <a:spLocks noChangeArrowheads="1"/>
              </p:cNvSpPr>
              <p:nvPr>
                <p:custDataLst>
                  <p:tags r:id="rId66"/>
                </p:custDataLst>
              </p:nvPr>
            </p:nvSpPr>
            <p:spPr>
              <a:xfrm>
                <a:off x="4140015"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11" name="Oval 58"/>
              <p:cNvSpPr>
                <a:spLocks noChangeArrowheads="1"/>
              </p:cNvSpPr>
              <p:nvPr>
                <p:custDataLst>
                  <p:tags r:id="rId67"/>
                </p:custDataLst>
              </p:nvPr>
            </p:nvSpPr>
            <p:spPr>
              <a:xfrm>
                <a:off x="4140015"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12" name="Oval 59"/>
              <p:cNvSpPr>
                <a:spLocks noChangeArrowheads="1"/>
              </p:cNvSpPr>
              <p:nvPr>
                <p:custDataLst>
                  <p:tags r:id="rId68"/>
                </p:custDataLst>
              </p:nvPr>
            </p:nvSpPr>
            <p:spPr>
              <a:xfrm>
                <a:off x="4140015"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13" name="Oval 60"/>
              <p:cNvSpPr>
                <a:spLocks noChangeArrowheads="1"/>
              </p:cNvSpPr>
              <p:nvPr>
                <p:custDataLst>
                  <p:tags r:id="rId69"/>
                </p:custDataLst>
              </p:nvPr>
            </p:nvSpPr>
            <p:spPr>
              <a:xfrm>
                <a:off x="4140015"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14" name="Oval 61"/>
              <p:cNvSpPr>
                <a:spLocks noChangeArrowheads="1"/>
              </p:cNvSpPr>
              <p:nvPr>
                <p:custDataLst>
                  <p:tags r:id="rId70"/>
                </p:custDataLst>
              </p:nvPr>
            </p:nvSpPr>
            <p:spPr>
              <a:xfrm>
                <a:off x="4306361"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15" name="Oval 62"/>
              <p:cNvSpPr>
                <a:spLocks noChangeArrowheads="1"/>
              </p:cNvSpPr>
              <p:nvPr>
                <p:custDataLst>
                  <p:tags r:id="rId71"/>
                </p:custDataLst>
              </p:nvPr>
            </p:nvSpPr>
            <p:spPr>
              <a:xfrm>
                <a:off x="4306361"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16" name="Oval 63"/>
              <p:cNvSpPr>
                <a:spLocks noChangeArrowheads="1"/>
              </p:cNvSpPr>
              <p:nvPr>
                <p:custDataLst>
                  <p:tags r:id="rId72"/>
                </p:custDataLst>
              </p:nvPr>
            </p:nvSpPr>
            <p:spPr>
              <a:xfrm>
                <a:off x="4306361"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17" name="Oval 64"/>
              <p:cNvSpPr>
                <a:spLocks noChangeArrowheads="1"/>
              </p:cNvSpPr>
              <p:nvPr>
                <p:custDataLst>
                  <p:tags r:id="rId73"/>
                </p:custDataLst>
              </p:nvPr>
            </p:nvSpPr>
            <p:spPr>
              <a:xfrm>
                <a:off x="4306361"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18" name="Oval 65"/>
              <p:cNvSpPr>
                <a:spLocks noChangeArrowheads="1"/>
              </p:cNvSpPr>
              <p:nvPr>
                <p:custDataLst>
                  <p:tags r:id="rId74"/>
                </p:custDataLst>
              </p:nvPr>
            </p:nvSpPr>
            <p:spPr>
              <a:xfrm>
                <a:off x="4306361"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19" name="Oval 66"/>
              <p:cNvSpPr>
                <a:spLocks noChangeArrowheads="1"/>
              </p:cNvSpPr>
              <p:nvPr>
                <p:custDataLst>
                  <p:tags r:id="rId75"/>
                </p:custDataLst>
              </p:nvPr>
            </p:nvSpPr>
            <p:spPr>
              <a:xfrm>
                <a:off x="4471493"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0" name="Oval 67"/>
              <p:cNvSpPr>
                <a:spLocks noChangeArrowheads="1"/>
              </p:cNvSpPr>
              <p:nvPr>
                <p:custDataLst>
                  <p:tags r:id="rId76"/>
                </p:custDataLst>
              </p:nvPr>
            </p:nvSpPr>
            <p:spPr>
              <a:xfrm>
                <a:off x="4471493"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1" name="Oval 68"/>
              <p:cNvSpPr>
                <a:spLocks noChangeArrowheads="1"/>
              </p:cNvSpPr>
              <p:nvPr>
                <p:custDataLst>
                  <p:tags r:id="rId77"/>
                </p:custDataLst>
              </p:nvPr>
            </p:nvSpPr>
            <p:spPr>
              <a:xfrm>
                <a:off x="4471493"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2" name="Oval 69"/>
              <p:cNvSpPr>
                <a:spLocks noChangeArrowheads="1"/>
              </p:cNvSpPr>
              <p:nvPr>
                <p:custDataLst>
                  <p:tags r:id="rId78"/>
                </p:custDataLst>
              </p:nvPr>
            </p:nvSpPr>
            <p:spPr>
              <a:xfrm>
                <a:off x="4471493"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3" name="Oval 70"/>
              <p:cNvSpPr>
                <a:spLocks noChangeArrowheads="1"/>
              </p:cNvSpPr>
              <p:nvPr>
                <p:custDataLst>
                  <p:tags r:id="rId79"/>
                </p:custDataLst>
              </p:nvPr>
            </p:nvSpPr>
            <p:spPr>
              <a:xfrm>
                <a:off x="4471493"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4" name="Oval 71"/>
              <p:cNvSpPr>
                <a:spLocks noChangeArrowheads="1"/>
              </p:cNvSpPr>
              <p:nvPr>
                <p:custDataLst>
                  <p:tags r:id="rId80"/>
                </p:custDataLst>
              </p:nvPr>
            </p:nvSpPr>
            <p:spPr>
              <a:xfrm>
                <a:off x="4636624"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5" name="Oval 72"/>
              <p:cNvSpPr>
                <a:spLocks noChangeArrowheads="1"/>
              </p:cNvSpPr>
              <p:nvPr>
                <p:custDataLst>
                  <p:tags r:id="rId81"/>
                </p:custDataLst>
              </p:nvPr>
            </p:nvSpPr>
            <p:spPr>
              <a:xfrm>
                <a:off x="4636624"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6" name="Oval 73"/>
              <p:cNvSpPr>
                <a:spLocks noChangeArrowheads="1"/>
              </p:cNvSpPr>
              <p:nvPr>
                <p:custDataLst>
                  <p:tags r:id="rId82"/>
                </p:custDataLst>
              </p:nvPr>
            </p:nvSpPr>
            <p:spPr>
              <a:xfrm>
                <a:off x="4636624"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7" name="Oval 74"/>
              <p:cNvSpPr>
                <a:spLocks noChangeArrowheads="1"/>
              </p:cNvSpPr>
              <p:nvPr>
                <p:custDataLst>
                  <p:tags r:id="rId83"/>
                </p:custDataLst>
              </p:nvPr>
            </p:nvSpPr>
            <p:spPr>
              <a:xfrm>
                <a:off x="4636624"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8" name="Oval 75"/>
              <p:cNvSpPr>
                <a:spLocks noChangeArrowheads="1"/>
              </p:cNvSpPr>
              <p:nvPr>
                <p:custDataLst>
                  <p:tags r:id="rId84"/>
                </p:custDataLst>
              </p:nvPr>
            </p:nvSpPr>
            <p:spPr>
              <a:xfrm>
                <a:off x="4636624"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29" name="Oval 76"/>
              <p:cNvSpPr>
                <a:spLocks noChangeArrowheads="1"/>
              </p:cNvSpPr>
              <p:nvPr>
                <p:custDataLst>
                  <p:tags r:id="rId85"/>
                </p:custDataLst>
              </p:nvPr>
            </p:nvSpPr>
            <p:spPr>
              <a:xfrm>
                <a:off x="4801756"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0" name="Oval 77"/>
              <p:cNvSpPr>
                <a:spLocks noChangeArrowheads="1"/>
              </p:cNvSpPr>
              <p:nvPr>
                <p:custDataLst>
                  <p:tags r:id="rId86"/>
                </p:custDataLst>
              </p:nvPr>
            </p:nvSpPr>
            <p:spPr>
              <a:xfrm>
                <a:off x="4801756"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1" name="Oval 78"/>
              <p:cNvSpPr>
                <a:spLocks noChangeArrowheads="1"/>
              </p:cNvSpPr>
              <p:nvPr>
                <p:custDataLst>
                  <p:tags r:id="rId87"/>
                </p:custDataLst>
              </p:nvPr>
            </p:nvSpPr>
            <p:spPr>
              <a:xfrm>
                <a:off x="4801756"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2" name="Oval 79"/>
              <p:cNvSpPr>
                <a:spLocks noChangeArrowheads="1"/>
              </p:cNvSpPr>
              <p:nvPr>
                <p:custDataLst>
                  <p:tags r:id="rId88"/>
                </p:custDataLst>
              </p:nvPr>
            </p:nvSpPr>
            <p:spPr>
              <a:xfrm>
                <a:off x="4801756"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3" name="Oval 80"/>
              <p:cNvSpPr>
                <a:spLocks noChangeArrowheads="1"/>
              </p:cNvSpPr>
              <p:nvPr>
                <p:custDataLst>
                  <p:tags r:id="rId89"/>
                </p:custDataLst>
              </p:nvPr>
            </p:nvSpPr>
            <p:spPr>
              <a:xfrm>
                <a:off x="4801756"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4" name="Oval 81"/>
              <p:cNvSpPr>
                <a:spLocks noChangeArrowheads="1"/>
              </p:cNvSpPr>
              <p:nvPr>
                <p:custDataLst>
                  <p:tags r:id="rId90"/>
                </p:custDataLst>
              </p:nvPr>
            </p:nvSpPr>
            <p:spPr>
              <a:xfrm>
                <a:off x="4966887"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5" name="Oval 82"/>
              <p:cNvSpPr>
                <a:spLocks noChangeArrowheads="1"/>
              </p:cNvSpPr>
              <p:nvPr>
                <p:custDataLst>
                  <p:tags r:id="rId91"/>
                </p:custDataLst>
              </p:nvPr>
            </p:nvSpPr>
            <p:spPr>
              <a:xfrm>
                <a:off x="4966887"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6" name="Oval 83"/>
              <p:cNvSpPr>
                <a:spLocks noChangeArrowheads="1"/>
              </p:cNvSpPr>
              <p:nvPr>
                <p:custDataLst>
                  <p:tags r:id="rId92"/>
                </p:custDataLst>
              </p:nvPr>
            </p:nvSpPr>
            <p:spPr>
              <a:xfrm>
                <a:off x="4966887"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7" name="Oval 84"/>
              <p:cNvSpPr>
                <a:spLocks noChangeArrowheads="1"/>
              </p:cNvSpPr>
              <p:nvPr>
                <p:custDataLst>
                  <p:tags r:id="rId93"/>
                </p:custDataLst>
              </p:nvPr>
            </p:nvSpPr>
            <p:spPr>
              <a:xfrm>
                <a:off x="4966887"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8" name="Oval 85"/>
              <p:cNvSpPr>
                <a:spLocks noChangeArrowheads="1"/>
              </p:cNvSpPr>
              <p:nvPr>
                <p:custDataLst>
                  <p:tags r:id="rId94"/>
                </p:custDataLst>
              </p:nvPr>
            </p:nvSpPr>
            <p:spPr>
              <a:xfrm>
                <a:off x="4966887"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39" name="Oval 86"/>
              <p:cNvSpPr>
                <a:spLocks noChangeArrowheads="1"/>
              </p:cNvSpPr>
              <p:nvPr>
                <p:custDataLst>
                  <p:tags r:id="rId95"/>
                </p:custDataLst>
              </p:nvPr>
            </p:nvSpPr>
            <p:spPr>
              <a:xfrm>
                <a:off x="5133233"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40" name="Oval 87"/>
              <p:cNvSpPr>
                <a:spLocks noChangeArrowheads="1"/>
              </p:cNvSpPr>
              <p:nvPr>
                <p:custDataLst>
                  <p:tags r:id="rId96"/>
                </p:custDataLst>
              </p:nvPr>
            </p:nvSpPr>
            <p:spPr>
              <a:xfrm>
                <a:off x="5133233"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41" name="Oval 88"/>
              <p:cNvSpPr>
                <a:spLocks noChangeArrowheads="1"/>
              </p:cNvSpPr>
              <p:nvPr>
                <p:custDataLst>
                  <p:tags r:id="rId97"/>
                </p:custDataLst>
              </p:nvPr>
            </p:nvSpPr>
            <p:spPr>
              <a:xfrm>
                <a:off x="5133233"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42" name="Oval 89"/>
              <p:cNvSpPr>
                <a:spLocks noChangeArrowheads="1"/>
              </p:cNvSpPr>
              <p:nvPr>
                <p:custDataLst>
                  <p:tags r:id="rId98"/>
                </p:custDataLst>
              </p:nvPr>
            </p:nvSpPr>
            <p:spPr>
              <a:xfrm>
                <a:off x="5133233"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43" name="Oval 90"/>
              <p:cNvSpPr>
                <a:spLocks noChangeArrowheads="1"/>
              </p:cNvSpPr>
              <p:nvPr>
                <p:custDataLst>
                  <p:tags r:id="rId99"/>
                </p:custDataLst>
              </p:nvPr>
            </p:nvSpPr>
            <p:spPr>
              <a:xfrm>
                <a:off x="5133233"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44" name="Oval 91"/>
              <p:cNvSpPr>
                <a:spLocks noChangeArrowheads="1"/>
              </p:cNvSpPr>
              <p:nvPr>
                <p:custDataLst>
                  <p:tags r:id="rId100"/>
                </p:custDataLst>
              </p:nvPr>
            </p:nvSpPr>
            <p:spPr>
              <a:xfrm>
                <a:off x="5298365"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45" name="Oval 92"/>
              <p:cNvSpPr>
                <a:spLocks noChangeArrowheads="1"/>
              </p:cNvSpPr>
              <p:nvPr>
                <p:custDataLst>
                  <p:tags r:id="rId101"/>
                </p:custDataLst>
              </p:nvPr>
            </p:nvSpPr>
            <p:spPr>
              <a:xfrm>
                <a:off x="5298365"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46" name="Oval 93"/>
              <p:cNvSpPr>
                <a:spLocks noChangeArrowheads="1"/>
              </p:cNvSpPr>
              <p:nvPr>
                <p:custDataLst>
                  <p:tags r:id="rId102"/>
                </p:custDataLst>
              </p:nvPr>
            </p:nvSpPr>
            <p:spPr>
              <a:xfrm>
                <a:off x="5298365"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47" name="Oval 94"/>
              <p:cNvSpPr>
                <a:spLocks noChangeArrowheads="1"/>
              </p:cNvSpPr>
              <p:nvPr>
                <p:custDataLst>
                  <p:tags r:id="rId103"/>
                </p:custDataLst>
              </p:nvPr>
            </p:nvSpPr>
            <p:spPr>
              <a:xfrm>
                <a:off x="5298365"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48" name="Oval 95"/>
              <p:cNvSpPr>
                <a:spLocks noChangeArrowheads="1"/>
              </p:cNvSpPr>
              <p:nvPr>
                <p:custDataLst>
                  <p:tags r:id="rId104"/>
                </p:custDataLst>
              </p:nvPr>
            </p:nvSpPr>
            <p:spPr>
              <a:xfrm>
                <a:off x="5298365"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49" name="Oval 96"/>
              <p:cNvSpPr>
                <a:spLocks noChangeArrowheads="1"/>
              </p:cNvSpPr>
              <p:nvPr>
                <p:custDataLst>
                  <p:tags r:id="rId105"/>
                </p:custDataLst>
              </p:nvPr>
            </p:nvSpPr>
            <p:spPr>
              <a:xfrm>
                <a:off x="5463496"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0" name="Oval 97"/>
              <p:cNvSpPr>
                <a:spLocks noChangeArrowheads="1"/>
              </p:cNvSpPr>
              <p:nvPr>
                <p:custDataLst>
                  <p:tags r:id="rId106"/>
                </p:custDataLst>
              </p:nvPr>
            </p:nvSpPr>
            <p:spPr>
              <a:xfrm>
                <a:off x="5463496"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1" name="Oval 98"/>
              <p:cNvSpPr>
                <a:spLocks noChangeArrowheads="1"/>
              </p:cNvSpPr>
              <p:nvPr>
                <p:custDataLst>
                  <p:tags r:id="rId107"/>
                </p:custDataLst>
              </p:nvPr>
            </p:nvSpPr>
            <p:spPr>
              <a:xfrm>
                <a:off x="5463496"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2" name="Oval 99"/>
              <p:cNvSpPr>
                <a:spLocks noChangeArrowheads="1"/>
              </p:cNvSpPr>
              <p:nvPr>
                <p:custDataLst>
                  <p:tags r:id="rId108"/>
                </p:custDataLst>
              </p:nvPr>
            </p:nvSpPr>
            <p:spPr>
              <a:xfrm>
                <a:off x="5463496"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3" name="Oval 100"/>
              <p:cNvSpPr>
                <a:spLocks noChangeArrowheads="1"/>
              </p:cNvSpPr>
              <p:nvPr>
                <p:custDataLst>
                  <p:tags r:id="rId109"/>
                </p:custDataLst>
              </p:nvPr>
            </p:nvSpPr>
            <p:spPr>
              <a:xfrm>
                <a:off x="5463496"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4" name="Oval 101"/>
              <p:cNvSpPr>
                <a:spLocks noChangeArrowheads="1"/>
              </p:cNvSpPr>
              <p:nvPr>
                <p:custDataLst>
                  <p:tags r:id="rId110"/>
                </p:custDataLst>
              </p:nvPr>
            </p:nvSpPr>
            <p:spPr>
              <a:xfrm>
                <a:off x="5628628"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5" name="Oval 102"/>
              <p:cNvSpPr>
                <a:spLocks noChangeArrowheads="1"/>
              </p:cNvSpPr>
              <p:nvPr>
                <p:custDataLst>
                  <p:tags r:id="rId111"/>
                </p:custDataLst>
              </p:nvPr>
            </p:nvSpPr>
            <p:spPr>
              <a:xfrm>
                <a:off x="5628628"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6" name="Oval 103"/>
              <p:cNvSpPr>
                <a:spLocks noChangeArrowheads="1"/>
              </p:cNvSpPr>
              <p:nvPr>
                <p:custDataLst>
                  <p:tags r:id="rId112"/>
                </p:custDataLst>
              </p:nvPr>
            </p:nvSpPr>
            <p:spPr>
              <a:xfrm>
                <a:off x="5628628"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7" name="Oval 104"/>
              <p:cNvSpPr>
                <a:spLocks noChangeArrowheads="1"/>
              </p:cNvSpPr>
              <p:nvPr>
                <p:custDataLst>
                  <p:tags r:id="rId113"/>
                </p:custDataLst>
              </p:nvPr>
            </p:nvSpPr>
            <p:spPr>
              <a:xfrm>
                <a:off x="5628628"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8" name="Oval 105"/>
              <p:cNvSpPr>
                <a:spLocks noChangeArrowheads="1"/>
              </p:cNvSpPr>
              <p:nvPr>
                <p:custDataLst>
                  <p:tags r:id="rId114"/>
                </p:custDataLst>
              </p:nvPr>
            </p:nvSpPr>
            <p:spPr>
              <a:xfrm>
                <a:off x="5628628"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59" name="Oval 106"/>
              <p:cNvSpPr>
                <a:spLocks noChangeArrowheads="1"/>
              </p:cNvSpPr>
              <p:nvPr>
                <p:custDataLst>
                  <p:tags r:id="rId115"/>
                </p:custDataLst>
              </p:nvPr>
            </p:nvSpPr>
            <p:spPr>
              <a:xfrm>
                <a:off x="5793760"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0" name="Oval 107"/>
              <p:cNvSpPr>
                <a:spLocks noChangeArrowheads="1"/>
              </p:cNvSpPr>
              <p:nvPr>
                <p:custDataLst>
                  <p:tags r:id="rId116"/>
                </p:custDataLst>
              </p:nvPr>
            </p:nvSpPr>
            <p:spPr>
              <a:xfrm>
                <a:off x="5793760"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1" name="Oval 108"/>
              <p:cNvSpPr>
                <a:spLocks noChangeArrowheads="1"/>
              </p:cNvSpPr>
              <p:nvPr>
                <p:custDataLst>
                  <p:tags r:id="rId117"/>
                </p:custDataLst>
              </p:nvPr>
            </p:nvSpPr>
            <p:spPr>
              <a:xfrm>
                <a:off x="5793760"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2" name="Oval 109"/>
              <p:cNvSpPr>
                <a:spLocks noChangeArrowheads="1"/>
              </p:cNvSpPr>
              <p:nvPr>
                <p:custDataLst>
                  <p:tags r:id="rId118"/>
                </p:custDataLst>
              </p:nvPr>
            </p:nvSpPr>
            <p:spPr>
              <a:xfrm>
                <a:off x="5793760"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3" name="Oval 110"/>
              <p:cNvSpPr>
                <a:spLocks noChangeArrowheads="1"/>
              </p:cNvSpPr>
              <p:nvPr>
                <p:custDataLst>
                  <p:tags r:id="rId119"/>
                </p:custDataLst>
              </p:nvPr>
            </p:nvSpPr>
            <p:spPr>
              <a:xfrm>
                <a:off x="5793760"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4" name="Oval 111"/>
              <p:cNvSpPr>
                <a:spLocks noChangeArrowheads="1"/>
              </p:cNvSpPr>
              <p:nvPr>
                <p:custDataLst>
                  <p:tags r:id="rId120"/>
                </p:custDataLst>
              </p:nvPr>
            </p:nvSpPr>
            <p:spPr>
              <a:xfrm>
                <a:off x="3314357" y="2562429"/>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5" name="Oval 112"/>
              <p:cNvSpPr>
                <a:spLocks noChangeArrowheads="1"/>
              </p:cNvSpPr>
              <p:nvPr>
                <p:custDataLst>
                  <p:tags r:id="rId121"/>
                </p:custDataLst>
              </p:nvPr>
            </p:nvSpPr>
            <p:spPr>
              <a:xfrm>
                <a:off x="3314357" y="2728774"/>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6" name="Oval 113"/>
              <p:cNvSpPr>
                <a:spLocks noChangeArrowheads="1"/>
              </p:cNvSpPr>
              <p:nvPr>
                <p:custDataLst>
                  <p:tags r:id="rId122"/>
                </p:custDataLst>
              </p:nvPr>
            </p:nvSpPr>
            <p:spPr>
              <a:xfrm>
                <a:off x="3479489"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7" name="Oval 114"/>
              <p:cNvSpPr>
                <a:spLocks noChangeArrowheads="1"/>
              </p:cNvSpPr>
              <p:nvPr>
                <p:custDataLst>
                  <p:tags r:id="rId123"/>
                </p:custDataLst>
              </p:nvPr>
            </p:nvSpPr>
            <p:spPr>
              <a:xfrm>
                <a:off x="3479489"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8" name="Oval 115"/>
              <p:cNvSpPr>
                <a:spLocks noChangeArrowheads="1"/>
              </p:cNvSpPr>
              <p:nvPr>
                <p:custDataLst>
                  <p:tags r:id="rId124"/>
                </p:custDataLst>
              </p:nvPr>
            </p:nvSpPr>
            <p:spPr>
              <a:xfrm>
                <a:off x="3644620"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9" name="Oval 116"/>
              <p:cNvSpPr>
                <a:spLocks noChangeArrowheads="1"/>
              </p:cNvSpPr>
              <p:nvPr>
                <p:custDataLst>
                  <p:tags r:id="rId125"/>
                </p:custDataLst>
              </p:nvPr>
            </p:nvSpPr>
            <p:spPr>
              <a:xfrm>
                <a:off x="3644620"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70" name="Oval 117"/>
              <p:cNvSpPr>
                <a:spLocks noChangeArrowheads="1"/>
              </p:cNvSpPr>
              <p:nvPr>
                <p:custDataLst>
                  <p:tags r:id="rId126"/>
                </p:custDataLst>
              </p:nvPr>
            </p:nvSpPr>
            <p:spPr>
              <a:xfrm>
                <a:off x="3809752"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71" name="Oval 118"/>
              <p:cNvSpPr>
                <a:spLocks noChangeArrowheads="1"/>
              </p:cNvSpPr>
              <p:nvPr>
                <p:custDataLst>
                  <p:tags r:id="rId127"/>
                </p:custDataLst>
              </p:nvPr>
            </p:nvSpPr>
            <p:spPr>
              <a:xfrm>
                <a:off x="3809752"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72" name="Oval 119"/>
              <p:cNvSpPr>
                <a:spLocks noChangeArrowheads="1"/>
              </p:cNvSpPr>
              <p:nvPr>
                <p:custDataLst>
                  <p:tags r:id="rId128"/>
                </p:custDataLst>
              </p:nvPr>
            </p:nvSpPr>
            <p:spPr>
              <a:xfrm>
                <a:off x="3974884"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73" name="Oval 120"/>
              <p:cNvSpPr>
                <a:spLocks noChangeArrowheads="1"/>
              </p:cNvSpPr>
              <p:nvPr>
                <p:custDataLst>
                  <p:tags r:id="rId129"/>
                </p:custDataLst>
              </p:nvPr>
            </p:nvSpPr>
            <p:spPr>
              <a:xfrm>
                <a:off x="3974884"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74" name="Oval 121"/>
              <p:cNvSpPr>
                <a:spLocks noChangeArrowheads="1"/>
              </p:cNvSpPr>
              <p:nvPr>
                <p:custDataLst>
                  <p:tags r:id="rId130"/>
                </p:custDataLst>
              </p:nvPr>
            </p:nvSpPr>
            <p:spPr>
              <a:xfrm>
                <a:off x="4140015"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75" name="Oval 122"/>
              <p:cNvSpPr>
                <a:spLocks noChangeArrowheads="1"/>
              </p:cNvSpPr>
              <p:nvPr>
                <p:custDataLst>
                  <p:tags r:id="rId131"/>
                </p:custDataLst>
              </p:nvPr>
            </p:nvSpPr>
            <p:spPr>
              <a:xfrm>
                <a:off x="4140015"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76" name="Oval 123"/>
              <p:cNvSpPr>
                <a:spLocks noChangeArrowheads="1"/>
              </p:cNvSpPr>
              <p:nvPr>
                <p:custDataLst>
                  <p:tags r:id="rId132"/>
                </p:custDataLst>
              </p:nvPr>
            </p:nvSpPr>
            <p:spPr>
              <a:xfrm>
                <a:off x="4306361"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77" name="Oval 124"/>
              <p:cNvSpPr>
                <a:spLocks noChangeArrowheads="1"/>
              </p:cNvSpPr>
              <p:nvPr>
                <p:custDataLst>
                  <p:tags r:id="rId133"/>
                </p:custDataLst>
              </p:nvPr>
            </p:nvSpPr>
            <p:spPr>
              <a:xfrm>
                <a:off x="4306361"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78" name="Oval 125"/>
              <p:cNvSpPr>
                <a:spLocks noChangeArrowheads="1"/>
              </p:cNvSpPr>
              <p:nvPr>
                <p:custDataLst>
                  <p:tags r:id="rId134"/>
                </p:custDataLst>
              </p:nvPr>
            </p:nvSpPr>
            <p:spPr>
              <a:xfrm>
                <a:off x="4471493"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79" name="Oval 126"/>
              <p:cNvSpPr>
                <a:spLocks noChangeArrowheads="1"/>
              </p:cNvSpPr>
              <p:nvPr>
                <p:custDataLst>
                  <p:tags r:id="rId135"/>
                </p:custDataLst>
              </p:nvPr>
            </p:nvSpPr>
            <p:spPr>
              <a:xfrm>
                <a:off x="4471493"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0" name="Oval 127"/>
              <p:cNvSpPr>
                <a:spLocks noChangeArrowheads="1"/>
              </p:cNvSpPr>
              <p:nvPr>
                <p:custDataLst>
                  <p:tags r:id="rId136"/>
                </p:custDataLst>
              </p:nvPr>
            </p:nvSpPr>
            <p:spPr>
              <a:xfrm>
                <a:off x="2156007"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1" name="Oval 128"/>
              <p:cNvSpPr>
                <a:spLocks noChangeArrowheads="1"/>
              </p:cNvSpPr>
              <p:nvPr>
                <p:custDataLst>
                  <p:tags r:id="rId137"/>
                </p:custDataLst>
              </p:nvPr>
            </p:nvSpPr>
            <p:spPr>
              <a:xfrm>
                <a:off x="2156007"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2" name="Oval 129"/>
              <p:cNvSpPr>
                <a:spLocks noChangeArrowheads="1"/>
              </p:cNvSpPr>
              <p:nvPr>
                <p:custDataLst>
                  <p:tags r:id="rId138"/>
                </p:custDataLst>
              </p:nvPr>
            </p:nvSpPr>
            <p:spPr>
              <a:xfrm>
                <a:off x="2156007"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3" name="Oval 130"/>
              <p:cNvSpPr>
                <a:spLocks noChangeArrowheads="1"/>
              </p:cNvSpPr>
              <p:nvPr>
                <p:custDataLst>
                  <p:tags r:id="rId139"/>
                </p:custDataLst>
              </p:nvPr>
            </p:nvSpPr>
            <p:spPr>
              <a:xfrm>
                <a:off x="2156007"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4" name="Oval 131"/>
              <p:cNvSpPr>
                <a:spLocks noChangeArrowheads="1"/>
              </p:cNvSpPr>
              <p:nvPr>
                <p:custDataLst>
                  <p:tags r:id="rId140"/>
                </p:custDataLst>
              </p:nvPr>
            </p:nvSpPr>
            <p:spPr>
              <a:xfrm>
                <a:off x="2156007"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5" name="Oval 132"/>
              <p:cNvSpPr>
                <a:spLocks noChangeArrowheads="1"/>
              </p:cNvSpPr>
              <p:nvPr>
                <p:custDataLst>
                  <p:tags r:id="rId141"/>
                </p:custDataLst>
              </p:nvPr>
            </p:nvSpPr>
            <p:spPr>
              <a:xfrm>
                <a:off x="2321139"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6" name="Oval 133"/>
              <p:cNvSpPr>
                <a:spLocks noChangeArrowheads="1"/>
              </p:cNvSpPr>
              <p:nvPr>
                <p:custDataLst>
                  <p:tags r:id="rId142"/>
                </p:custDataLst>
              </p:nvPr>
            </p:nvSpPr>
            <p:spPr>
              <a:xfrm>
                <a:off x="2321139"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7" name="Oval 134"/>
              <p:cNvSpPr>
                <a:spLocks noChangeArrowheads="1"/>
              </p:cNvSpPr>
              <p:nvPr>
                <p:custDataLst>
                  <p:tags r:id="rId143"/>
                </p:custDataLst>
              </p:nvPr>
            </p:nvSpPr>
            <p:spPr>
              <a:xfrm>
                <a:off x="2321139"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8" name="Oval 135"/>
              <p:cNvSpPr>
                <a:spLocks noChangeArrowheads="1"/>
              </p:cNvSpPr>
              <p:nvPr>
                <p:custDataLst>
                  <p:tags r:id="rId144"/>
                </p:custDataLst>
              </p:nvPr>
            </p:nvSpPr>
            <p:spPr>
              <a:xfrm>
                <a:off x="2321139"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9" name="Oval 136"/>
              <p:cNvSpPr>
                <a:spLocks noChangeArrowheads="1"/>
              </p:cNvSpPr>
              <p:nvPr>
                <p:custDataLst>
                  <p:tags r:id="rId145"/>
                </p:custDataLst>
              </p:nvPr>
            </p:nvSpPr>
            <p:spPr>
              <a:xfrm>
                <a:off x="2321139"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0" name="Oval 137"/>
              <p:cNvSpPr>
                <a:spLocks noChangeArrowheads="1"/>
              </p:cNvSpPr>
              <p:nvPr>
                <p:custDataLst>
                  <p:tags r:id="rId146"/>
                </p:custDataLst>
              </p:nvPr>
            </p:nvSpPr>
            <p:spPr>
              <a:xfrm>
                <a:off x="2487485" y="2893906"/>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1" name="Oval 138"/>
              <p:cNvSpPr>
                <a:spLocks noChangeArrowheads="1"/>
              </p:cNvSpPr>
              <p:nvPr>
                <p:custDataLst>
                  <p:tags r:id="rId147"/>
                </p:custDataLst>
              </p:nvPr>
            </p:nvSpPr>
            <p:spPr>
              <a:xfrm>
                <a:off x="2487485" y="3060252"/>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2" name="Oval 139"/>
              <p:cNvSpPr>
                <a:spLocks noChangeArrowheads="1"/>
              </p:cNvSpPr>
              <p:nvPr>
                <p:custDataLst>
                  <p:tags r:id="rId148"/>
                </p:custDataLst>
              </p:nvPr>
            </p:nvSpPr>
            <p:spPr>
              <a:xfrm>
                <a:off x="2487485" y="3225383"/>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3" name="Oval 140"/>
              <p:cNvSpPr>
                <a:spLocks noChangeArrowheads="1"/>
              </p:cNvSpPr>
              <p:nvPr>
                <p:custDataLst>
                  <p:tags r:id="rId149"/>
                </p:custDataLst>
              </p:nvPr>
            </p:nvSpPr>
            <p:spPr>
              <a:xfrm>
                <a:off x="2487485" y="3391729"/>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4" name="Oval 141"/>
              <p:cNvSpPr>
                <a:spLocks noChangeArrowheads="1"/>
              </p:cNvSpPr>
              <p:nvPr>
                <p:custDataLst>
                  <p:tags r:id="rId150"/>
                </p:custDataLst>
              </p:nvPr>
            </p:nvSpPr>
            <p:spPr>
              <a:xfrm>
                <a:off x="2487485" y="3556861"/>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5" name="Oval 142"/>
              <p:cNvSpPr>
                <a:spLocks noChangeArrowheads="1"/>
              </p:cNvSpPr>
              <p:nvPr>
                <p:custDataLst>
                  <p:tags r:id="rId151"/>
                </p:custDataLst>
              </p:nvPr>
            </p:nvSpPr>
            <p:spPr>
              <a:xfrm>
                <a:off x="2652616"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6" name="Oval 143"/>
              <p:cNvSpPr>
                <a:spLocks noChangeArrowheads="1"/>
              </p:cNvSpPr>
              <p:nvPr>
                <p:custDataLst>
                  <p:tags r:id="rId152"/>
                </p:custDataLst>
              </p:nvPr>
            </p:nvSpPr>
            <p:spPr>
              <a:xfrm>
                <a:off x="2652616"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7" name="Oval 144"/>
              <p:cNvSpPr>
                <a:spLocks noChangeArrowheads="1"/>
              </p:cNvSpPr>
              <p:nvPr>
                <p:custDataLst>
                  <p:tags r:id="rId153"/>
                </p:custDataLst>
              </p:nvPr>
            </p:nvSpPr>
            <p:spPr>
              <a:xfrm>
                <a:off x="2652616"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8" name="Oval 145"/>
              <p:cNvSpPr>
                <a:spLocks noChangeArrowheads="1"/>
              </p:cNvSpPr>
              <p:nvPr>
                <p:custDataLst>
                  <p:tags r:id="rId154"/>
                </p:custDataLst>
              </p:nvPr>
            </p:nvSpPr>
            <p:spPr>
              <a:xfrm>
                <a:off x="2652616"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9" name="Oval 146"/>
              <p:cNvSpPr>
                <a:spLocks noChangeArrowheads="1"/>
              </p:cNvSpPr>
              <p:nvPr>
                <p:custDataLst>
                  <p:tags r:id="rId155"/>
                </p:custDataLst>
              </p:nvPr>
            </p:nvSpPr>
            <p:spPr>
              <a:xfrm>
                <a:off x="2652616"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00" name="Oval 147"/>
              <p:cNvSpPr>
                <a:spLocks noChangeArrowheads="1"/>
              </p:cNvSpPr>
              <p:nvPr>
                <p:custDataLst>
                  <p:tags r:id="rId156"/>
                </p:custDataLst>
              </p:nvPr>
            </p:nvSpPr>
            <p:spPr>
              <a:xfrm>
                <a:off x="2817748"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01" name="Oval 148"/>
              <p:cNvSpPr>
                <a:spLocks noChangeArrowheads="1"/>
              </p:cNvSpPr>
              <p:nvPr>
                <p:custDataLst>
                  <p:tags r:id="rId157"/>
                </p:custDataLst>
              </p:nvPr>
            </p:nvSpPr>
            <p:spPr>
              <a:xfrm>
                <a:off x="2817748"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02" name="Oval 149"/>
              <p:cNvSpPr>
                <a:spLocks noChangeArrowheads="1"/>
              </p:cNvSpPr>
              <p:nvPr>
                <p:custDataLst>
                  <p:tags r:id="rId158"/>
                </p:custDataLst>
              </p:nvPr>
            </p:nvSpPr>
            <p:spPr>
              <a:xfrm>
                <a:off x="2817748"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03" name="Oval 150"/>
              <p:cNvSpPr>
                <a:spLocks noChangeArrowheads="1"/>
              </p:cNvSpPr>
              <p:nvPr>
                <p:custDataLst>
                  <p:tags r:id="rId159"/>
                </p:custDataLst>
              </p:nvPr>
            </p:nvSpPr>
            <p:spPr>
              <a:xfrm>
                <a:off x="2817748"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04" name="Oval 151"/>
              <p:cNvSpPr>
                <a:spLocks noChangeArrowheads="1"/>
              </p:cNvSpPr>
              <p:nvPr>
                <p:custDataLst>
                  <p:tags r:id="rId160"/>
                </p:custDataLst>
              </p:nvPr>
            </p:nvSpPr>
            <p:spPr>
              <a:xfrm>
                <a:off x="2817748"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05" name="Oval 152"/>
              <p:cNvSpPr>
                <a:spLocks noChangeArrowheads="1"/>
              </p:cNvSpPr>
              <p:nvPr>
                <p:custDataLst>
                  <p:tags r:id="rId161"/>
                </p:custDataLst>
              </p:nvPr>
            </p:nvSpPr>
            <p:spPr>
              <a:xfrm>
                <a:off x="2982880"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06" name="Oval 153"/>
              <p:cNvSpPr>
                <a:spLocks noChangeArrowheads="1"/>
              </p:cNvSpPr>
              <p:nvPr>
                <p:custDataLst>
                  <p:tags r:id="rId162"/>
                </p:custDataLst>
              </p:nvPr>
            </p:nvSpPr>
            <p:spPr>
              <a:xfrm>
                <a:off x="2982880"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07" name="Oval 154"/>
              <p:cNvSpPr>
                <a:spLocks noChangeArrowheads="1"/>
              </p:cNvSpPr>
              <p:nvPr>
                <p:custDataLst>
                  <p:tags r:id="rId163"/>
                </p:custDataLst>
              </p:nvPr>
            </p:nvSpPr>
            <p:spPr>
              <a:xfrm>
                <a:off x="2982880"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08" name="Oval 155"/>
              <p:cNvSpPr>
                <a:spLocks noChangeArrowheads="1"/>
              </p:cNvSpPr>
              <p:nvPr>
                <p:custDataLst>
                  <p:tags r:id="rId164"/>
                </p:custDataLst>
              </p:nvPr>
            </p:nvSpPr>
            <p:spPr>
              <a:xfrm>
                <a:off x="2982880"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09" name="Oval 156"/>
              <p:cNvSpPr>
                <a:spLocks noChangeArrowheads="1"/>
              </p:cNvSpPr>
              <p:nvPr>
                <p:custDataLst>
                  <p:tags r:id="rId165"/>
                </p:custDataLst>
              </p:nvPr>
            </p:nvSpPr>
            <p:spPr>
              <a:xfrm>
                <a:off x="2982880"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0" name="Oval 157"/>
              <p:cNvSpPr>
                <a:spLocks noChangeArrowheads="1"/>
              </p:cNvSpPr>
              <p:nvPr>
                <p:custDataLst>
                  <p:tags r:id="rId166"/>
                </p:custDataLst>
              </p:nvPr>
            </p:nvSpPr>
            <p:spPr>
              <a:xfrm>
                <a:off x="3148011" y="2893906"/>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1" name="Oval 158"/>
              <p:cNvSpPr>
                <a:spLocks noChangeArrowheads="1"/>
              </p:cNvSpPr>
              <p:nvPr>
                <p:custDataLst>
                  <p:tags r:id="rId167"/>
                </p:custDataLst>
              </p:nvPr>
            </p:nvSpPr>
            <p:spPr>
              <a:xfrm>
                <a:off x="3148011" y="3060252"/>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2" name="Oval 159"/>
              <p:cNvSpPr>
                <a:spLocks noChangeArrowheads="1"/>
              </p:cNvSpPr>
              <p:nvPr>
                <p:custDataLst>
                  <p:tags r:id="rId168"/>
                </p:custDataLst>
              </p:nvPr>
            </p:nvSpPr>
            <p:spPr>
              <a:xfrm>
                <a:off x="3148011" y="3225383"/>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3" name="Oval 160"/>
              <p:cNvSpPr>
                <a:spLocks noChangeArrowheads="1"/>
              </p:cNvSpPr>
              <p:nvPr>
                <p:custDataLst>
                  <p:tags r:id="rId169"/>
                </p:custDataLst>
              </p:nvPr>
            </p:nvSpPr>
            <p:spPr>
              <a:xfrm>
                <a:off x="3148011" y="33917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4" name="Oval 161"/>
              <p:cNvSpPr>
                <a:spLocks noChangeArrowheads="1"/>
              </p:cNvSpPr>
              <p:nvPr>
                <p:custDataLst>
                  <p:tags r:id="rId170"/>
                </p:custDataLst>
              </p:nvPr>
            </p:nvSpPr>
            <p:spPr>
              <a:xfrm>
                <a:off x="3148011" y="3556861"/>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5" name="Oval 162"/>
              <p:cNvSpPr>
                <a:spLocks noChangeArrowheads="1"/>
              </p:cNvSpPr>
              <p:nvPr>
                <p:custDataLst>
                  <p:tags r:id="rId171"/>
                </p:custDataLst>
              </p:nvPr>
            </p:nvSpPr>
            <p:spPr>
              <a:xfrm>
                <a:off x="2156007"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6" name="Oval 163"/>
              <p:cNvSpPr>
                <a:spLocks noChangeArrowheads="1"/>
              </p:cNvSpPr>
              <p:nvPr>
                <p:custDataLst>
                  <p:tags r:id="rId172"/>
                </p:custDataLst>
              </p:nvPr>
            </p:nvSpPr>
            <p:spPr>
              <a:xfrm>
                <a:off x="2156007"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7" name="Oval 164"/>
              <p:cNvSpPr>
                <a:spLocks noChangeArrowheads="1"/>
              </p:cNvSpPr>
              <p:nvPr>
                <p:custDataLst>
                  <p:tags r:id="rId173"/>
                </p:custDataLst>
              </p:nvPr>
            </p:nvSpPr>
            <p:spPr>
              <a:xfrm>
                <a:off x="2321139"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8" name="Oval 165"/>
              <p:cNvSpPr>
                <a:spLocks noChangeArrowheads="1"/>
              </p:cNvSpPr>
              <p:nvPr>
                <p:custDataLst>
                  <p:tags r:id="rId174"/>
                </p:custDataLst>
              </p:nvPr>
            </p:nvSpPr>
            <p:spPr>
              <a:xfrm>
                <a:off x="2321139"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19" name="Oval 166"/>
              <p:cNvSpPr>
                <a:spLocks noChangeArrowheads="1"/>
              </p:cNvSpPr>
              <p:nvPr>
                <p:custDataLst>
                  <p:tags r:id="rId175"/>
                </p:custDataLst>
              </p:nvPr>
            </p:nvSpPr>
            <p:spPr>
              <a:xfrm>
                <a:off x="2487485" y="2562429"/>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0" name="Oval 167"/>
              <p:cNvSpPr>
                <a:spLocks noChangeArrowheads="1"/>
              </p:cNvSpPr>
              <p:nvPr>
                <p:custDataLst>
                  <p:tags r:id="rId176"/>
                </p:custDataLst>
              </p:nvPr>
            </p:nvSpPr>
            <p:spPr>
              <a:xfrm>
                <a:off x="2487485" y="2728774"/>
                <a:ext cx="43711"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1" name="Oval 168"/>
              <p:cNvSpPr>
                <a:spLocks noChangeArrowheads="1"/>
              </p:cNvSpPr>
              <p:nvPr>
                <p:custDataLst>
                  <p:tags r:id="rId177"/>
                </p:custDataLst>
              </p:nvPr>
            </p:nvSpPr>
            <p:spPr>
              <a:xfrm>
                <a:off x="2652616"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2" name="Oval 169"/>
              <p:cNvSpPr>
                <a:spLocks noChangeArrowheads="1"/>
              </p:cNvSpPr>
              <p:nvPr>
                <p:custDataLst>
                  <p:tags r:id="rId178"/>
                </p:custDataLst>
              </p:nvPr>
            </p:nvSpPr>
            <p:spPr>
              <a:xfrm>
                <a:off x="2652616"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3" name="Oval 170"/>
              <p:cNvSpPr>
                <a:spLocks noChangeArrowheads="1"/>
              </p:cNvSpPr>
              <p:nvPr>
                <p:custDataLst>
                  <p:tags r:id="rId179"/>
                </p:custDataLst>
              </p:nvPr>
            </p:nvSpPr>
            <p:spPr>
              <a:xfrm>
                <a:off x="2817748"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4" name="Oval 171"/>
              <p:cNvSpPr>
                <a:spLocks noChangeArrowheads="1"/>
              </p:cNvSpPr>
              <p:nvPr>
                <p:custDataLst>
                  <p:tags r:id="rId180"/>
                </p:custDataLst>
              </p:nvPr>
            </p:nvSpPr>
            <p:spPr>
              <a:xfrm>
                <a:off x="2817748"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5" name="Oval 172"/>
              <p:cNvSpPr>
                <a:spLocks noChangeArrowheads="1"/>
              </p:cNvSpPr>
              <p:nvPr>
                <p:custDataLst>
                  <p:tags r:id="rId181"/>
                </p:custDataLst>
              </p:nvPr>
            </p:nvSpPr>
            <p:spPr>
              <a:xfrm>
                <a:off x="2982880"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6" name="Oval 173"/>
              <p:cNvSpPr>
                <a:spLocks noChangeArrowheads="1"/>
              </p:cNvSpPr>
              <p:nvPr>
                <p:custDataLst>
                  <p:tags r:id="rId182"/>
                </p:custDataLst>
              </p:nvPr>
            </p:nvSpPr>
            <p:spPr>
              <a:xfrm>
                <a:off x="2982880"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7" name="Oval 174"/>
              <p:cNvSpPr>
                <a:spLocks noChangeArrowheads="1"/>
              </p:cNvSpPr>
              <p:nvPr>
                <p:custDataLst>
                  <p:tags r:id="rId183"/>
                </p:custDataLst>
              </p:nvPr>
            </p:nvSpPr>
            <p:spPr>
              <a:xfrm>
                <a:off x="3148011"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8" name="Oval 175"/>
              <p:cNvSpPr>
                <a:spLocks noChangeArrowheads="1"/>
              </p:cNvSpPr>
              <p:nvPr>
                <p:custDataLst>
                  <p:tags r:id="rId184"/>
                </p:custDataLst>
              </p:nvPr>
            </p:nvSpPr>
            <p:spPr>
              <a:xfrm>
                <a:off x="3148011"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29" name="Oval 176"/>
              <p:cNvSpPr>
                <a:spLocks noChangeArrowheads="1"/>
              </p:cNvSpPr>
              <p:nvPr>
                <p:custDataLst>
                  <p:tags r:id="rId185"/>
                </p:custDataLst>
              </p:nvPr>
            </p:nvSpPr>
            <p:spPr>
              <a:xfrm>
                <a:off x="4636624"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30" name="Oval 177"/>
              <p:cNvSpPr>
                <a:spLocks noChangeArrowheads="1"/>
              </p:cNvSpPr>
              <p:nvPr>
                <p:custDataLst>
                  <p:tags r:id="rId186"/>
                </p:custDataLst>
              </p:nvPr>
            </p:nvSpPr>
            <p:spPr>
              <a:xfrm>
                <a:off x="4636624"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31" name="Oval 178"/>
              <p:cNvSpPr>
                <a:spLocks noChangeArrowheads="1"/>
              </p:cNvSpPr>
              <p:nvPr>
                <p:custDataLst>
                  <p:tags r:id="rId187"/>
                </p:custDataLst>
              </p:nvPr>
            </p:nvSpPr>
            <p:spPr>
              <a:xfrm>
                <a:off x="4801756"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32" name="Oval 179"/>
              <p:cNvSpPr>
                <a:spLocks noChangeArrowheads="1"/>
              </p:cNvSpPr>
              <p:nvPr>
                <p:custDataLst>
                  <p:tags r:id="rId188"/>
                </p:custDataLst>
              </p:nvPr>
            </p:nvSpPr>
            <p:spPr>
              <a:xfrm>
                <a:off x="4801756"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33" name="Oval 180"/>
              <p:cNvSpPr>
                <a:spLocks noChangeArrowheads="1"/>
              </p:cNvSpPr>
              <p:nvPr>
                <p:custDataLst>
                  <p:tags r:id="rId189"/>
                </p:custDataLst>
              </p:nvPr>
            </p:nvSpPr>
            <p:spPr>
              <a:xfrm>
                <a:off x="4966887"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34" name="Oval 181"/>
              <p:cNvSpPr>
                <a:spLocks noChangeArrowheads="1"/>
              </p:cNvSpPr>
              <p:nvPr>
                <p:custDataLst>
                  <p:tags r:id="rId190"/>
                </p:custDataLst>
              </p:nvPr>
            </p:nvSpPr>
            <p:spPr>
              <a:xfrm>
                <a:off x="4966887"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35" name="Oval 182"/>
              <p:cNvSpPr>
                <a:spLocks noChangeArrowheads="1"/>
              </p:cNvSpPr>
              <p:nvPr>
                <p:custDataLst>
                  <p:tags r:id="rId191"/>
                </p:custDataLst>
              </p:nvPr>
            </p:nvSpPr>
            <p:spPr>
              <a:xfrm>
                <a:off x="5133233"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36" name="Oval 183"/>
              <p:cNvSpPr>
                <a:spLocks noChangeArrowheads="1"/>
              </p:cNvSpPr>
              <p:nvPr>
                <p:custDataLst>
                  <p:tags r:id="rId192"/>
                </p:custDataLst>
              </p:nvPr>
            </p:nvSpPr>
            <p:spPr>
              <a:xfrm>
                <a:off x="5133233"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37" name="Oval 184"/>
              <p:cNvSpPr>
                <a:spLocks noChangeArrowheads="1"/>
              </p:cNvSpPr>
              <p:nvPr>
                <p:custDataLst>
                  <p:tags r:id="rId193"/>
                </p:custDataLst>
              </p:nvPr>
            </p:nvSpPr>
            <p:spPr>
              <a:xfrm>
                <a:off x="5298365"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38" name="Oval 185"/>
              <p:cNvSpPr>
                <a:spLocks noChangeArrowheads="1"/>
              </p:cNvSpPr>
              <p:nvPr>
                <p:custDataLst>
                  <p:tags r:id="rId194"/>
                </p:custDataLst>
              </p:nvPr>
            </p:nvSpPr>
            <p:spPr>
              <a:xfrm>
                <a:off x="5298365"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39" name="Oval 186"/>
              <p:cNvSpPr>
                <a:spLocks noChangeArrowheads="1"/>
              </p:cNvSpPr>
              <p:nvPr>
                <p:custDataLst>
                  <p:tags r:id="rId195"/>
                </p:custDataLst>
              </p:nvPr>
            </p:nvSpPr>
            <p:spPr>
              <a:xfrm>
                <a:off x="5463496"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0" name="Oval 187"/>
              <p:cNvSpPr>
                <a:spLocks noChangeArrowheads="1"/>
              </p:cNvSpPr>
              <p:nvPr>
                <p:custDataLst>
                  <p:tags r:id="rId196"/>
                </p:custDataLst>
              </p:nvPr>
            </p:nvSpPr>
            <p:spPr>
              <a:xfrm>
                <a:off x="5463496"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1" name="Oval 188"/>
              <p:cNvSpPr>
                <a:spLocks noChangeArrowheads="1"/>
              </p:cNvSpPr>
              <p:nvPr>
                <p:custDataLst>
                  <p:tags r:id="rId197"/>
                </p:custDataLst>
              </p:nvPr>
            </p:nvSpPr>
            <p:spPr>
              <a:xfrm>
                <a:off x="5628628"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2" name="Oval 189"/>
              <p:cNvSpPr>
                <a:spLocks noChangeArrowheads="1"/>
              </p:cNvSpPr>
              <p:nvPr>
                <p:custDataLst>
                  <p:tags r:id="rId198"/>
                </p:custDataLst>
              </p:nvPr>
            </p:nvSpPr>
            <p:spPr>
              <a:xfrm>
                <a:off x="5628628"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3" name="Oval 190"/>
              <p:cNvSpPr>
                <a:spLocks noChangeArrowheads="1"/>
              </p:cNvSpPr>
              <p:nvPr>
                <p:custDataLst>
                  <p:tags r:id="rId199"/>
                </p:custDataLst>
              </p:nvPr>
            </p:nvSpPr>
            <p:spPr>
              <a:xfrm>
                <a:off x="5793760" y="2562429"/>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4" name="Oval 191"/>
              <p:cNvSpPr>
                <a:spLocks noChangeArrowheads="1"/>
              </p:cNvSpPr>
              <p:nvPr>
                <p:custDataLst>
                  <p:tags r:id="rId200"/>
                </p:custDataLst>
              </p:nvPr>
            </p:nvSpPr>
            <p:spPr>
              <a:xfrm>
                <a:off x="5793760" y="2728774"/>
                <a:ext cx="44926" cy="44926"/>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63" name="Oval 210"/>
              <p:cNvSpPr>
                <a:spLocks noChangeArrowheads="1"/>
              </p:cNvSpPr>
              <p:nvPr>
                <p:custDataLst>
                  <p:tags r:id="rId201"/>
                </p:custDataLst>
              </p:nvPr>
            </p:nvSpPr>
            <p:spPr>
              <a:xfrm>
                <a:off x="2912456" y="2425224"/>
                <a:ext cx="174845" cy="171203"/>
              </a:xfrm>
              <a:prstGeom prst="ellipse">
                <a:avLst/>
              </a:prstGeom>
              <a:noFill/>
              <a:ln w="33338" cap="rnd">
                <a:solidFill>
                  <a:srgbClr val="2F6E27"/>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sp>
          <p:nvSpPr>
            <p:cNvPr id="367" name="Line 214"/>
            <p:cNvSpPr>
              <a:spLocks noChangeShapeType="1"/>
            </p:cNvSpPr>
            <p:nvPr>
              <p:custDataLst>
                <p:tags r:id="rId15"/>
              </p:custDataLst>
            </p:nvPr>
          </p:nvSpPr>
          <p:spPr>
            <a:xfrm>
              <a:off x="3384028" y="3967830"/>
              <a:ext cx="240158" cy="0"/>
            </a:xfrm>
            <a:prstGeom prst="line">
              <a:avLst/>
            </a:prstGeom>
            <a:noFill/>
            <a:ln w="33338"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46" name="Line 216"/>
            <p:cNvSpPr>
              <a:spLocks noChangeShapeType="1"/>
            </p:cNvSpPr>
            <p:nvPr>
              <p:custDataLst>
                <p:tags r:id="rId16"/>
              </p:custDataLst>
            </p:nvPr>
          </p:nvSpPr>
          <p:spPr>
            <a:xfrm flipV="1">
              <a:off x="7454752" y="4168094"/>
              <a:ext cx="69421" cy="68543"/>
            </a:xfrm>
            <a:prstGeom prst="line">
              <a:avLst/>
            </a:prstGeom>
            <a:noFill/>
            <a:ln w="33338" cap="rnd">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nvGrpSpPr>
            <p:cNvPr id="371" name="组合 370"/>
            <p:cNvGrpSpPr/>
            <p:nvPr/>
          </p:nvGrpSpPr>
          <p:grpSpPr>
            <a:xfrm>
              <a:off x="3725140" y="3551253"/>
              <a:ext cx="434659" cy="485175"/>
              <a:chOff x="1620195" y="3558680"/>
              <a:chExt cx="597737" cy="667206"/>
            </a:xfrm>
          </p:grpSpPr>
          <p:sp>
            <p:nvSpPr>
              <p:cNvPr id="345" name="Freeform 192"/>
              <p:cNvSpPr/>
              <p:nvPr>
                <p:custDataLst>
                  <p:tags r:id="rId36"/>
                </p:custDataLst>
              </p:nvPr>
            </p:nvSpPr>
            <p:spPr>
              <a:xfrm>
                <a:off x="1932594" y="4133607"/>
                <a:ext cx="285338" cy="92279"/>
              </a:xfrm>
              <a:custGeom>
                <a:avLst/>
                <a:gdLst>
                  <a:gd name="T0" fmla="*/ 235 w 235"/>
                  <a:gd name="T1" fmla="*/ 76 h 76"/>
                  <a:gd name="T2" fmla="*/ 78 w 235"/>
                  <a:gd name="T3" fmla="*/ 76 h 76"/>
                  <a:gd name="T4" fmla="*/ 0 w 235"/>
                  <a:gd name="T5" fmla="*/ 0 h 76"/>
                  <a:gd name="T6" fmla="*/ 156 w 235"/>
                  <a:gd name="T7" fmla="*/ 0 h 76"/>
                  <a:gd name="T8" fmla="*/ 235 w 235"/>
                  <a:gd name="T9" fmla="*/ 76 h 76"/>
                </a:gdLst>
                <a:ahLst/>
                <a:cxnLst>
                  <a:cxn ang="0">
                    <a:pos x="T0" y="T1"/>
                  </a:cxn>
                  <a:cxn ang="0">
                    <a:pos x="T2" y="T3"/>
                  </a:cxn>
                  <a:cxn ang="0">
                    <a:pos x="T4" y="T5"/>
                  </a:cxn>
                  <a:cxn ang="0">
                    <a:pos x="T6" y="T7"/>
                  </a:cxn>
                  <a:cxn ang="0">
                    <a:pos x="T8" y="T9"/>
                  </a:cxn>
                </a:cxnLst>
                <a:rect l="0" t="0" r="r" b="b"/>
                <a:pathLst>
                  <a:path w="235" h="76">
                    <a:moveTo>
                      <a:pt x="235" y="76"/>
                    </a:moveTo>
                    <a:lnTo>
                      <a:pt x="78" y="76"/>
                    </a:lnTo>
                    <a:lnTo>
                      <a:pt x="0" y="0"/>
                    </a:lnTo>
                    <a:lnTo>
                      <a:pt x="156" y="0"/>
                    </a:lnTo>
                    <a:lnTo>
                      <a:pt x="235" y="76"/>
                    </a:lnTo>
                    <a:close/>
                  </a:path>
                </a:pathLst>
              </a:custGeom>
              <a:solidFill>
                <a:srgbClr val="2F6E27"/>
              </a:solidFill>
              <a:ln w="22225" cap="rnd">
                <a:solidFill>
                  <a:srgbClr val="000000"/>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6" name="Freeform 193"/>
              <p:cNvSpPr/>
              <p:nvPr>
                <p:custDataLst>
                  <p:tags r:id="rId37"/>
                </p:custDataLst>
              </p:nvPr>
            </p:nvSpPr>
            <p:spPr>
              <a:xfrm>
                <a:off x="2122010" y="3941763"/>
                <a:ext cx="95922" cy="284123"/>
              </a:xfrm>
              <a:custGeom>
                <a:avLst/>
                <a:gdLst>
                  <a:gd name="T0" fmla="*/ 79 w 79"/>
                  <a:gd name="T1" fmla="*/ 79 h 234"/>
                  <a:gd name="T2" fmla="*/ 79 w 79"/>
                  <a:gd name="T3" fmla="*/ 234 h 234"/>
                  <a:gd name="T4" fmla="*/ 0 w 79"/>
                  <a:gd name="T5" fmla="*/ 158 h 234"/>
                  <a:gd name="T6" fmla="*/ 0 w 79"/>
                  <a:gd name="T7" fmla="*/ 0 h 234"/>
                  <a:gd name="T8" fmla="*/ 79 w 79"/>
                  <a:gd name="T9" fmla="*/ 79 h 234"/>
                </a:gdLst>
                <a:ahLst/>
                <a:cxnLst>
                  <a:cxn ang="0">
                    <a:pos x="T0" y="T1"/>
                  </a:cxn>
                  <a:cxn ang="0">
                    <a:pos x="T2" y="T3"/>
                  </a:cxn>
                  <a:cxn ang="0">
                    <a:pos x="T4" y="T5"/>
                  </a:cxn>
                  <a:cxn ang="0">
                    <a:pos x="T6" y="T7"/>
                  </a:cxn>
                  <a:cxn ang="0">
                    <a:pos x="T8" y="T9"/>
                  </a:cxn>
                </a:cxnLst>
                <a:rect l="0" t="0" r="r" b="b"/>
                <a:pathLst>
                  <a:path w="79" h="234">
                    <a:moveTo>
                      <a:pt x="79" y="79"/>
                    </a:moveTo>
                    <a:lnTo>
                      <a:pt x="79" y="234"/>
                    </a:lnTo>
                    <a:lnTo>
                      <a:pt x="0" y="158"/>
                    </a:lnTo>
                    <a:lnTo>
                      <a:pt x="0" y="0"/>
                    </a:lnTo>
                    <a:lnTo>
                      <a:pt x="79" y="79"/>
                    </a:lnTo>
                    <a:close/>
                  </a:path>
                </a:pathLst>
              </a:custGeom>
              <a:solidFill>
                <a:srgbClr val="2F6E27"/>
              </a:solidFill>
              <a:ln w="22225" cap="rnd">
                <a:solidFill>
                  <a:srgbClr val="000000"/>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47" name="Rectangle 194"/>
              <p:cNvSpPr>
                <a:spLocks noChangeArrowheads="1"/>
              </p:cNvSpPr>
              <p:nvPr>
                <p:custDataLst>
                  <p:tags r:id="rId38"/>
                </p:custDataLst>
              </p:nvPr>
            </p:nvSpPr>
            <p:spPr>
              <a:xfrm>
                <a:off x="1932594" y="3941763"/>
                <a:ext cx="189416" cy="191844"/>
              </a:xfrm>
              <a:prstGeom prst="rect">
                <a:avLst/>
              </a:prstGeom>
              <a:solidFill>
                <a:srgbClr val="2F6E27"/>
              </a:solidFill>
              <a:ln w="22225" cap="rnd">
                <a:solidFill>
                  <a:srgbClr val="000000"/>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47" name="Line 217"/>
              <p:cNvSpPr>
                <a:spLocks noChangeShapeType="1"/>
              </p:cNvSpPr>
              <p:nvPr>
                <p:custDataLst>
                  <p:tags r:id="rId39"/>
                </p:custDataLst>
              </p:nvPr>
            </p:nvSpPr>
            <p:spPr>
              <a:xfrm flipV="1">
                <a:off x="1620195" y="3558680"/>
                <a:ext cx="94260" cy="94260"/>
              </a:xfrm>
              <a:prstGeom prst="line">
                <a:avLst/>
              </a:prstGeom>
              <a:noFill/>
              <a:ln w="33338" cap="rnd">
                <a:solidFill>
                  <a:srgbClr val="2F6E27"/>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368" name="组合 367"/>
            <p:cNvGrpSpPr/>
            <p:nvPr/>
          </p:nvGrpSpPr>
          <p:grpSpPr>
            <a:xfrm>
              <a:off x="7631862" y="3721379"/>
              <a:ext cx="297899" cy="298778"/>
              <a:chOff x="10468526" y="4231791"/>
              <a:chExt cx="409667" cy="410876"/>
            </a:xfrm>
          </p:grpSpPr>
          <p:sp>
            <p:nvSpPr>
              <p:cNvPr id="149" name="Freeform 219"/>
              <p:cNvSpPr/>
              <p:nvPr>
                <p:custDataLst>
                  <p:tags r:id="rId33"/>
                </p:custDataLst>
              </p:nvPr>
            </p:nvSpPr>
            <p:spPr>
              <a:xfrm>
                <a:off x="10468526" y="4422727"/>
                <a:ext cx="409667" cy="219939"/>
              </a:xfrm>
              <a:custGeom>
                <a:avLst/>
                <a:gdLst>
                  <a:gd name="T0" fmla="*/ 339 w 339"/>
                  <a:gd name="T1" fmla="*/ 182 h 182"/>
                  <a:gd name="T2" fmla="*/ 182 w 339"/>
                  <a:gd name="T3" fmla="*/ 182 h 182"/>
                  <a:gd name="T4" fmla="*/ 0 w 339"/>
                  <a:gd name="T5" fmla="*/ 0 h 182"/>
                  <a:gd name="T6" fmla="*/ 157 w 339"/>
                  <a:gd name="T7" fmla="*/ 0 h 182"/>
                  <a:gd name="T8" fmla="*/ 339 w 339"/>
                  <a:gd name="T9" fmla="*/ 182 h 182"/>
                </a:gdLst>
                <a:ahLst/>
                <a:cxnLst>
                  <a:cxn ang="0">
                    <a:pos x="T0" y="T1"/>
                  </a:cxn>
                  <a:cxn ang="0">
                    <a:pos x="T2" y="T3"/>
                  </a:cxn>
                  <a:cxn ang="0">
                    <a:pos x="T4" y="T5"/>
                  </a:cxn>
                  <a:cxn ang="0">
                    <a:pos x="T6" y="T7"/>
                  </a:cxn>
                  <a:cxn ang="0">
                    <a:pos x="T8" y="T9"/>
                  </a:cxn>
                </a:cxnLst>
                <a:rect l="0" t="0" r="r" b="b"/>
                <a:pathLst>
                  <a:path w="339" h="182">
                    <a:moveTo>
                      <a:pt x="339" y="182"/>
                    </a:moveTo>
                    <a:lnTo>
                      <a:pt x="182" y="182"/>
                    </a:lnTo>
                    <a:lnTo>
                      <a:pt x="0" y="0"/>
                    </a:lnTo>
                    <a:lnTo>
                      <a:pt x="157" y="0"/>
                    </a:lnTo>
                    <a:lnTo>
                      <a:pt x="339" y="182"/>
                    </a:lnTo>
                    <a:close/>
                  </a:path>
                </a:pathLst>
              </a:custGeom>
              <a:solidFill>
                <a:srgbClr val="2F6E27"/>
              </a:solidFill>
              <a:ln w="22225" cap="rnd">
                <a:solidFill>
                  <a:srgbClr val="000000"/>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50" name="Freeform 220"/>
              <p:cNvSpPr/>
              <p:nvPr>
                <p:custDataLst>
                  <p:tags r:id="rId34"/>
                </p:custDataLst>
              </p:nvPr>
            </p:nvSpPr>
            <p:spPr>
              <a:xfrm>
                <a:off x="10658254" y="4231791"/>
                <a:ext cx="219939" cy="410876"/>
              </a:xfrm>
              <a:custGeom>
                <a:avLst/>
                <a:gdLst>
                  <a:gd name="T0" fmla="*/ 182 w 182"/>
                  <a:gd name="T1" fmla="*/ 183 h 340"/>
                  <a:gd name="T2" fmla="*/ 182 w 182"/>
                  <a:gd name="T3" fmla="*/ 340 h 340"/>
                  <a:gd name="T4" fmla="*/ 0 w 182"/>
                  <a:gd name="T5" fmla="*/ 158 h 340"/>
                  <a:gd name="T6" fmla="*/ 0 w 182"/>
                  <a:gd name="T7" fmla="*/ 0 h 340"/>
                  <a:gd name="T8" fmla="*/ 182 w 182"/>
                  <a:gd name="T9" fmla="*/ 183 h 340"/>
                </a:gdLst>
                <a:ahLst/>
                <a:cxnLst>
                  <a:cxn ang="0">
                    <a:pos x="T0" y="T1"/>
                  </a:cxn>
                  <a:cxn ang="0">
                    <a:pos x="T2" y="T3"/>
                  </a:cxn>
                  <a:cxn ang="0">
                    <a:pos x="T4" y="T5"/>
                  </a:cxn>
                  <a:cxn ang="0">
                    <a:pos x="T6" y="T7"/>
                  </a:cxn>
                  <a:cxn ang="0">
                    <a:pos x="T8" y="T9"/>
                  </a:cxn>
                </a:cxnLst>
                <a:rect l="0" t="0" r="r" b="b"/>
                <a:pathLst>
                  <a:path w="182" h="340">
                    <a:moveTo>
                      <a:pt x="182" y="183"/>
                    </a:moveTo>
                    <a:lnTo>
                      <a:pt x="182" y="340"/>
                    </a:lnTo>
                    <a:lnTo>
                      <a:pt x="0" y="158"/>
                    </a:lnTo>
                    <a:lnTo>
                      <a:pt x="0" y="0"/>
                    </a:lnTo>
                    <a:lnTo>
                      <a:pt x="182" y="183"/>
                    </a:lnTo>
                    <a:close/>
                  </a:path>
                </a:pathLst>
              </a:custGeom>
              <a:solidFill>
                <a:srgbClr val="2F6E27"/>
              </a:solidFill>
              <a:ln w="22225" cap="rnd">
                <a:solidFill>
                  <a:srgbClr val="000000"/>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51" name="Rectangle 221"/>
              <p:cNvSpPr>
                <a:spLocks noChangeArrowheads="1"/>
              </p:cNvSpPr>
              <p:nvPr>
                <p:custDataLst>
                  <p:tags r:id="rId35"/>
                </p:custDataLst>
              </p:nvPr>
            </p:nvSpPr>
            <p:spPr>
              <a:xfrm>
                <a:off x="10468526" y="4231791"/>
                <a:ext cx="189728" cy="190936"/>
              </a:xfrm>
              <a:prstGeom prst="rect">
                <a:avLst/>
              </a:prstGeom>
              <a:solidFill>
                <a:srgbClr val="2F6E27"/>
              </a:solidFill>
              <a:ln w="22225" cap="rnd">
                <a:solidFill>
                  <a:srgbClr val="000000"/>
                </a:soli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sp>
          <p:nvSpPr>
            <p:cNvPr id="152" name="Oval 222"/>
            <p:cNvSpPr>
              <a:spLocks noChangeArrowheads="1"/>
            </p:cNvSpPr>
            <p:nvPr>
              <p:custDataLst>
                <p:tags r:id="rId17"/>
              </p:custDataLst>
            </p:nvPr>
          </p:nvSpPr>
          <p:spPr>
            <a:xfrm>
              <a:off x="5558389"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53" name="Oval 223"/>
            <p:cNvSpPr>
              <a:spLocks noChangeArrowheads="1"/>
            </p:cNvSpPr>
            <p:nvPr>
              <p:custDataLst>
                <p:tags r:id="rId18"/>
              </p:custDataLst>
            </p:nvPr>
          </p:nvSpPr>
          <p:spPr>
            <a:xfrm>
              <a:off x="5677900"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54" name="Oval 224"/>
            <p:cNvSpPr>
              <a:spLocks noChangeArrowheads="1"/>
            </p:cNvSpPr>
            <p:nvPr>
              <p:custDataLst>
                <p:tags r:id="rId19"/>
              </p:custDataLst>
            </p:nvPr>
          </p:nvSpPr>
          <p:spPr>
            <a:xfrm>
              <a:off x="5797412"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55" name="Oval 225"/>
            <p:cNvSpPr>
              <a:spLocks noChangeArrowheads="1"/>
            </p:cNvSpPr>
            <p:nvPr>
              <p:custDataLst>
                <p:tags r:id="rId20"/>
              </p:custDataLst>
            </p:nvPr>
          </p:nvSpPr>
          <p:spPr>
            <a:xfrm>
              <a:off x="5916923"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56" name="Oval 226"/>
            <p:cNvSpPr>
              <a:spLocks noChangeArrowheads="1"/>
            </p:cNvSpPr>
            <p:nvPr>
              <p:custDataLst>
                <p:tags r:id="rId21"/>
              </p:custDataLst>
            </p:nvPr>
          </p:nvSpPr>
          <p:spPr>
            <a:xfrm>
              <a:off x="6037313" y="4216426"/>
              <a:ext cx="31635"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57" name="Oval 227"/>
            <p:cNvSpPr>
              <a:spLocks noChangeArrowheads="1"/>
            </p:cNvSpPr>
            <p:nvPr>
              <p:custDataLst>
                <p:tags r:id="rId22"/>
              </p:custDataLst>
            </p:nvPr>
          </p:nvSpPr>
          <p:spPr>
            <a:xfrm>
              <a:off x="6156824"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58" name="Oval 228"/>
            <p:cNvSpPr>
              <a:spLocks noChangeArrowheads="1"/>
            </p:cNvSpPr>
            <p:nvPr>
              <p:custDataLst>
                <p:tags r:id="rId23"/>
              </p:custDataLst>
            </p:nvPr>
          </p:nvSpPr>
          <p:spPr>
            <a:xfrm>
              <a:off x="6276335"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59" name="Oval 229"/>
            <p:cNvSpPr>
              <a:spLocks noChangeArrowheads="1"/>
            </p:cNvSpPr>
            <p:nvPr>
              <p:custDataLst>
                <p:tags r:id="rId24"/>
              </p:custDataLst>
            </p:nvPr>
          </p:nvSpPr>
          <p:spPr>
            <a:xfrm>
              <a:off x="6395847"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0" name="Oval 230"/>
            <p:cNvSpPr>
              <a:spLocks noChangeArrowheads="1"/>
            </p:cNvSpPr>
            <p:nvPr>
              <p:custDataLst>
                <p:tags r:id="rId25"/>
              </p:custDataLst>
            </p:nvPr>
          </p:nvSpPr>
          <p:spPr>
            <a:xfrm>
              <a:off x="6515358"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1" name="Oval 231"/>
            <p:cNvSpPr>
              <a:spLocks noChangeArrowheads="1"/>
            </p:cNvSpPr>
            <p:nvPr>
              <p:custDataLst>
                <p:tags r:id="rId26"/>
              </p:custDataLst>
            </p:nvPr>
          </p:nvSpPr>
          <p:spPr>
            <a:xfrm>
              <a:off x="6634869"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2" name="Oval 232"/>
            <p:cNvSpPr>
              <a:spLocks noChangeArrowheads="1"/>
            </p:cNvSpPr>
            <p:nvPr>
              <p:custDataLst>
                <p:tags r:id="rId27"/>
              </p:custDataLst>
            </p:nvPr>
          </p:nvSpPr>
          <p:spPr>
            <a:xfrm>
              <a:off x="6755259"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3" name="Oval 233"/>
            <p:cNvSpPr>
              <a:spLocks noChangeArrowheads="1"/>
            </p:cNvSpPr>
            <p:nvPr>
              <p:custDataLst>
                <p:tags r:id="rId28"/>
              </p:custDataLst>
            </p:nvPr>
          </p:nvSpPr>
          <p:spPr>
            <a:xfrm>
              <a:off x="6874770"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4" name="Oval 234"/>
            <p:cNvSpPr>
              <a:spLocks noChangeArrowheads="1"/>
            </p:cNvSpPr>
            <p:nvPr>
              <p:custDataLst>
                <p:tags r:id="rId29"/>
              </p:custDataLst>
            </p:nvPr>
          </p:nvSpPr>
          <p:spPr>
            <a:xfrm>
              <a:off x="6994282"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5" name="Oval 235"/>
            <p:cNvSpPr>
              <a:spLocks noChangeArrowheads="1"/>
            </p:cNvSpPr>
            <p:nvPr>
              <p:custDataLst>
                <p:tags r:id="rId30"/>
              </p:custDataLst>
            </p:nvPr>
          </p:nvSpPr>
          <p:spPr>
            <a:xfrm>
              <a:off x="7113793"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6" name="Oval 236"/>
            <p:cNvSpPr>
              <a:spLocks noChangeArrowheads="1"/>
            </p:cNvSpPr>
            <p:nvPr>
              <p:custDataLst>
                <p:tags r:id="rId31"/>
              </p:custDataLst>
            </p:nvPr>
          </p:nvSpPr>
          <p:spPr>
            <a:xfrm>
              <a:off x="7233305" y="4216426"/>
              <a:ext cx="32514" cy="3251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7" name="Freeform 237"/>
            <p:cNvSpPr/>
            <p:nvPr>
              <p:custDataLst>
                <p:tags r:id="rId32"/>
              </p:custDataLst>
            </p:nvPr>
          </p:nvSpPr>
          <p:spPr>
            <a:xfrm>
              <a:off x="7090817" y="2555807"/>
              <a:ext cx="347110" cy="24605"/>
            </a:xfrm>
            <a:custGeom>
              <a:avLst/>
              <a:gdLst>
                <a:gd name="T0" fmla="*/ 0 w 171"/>
                <a:gd name="T1" fmla="*/ 0 h 12"/>
                <a:gd name="T2" fmla="*/ 57 w 171"/>
                <a:gd name="T3" fmla="*/ 12 h 12"/>
                <a:gd name="T4" fmla="*/ 114 w 171"/>
                <a:gd name="T5" fmla="*/ 0 h 12"/>
                <a:gd name="T6" fmla="*/ 171 w 171"/>
                <a:gd name="T7" fmla="*/ 12 h 12"/>
              </a:gdLst>
              <a:ahLst/>
              <a:cxnLst>
                <a:cxn ang="0">
                  <a:pos x="T0" y="T1"/>
                </a:cxn>
                <a:cxn ang="0">
                  <a:pos x="T2" y="T3"/>
                </a:cxn>
                <a:cxn ang="0">
                  <a:pos x="T4" y="T5"/>
                </a:cxn>
                <a:cxn ang="0">
                  <a:pos x="T6" y="T7"/>
                </a:cxn>
              </a:cxnLst>
              <a:rect l="0" t="0" r="r" b="b"/>
              <a:pathLst>
                <a:path w="171" h="12">
                  <a:moveTo>
                    <a:pt x="0" y="0"/>
                  </a:moveTo>
                  <a:cubicBezTo>
                    <a:pt x="29" y="0"/>
                    <a:pt x="29" y="12"/>
                    <a:pt x="57" y="12"/>
                  </a:cubicBezTo>
                  <a:cubicBezTo>
                    <a:pt x="86" y="12"/>
                    <a:pt x="86" y="0"/>
                    <a:pt x="114" y="0"/>
                  </a:cubicBezTo>
                  <a:cubicBezTo>
                    <a:pt x="142" y="0"/>
                    <a:pt x="142" y="12"/>
                    <a:pt x="171" y="12"/>
                  </a:cubicBezTo>
                </a:path>
              </a:pathLst>
            </a:custGeom>
            <a:noFill/>
            <a:ln w="33338"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sp>
        <p:nvSpPr>
          <p:cNvPr id="125" name="文本框 124"/>
          <p:cNvSpPr txBox="1"/>
          <p:nvPr>
            <p:custDataLst>
              <p:tags r:id="rId2"/>
            </p:custDataLst>
          </p:nvPr>
        </p:nvSpPr>
        <p:spPr>
          <a:xfrm>
            <a:off x="3776345" y="2981325"/>
            <a:ext cx="3895725" cy="5835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r>
              <a:rPr lang="zh-CN" altLang="en-US" sz="3200" b="1">
                <a:solidFill>
                  <a:srgbClr val="000000"/>
                </a:solidFill>
                <a:latin typeface="宋体"/>
                <a:ea typeface="微软雅黑" panose="020B0503020204020204" charset="-122"/>
                <a:sym typeface="宋体"/>
              </a:rPr>
              <a:t>可视化与分析</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技术方案</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pic>
        <p:nvPicPr>
          <p:cNvPr id="18" name="New picture"/>
          <p:cNvPicPr/>
          <p:nvPr/>
        </p:nvPicPr>
        <p:blipFill>
          <a:blip r:embed="rId6"/>
          <a:stretch>
            <a:fillRect/>
          </a:stretch>
        </p:blipFill>
        <p:spPr>
          <a:xfrm>
            <a:off x="9746419" y="2780928"/>
            <a:ext cx="2032248" cy="2483454"/>
          </a:xfrm>
          <a:prstGeom prst="rect">
            <a:avLst/>
          </a:prstGeom>
          <a:ln>
            <a:solidFill>
              <a:srgbClr val="FFFFFF">
                <a:alpha val="0"/>
              </a:srgbClr>
            </a:solidFill>
          </a:ln>
        </p:spPr>
      </p:pic>
      <p:pic>
        <p:nvPicPr>
          <p:cNvPr id="19" name="New picture"/>
          <p:cNvPicPr/>
          <p:nvPr/>
        </p:nvPicPr>
        <p:blipFill>
          <a:blip r:embed="rId7"/>
          <a:stretch>
            <a:fillRect/>
          </a:stretch>
        </p:blipFill>
        <p:spPr>
          <a:xfrm>
            <a:off x="767408" y="2379529"/>
            <a:ext cx="2592288" cy="2784742"/>
          </a:xfrm>
          <a:prstGeom prst="rect">
            <a:avLst/>
          </a:prstGeom>
          <a:ln>
            <a:solidFill>
              <a:srgbClr val="FFFFFF">
                <a:alpha val="0"/>
              </a:srgbClr>
            </a:solidFill>
          </a:ln>
        </p:spPr>
      </p:pic>
      <p:pic>
        <p:nvPicPr>
          <p:cNvPr id="20" name="New picture"/>
          <p:cNvPicPr/>
          <p:nvPr/>
        </p:nvPicPr>
        <p:blipFill>
          <a:blip r:embed="rId8"/>
          <a:stretch>
            <a:fillRect/>
          </a:stretch>
        </p:blipFill>
        <p:spPr>
          <a:xfrm>
            <a:off x="3359696" y="3178140"/>
            <a:ext cx="2895600" cy="1930400"/>
          </a:xfrm>
          <a:prstGeom prst="rect">
            <a:avLst/>
          </a:prstGeom>
          <a:ln>
            <a:solidFill>
              <a:srgbClr val="FFFFFF">
                <a:alpha val="0"/>
              </a:srgbClr>
            </a:solidFill>
          </a:ln>
        </p:spPr>
      </p:pic>
      <p:pic>
        <p:nvPicPr>
          <p:cNvPr id="21" name="New picture"/>
          <p:cNvPicPr/>
          <p:nvPr/>
        </p:nvPicPr>
        <p:blipFill>
          <a:blip r:embed="rId9"/>
          <a:stretch>
            <a:fillRect/>
          </a:stretch>
        </p:blipFill>
        <p:spPr>
          <a:xfrm>
            <a:off x="6323186" y="2884551"/>
            <a:ext cx="3368476" cy="2223989"/>
          </a:xfrm>
          <a:prstGeom prst="rect">
            <a:avLst/>
          </a:prstGeom>
          <a:ln>
            <a:solidFill>
              <a:srgbClr val="FFFFFF">
                <a:alpha val="0"/>
              </a:srgbClr>
            </a:solidFill>
          </a:ln>
        </p:spPr>
      </p:pic>
      <p:sp>
        <p:nvSpPr>
          <p:cNvPr id="22" name="New shape"/>
          <p:cNvSpPr/>
          <p:nvPr/>
        </p:nvSpPr>
        <p:spPr>
          <a:xfrm>
            <a:off x="963588" y="1065311"/>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lang="en-US" altLang="zh-CN" sz="3700" b="1" dirty="0" err="1">
                <a:solidFill>
                  <a:srgbClr val="000000"/>
                </a:solidFill>
                <a:latin typeface="宋体"/>
              </a:rPr>
              <a:t>P</a:t>
            </a:r>
            <a:r>
              <a:rPr sz="3700" b="1" dirty="0" err="1">
                <a:solidFill>
                  <a:srgbClr val="000000"/>
                </a:solidFill>
                <a:latin typeface="宋体"/>
              </a:rPr>
              <a:t>yecharts、Matplotlib等库绘制各类图表</a:t>
            </a:r>
            <a:r>
              <a:rPr sz="3700" b="1" dirty="0">
                <a:solidFill>
                  <a:srgbClr val="000000"/>
                </a:solidFill>
                <a:latin typeface="宋体"/>
              </a:rPr>
              <a:t>，</a:t>
            </a:r>
          </a:p>
        </p:txBody>
      </p:sp>
      <p:sp>
        <p:nvSpPr>
          <p:cNvPr id="23" name="New shape"/>
          <p:cNvSpPr/>
          <p:nvPr/>
        </p:nvSpPr>
        <p:spPr>
          <a:xfrm>
            <a:off x="938064" y="1590405"/>
            <a:ext cx="9956800" cy="6858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lnSpcReduction="10000"/>
          </a:bodyPr>
          <a:lstStyle/>
          <a:p>
            <a:pPr indent="0" algn="l">
              <a:lnSpc>
                <a:spcPct val="125000"/>
              </a:lnSpc>
            </a:pPr>
            <a:r>
              <a:rPr sz="2100" b="0" dirty="0">
                <a:solidFill>
                  <a:srgbClr val="000000"/>
                </a:solidFill>
                <a:latin typeface="宋体"/>
              </a:rPr>
              <a:t>如碳排放分布、事物排放量、地区排放量趋势图等。原创工作在于设计交互式仪表板，让用户能直观探索不同维度下的数据关系和碳排放影响因素</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6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200" fill="hold"/>
                                        <p:tgtEl>
                                          <p:spTgt spid="21"/>
                                        </p:tgtEl>
                                        <p:attrNameLst>
                                          <p:attrName>ppt_w</p:attrName>
                                        </p:attrNameLst>
                                      </p:cBhvr>
                                      <p:tavLst>
                                        <p:tav tm="0">
                                          <p:val>
                                            <p:fltVal val="0"/>
                                          </p:val>
                                        </p:tav>
                                        <p:tav tm="100000">
                                          <p:val>
                                            <p:strVal val="#ppt_w"/>
                                          </p:val>
                                        </p:tav>
                                      </p:tavLst>
                                    </p:anim>
                                    <p:anim calcmode="lin" valueType="num">
                                      <p:cBhvr>
                                        <p:cTn id="23" dur="2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8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200" fill="hold"/>
                                        <p:tgtEl>
                                          <p:spTgt spid="22"/>
                                        </p:tgtEl>
                                        <p:attrNameLst>
                                          <p:attrName>ppt_w</p:attrName>
                                        </p:attrNameLst>
                                      </p:cBhvr>
                                      <p:tavLst>
                                        <p:tav tm="0">
                                          <p:val>
                                            <p:fltVal val="0"/>
                                          </p:val>
                                        </p:tav>
                                        <p:tav tm="100000">
                                          <p:val>
                                            <p:strVal val="#ppt_w"/>
                                          </p:val>
                                        </p:tav>
                                      </p:tavLst>
                                    </p:anim>
                                    <p:anim calcmode="lin" valueType="num">
                                      <p:cBhvr>
                                        <p:cTn id="28" dur="2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0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200" fill="hold"/>
                                        <p:tgtEl>
                                          <p:spTgt spid="23"/>
                                        </p:tgtEl>
                                        <p:attrNameLst>
                                          <p:attrName>ppt_w</p:attrName>
                                        </p:attrNameLst>
                                      </p:cBhvr>
                                      <p:tavLst>
                                        <p:tav tm="0">
                                          <p:val>
                                            <p:fltVal val="0"/>
                                          </p:val>
                                        </p:tav>
                                        <p:tav tm="100000">
                                          <p:val>
                                            <p:strVal val="#ppt_w"/>
                                          </p:val>
                                        </p:tav>
                                      </p:tavLst>
                                    </p:anim>
                                    <p:anim calcmode="lin" valueType="num">
                                      <p:cBhvr>
                                        <p:cTn id="33" dur="200" fill="hold"/>
                                        <p:tgtEl>
                                          <p:spTgt spid="2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8" name="New picture"/>
            <p:cNvPicPr/>
            <p:nvPr/>
          </p:nvPicPr>
          <p:blipFill>
            <a:blip r:embed="rId6"/>
            <a:stretch>
              <a:fillRect/>
            </a:stretch>
          </p:blipFill>
          <p:spPr>
            <a:xfrm>
              <a:off x="0" y="0"/>
              <a:ext cx="12192000" cy="6097721"/>
            </a:xfrm>
            <a:prstGeom prst="rect">
              <a:avLst/>
            </a:prstGeom>
            <a:ln>
              <a:noFill/>
            </a:ln>
          </p:spPr>
        </p:pic>
        <p:pic>
          <p:nvPicPr>
            <p:cNvPr id="9" name="New picture"/>
            <p:cNvPicPr/>
            <p:nvPr/>
          </p:nvPicPr>
          <p:blipFill>
            <a:blip r:embed="rId7"/>
            <a:stretch>
              <a:fillRect/>
            </a:stretch>
          </p:blipFill>
          <p:spPr>
            <a:xfrm>
              <a:off x="0" y="1693729"/>
              <a:ext cx="12192000" cy="5164271"/>
            </a:xfrm>
            <a:prstGeom prst="rect">
              <a:avLst/>
            </a:prstGeom>
            <a:ln>
              <a:noFill/>
            </a:ln>
          </p:spPr>
        </p:pic>
      </p:grpSp>
      <p:sp>
        <p:nvSpPr>
          <p:cNvPr id="10"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11"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技术方案</a:t>
            </a:r>
          </a:p>
        </p:txBody>
      </p:sp>
      <p:sp>
        <p:nvSpPr>
          <p:cNvPr id="12"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pic>
        <p:nvPicPr>
          <p:cNvPr id="5" name="图形 4"/>
          <p:cNvPicPr>
            <a:picLocks noChangeAspect="1"/>
          </p:cNvPicPr>
          <p:nvPr>
            <p:custDataLst>
              <p:tags r:id="rId2"/>
            </p:custDataLst>
          </p:nvPr>
        </p:nvPicPr>
        <p:blipFill>
          <a:blip r:embed="rId8"/>
          <a:stretch>
            <a:fillRect/>
          </a:stretch>
        </p:blipFill>
        <p:spPr>
          <a:xfrm>
            <a:off x="3060700" y="1973580"/>
            <a:ext cx="6070600" cy="2911475"/>
          </a:xfrm>
          <a:prstGeom prst="rect">
            <a:avLst/>
          </a:prstGeom>
          <a:ln>
            <a:noFill/>
          </a:ln>
        </p:spPr>
      </p:pic>
      <p:sp>
        <p:nvSpPr>
          <p:cNvPr id="13" name="文本框 6"/>
          <p:cNvSpPr txBox="1"/>
          <p:nvPr>
            <p:custDataLst>
              <p:tags r:id="rId3"/>
            </p:custDataLst>
          </p:nvPr>
        </p:nvSpPr>
        <p:spPr>
          <a:xfrm>
            <a:off x="3858260" y="2831465"/>
            <a:ext cx="4668520" cy="953770"/>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4800" b="1">
                <a:solidFill>
                  <a:srgbClr val="000000"/>
                </a:solidFill>
                <a:latin typeface="宋体"/>
                <a:ea typeface="汉仪舒圆黑简" panose="00020600040101010101" pitchFamily="18" charset="-122"/>
                <a:sym typeface="宋体"/>
              </a:rPr>
              <a:t>交互式分析平台</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技术方案</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2027339"/>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r>
              <a:rPr sz="3700" b="1" dirty="0" err="1">
                <a:solidFill>
                  <a:srgbClr val="000000"/>
                </a:solidFill>
                <a:latin typeface="宋体"/>
              </a:rPr>
              <a:t>采用VScode编辑器构建用户界面</a:t>
            </a:r>
            <a:endParaRPr sz="3700" b="1" dirty="0">
              <a:solidFill>
                <a:srgbClr val="000000"/>
              </a:solidFill>
              <a:latin typeface="宋体"/>
            </a:endParaRPr>
          </a:p>
        </p:txBody>
      </p:sp>
      <p:sp>
        <p:nvSpPr>
          <p:cNvPr id="19" name="New shape"/>
          <p:cNvSpPr/>
          <p:nvPr/>
        </p:nvSpPr>
        <p:spPr>
          <a:xfrm>
            <a:off x="1055440" y="2743200"/>
            <a:ext cx="9956800" cy="13716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lang="zh-CN" altLang="en-US" sz="2400" b="1" dirty="0">
                <a:solidFill>
                  <a:srgbClr val="000000"/>
                </a:solidFill>
                <a:latin typeface="宋体" panose="02010600030101010101" pitchFamily="2" charset="-122"/>
                <a:ea typeface="宋体" panose="02010600030101010101" pitchFamily="2" charset="-122"/>
              </a:rPr>
              <a:t>前、</a:t>
            </a:r>
            <a:r>
              <a:rPr sz="2400" b="0" dirty="0">
                <a:solidFill>
                  <a:srgbClr val="000000"/>
                </a:solidFill>
                <a:latin typeface="宋体"/>
              </a:rPr>
              <a:t>后端使用Flask的web框架和Node.js的express搭建API，并运用SQLite数据库记录用户数据，实现数据查询、模型预测和结果展示的动态交互。原创工作在于构建一个响应式、用户友好的前端界面，以及高效的数据处理和预测服务</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pic>
        <p:nvPicPr>
          <p:cNvPr id="2" name="图片 1" descr="图片包含 形状&#10;&#10;描述已自动生成"/>
          <p:cNvPicPr>
            <a:picLocks noChangeAspect="1"/>
          </p:cNvPicPr>
          <p:nvPr/>
        </p:nvPicPr>
        <p:blipFill>
          <a:blip r:embed="rId3"/>
          <a:stretch>
            <a:fillRect/>
          </a:stretch>
        </p:blipFill>
        <p:spPr>
          <a:xfrm>
            <a:off x="0" y="0"/>
            <a:ext cx="12192000" cy="6097721"/>
          </a:xfrm>
          <a:prstGeom prst="rect">
            <a:avLst/>
          </a:prstGeom>
        </p:spPr>
      </p:pic>
      <p:pic>
        <p:nvPicPr>
          <p:cNvPr id="3" name="图片 2" descr="湖边的景色&#10;&#10;描述已自动生成"/>
          <p:cNvPicPr>
            <a:picLocks noChangeAspect="1"/>
          </p:cNvPicPr>
          <p:nvPr/>
        </p:nvPicPr>
        <p:blipFill>
          <a:blip r:embed="rId4"/>
          <a:stretch>
            <a:fillRect/>
          </a:stretch>
        </p:blipFill>
        <p:spPr>
          <a:xfrm>
            <a:off x="0" y="760279"/>
            <a:ext cx="12192000" cy="6097721"/>
          </a:xfrm>
          <a:prstGeom prst="rect">
            <a:avLst/>
          </a:prstGeom>
        </p:spPr>
      </p:pic>
      <p:grpSp>
        <p:nvGrpSpPr>
          <p:cNvPr id="4" name="组合 3"/>
          <p:cNvGrpSpPr/>
          <p:nvPr/>
        </p:nvGrpSpPr>
        <p:grpSpPr>
          <a:xfrm>
            <a:off x="0" y="-2447492"/>
            <a:ext cx="12192000" cy="8545213"/>
            <a:chOff x="0" y="-2447492"/>
            <a:chExt cx="12192000" cy="8545213"/>
          </a:xfrm>
        </p:grpSpPr>
        <p:pic>
          <p:nvPicPr>
            <p:cNvPr id="6" name="图片 5" descr="穿黑色衣服的人的黑白照&#10;&#10;低可信度描述已自动生成"/>
            <p:cNvPicPr>
              <a:picLocks noChangeAspect="1"/>
            </p:cNvPicPr>
            <p:nvPr/>
          </p:nvPicPr>
          <p:blipFill>
            <a:blip r:embed="rId5"/>
            <a:stretch>
              <a:fillRect/>
            </a:stretch>
          </p:blipFill>
          <p:spPr>
            <a:xfrm>
              <a:off x="0" y="0"/>
              <a:ext cx="12192000" cy="6097721"/>
            </a:xfrm>
            <a:custGeom>
              <a:avLst/>
              <a:gdLst>
                <a:gd name="connsiteX0" fmla="*/ 9423461 w 12192000"/>
                <a:gd name="connsiteY0" fmla="*/ 3048860 h 6097721"/>
                <a:gd name="connsiteX1" fmla="*/ 8980398 w 12192000"/>
                <a:gd name="connsiteY1" fmla="*/ 3437721 h 6097721"/>
                <a:gd name="connsiteX2" fmla="*/ 9423461 w 12192000"/>
                <a:gd name="connsiteY2" fmla="*/ 3826582 h 6097721"/>
                <a:gd name="connsiteX3" fmla="*/ 9866524 w 12192000"/>
                <a:gd name="connsiteY3" fmla="*/ 3437721 h 6097721"/>
                <a:gd name="connsiteX4" fmla="*/ 9423461 w 12192000"/>
                <a:gd name="connsiteY4" fmla="*/ 3048860 h 6097721"/>
                <a:gd name="connsiteX5" fmla="*/ 0 w 12192000"/>
                <a:gd name="connsiteY5" fmla="*/ 0 h 6097721"/>
                <a:gd name="connsiteX6" fmla="*/ 12192000 w 12192000"/>
                <a:gd name="connsiteY6" fmla="*/ 0 h 6097721"/>
                <a:gd name="connsiteX7" fmla="*/ 12192000 w 12192000"/>
                <a:gd name="connsiteY7" fmla="*/ 6097721 h 6097721"/>
                <a:gd name="connsiteX8" fmla="*/ 0 w 12192000"/>
                <a:gd name="connsiteY8" fmla="*/ 6097721 h 609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097721">
                  <a:moveTo>
                    <a:pt x="9423461" y="3048860"/>
                  </a:moveTo>
                  <a:cubicBezTo>
                    <a:pt x="9178764" y="3048860"/>
                    <a:pt x="8980398" y="3222959"/>
                    <a:pt x="8980398" y="3437721"/>
                  </a:cubicBezTo>
                  <a:cubicBezTo>
                    <a:pt x="8980398" y="3652483"/>
                    <a:pt x="9178764" y="3826582"/>
                    <a:pt x="9423461" y="3826582"/>
                  </a:cubicBezTo>
                  <a:cubicBezTo>
                    <a:pt x="9668158" y="3826582"/>
                    <a:pt x="9866524" y="3652483"/>
                    <a:pt x="9866524" y="3437721"/>
                  </a:cubicBezTo>
                  <a:cubicBezTo>
                    <a:pt x="9866524" y="3222959"/>
                    <a:pt x="9668158" y="3048860"/>
                    <a:pt x="9423461" y="3048860"/>
                  </a:cubicBezTo>
                  <a:close/>
                  <a:moveTo>
                    <a:pt x="0" y="0"/>
                  </a:moveTo>
                  <a:lnTo>
                    <a:pt x="12192000" y="0"/>
                  </a:lnTo>
                  <a:lnTo>
                    <a:pt x="12192000" y="6097721"/>
                  </a:lnTo>
                  <a:lnTo>
                    <a:pt x="0" y="6097721"/>
                  </a:lnTo>
                  <a:close/>
                </a:path>
              </a:pathLst>
            </a:custGeom>
          </p:spPr>
        </p:pic>
        <p:pic>
          <p:nvPicPr>
            <p:cNvPr id="7" name="图片 6" descr="穿黑色衣服的人的黑白照&#10;&#10;低可信度描述已自动生成"/>
            <p:cNvPicPr>
              <a:picLocks noChangeAspect="1"/>
            </p:cNvPicPr>
            <p:nvPr/>
          </p:nvPicPr>
          <p:blipFill>
            <a:blip r:embed="rId6"/>
            <a:stretch>
              <a:fillRect/>
            </a:stretch>
          </p:blipFill>
          <p:spPr>
            <a:xfrm>
              <a:off x="7038905" y="-2447492"/>
              <a:ext cx="3722976" cy="6097721"/>
            </a:xfrm>
            <a:prstGeom prst="rect">
              <a:avLst/>
            </a:prstGeom>
          </p:spPr>
        </p:pic>
        <p:pic>
          <p:nvPicPr>
            <p:cNvPr id="8" name="图片 7" descr="穿黑色衣服的人的黑白照&#10;&#10;低可信度描述已自动生成"/>
            <p:cNvPicPr>
              <a:picLocks noChangeAspect="1"/>
            </p:cNvPicPr>
            <p:nvPr/>
          </p:nvPicPr>
          <p:blipFill>
            <a:blip r:embed="rId7"/>
            <a:stretch>
              <a:fillRect/>
            </a:stretch>
          </p:blipFill>
          <p:spPr>
            <a:xfrm>
              <a:off x="9295898" y="-1803928"/>
              <a:ext cx="2308727" cy="6097721"/>
            </a:xfrm>
            <a:prstGeom prst="rect">
              <a:avLst/>
            </a:prstGeom>
          </p:spPr>
        </p:pic>
      </p:grpSp>
      <p:grpSp>
        <p:nvGrpSpPr>
          <p:cNvPr id="37" name="组合 36"/>
          <p:cNvGrpSpPr/>
          <p:nvPr/>
        </p:nvGrpSpPr>
        <p:grpSpPr>
          <a:xfrm>
            <a:off x="4404370" y="1479727"/>
            <a:ext cx="3383261" cy="657415"/>
            <a:chOff x="4771220" y="1773297"/>
            <a:chExt cx="2670192" cy="657415"/>
          </a:xfrm>
        </p:grpSpPr>
        <p:sp>
          <p:nvSpPr>
            <p:cNvPr id="38" name="矩形: 圆角 2"/>
            <p:cNvSpPr/>
            <p:nvPr/>
          </p:nvSpPr>
          <p:spPr>
            <a:xfrm>
              <a:off x="4771220" y="1773297"/>
              <a:ext cx="2670192" cy="657415"/>
            </a:xfrm>
            <a:prstGeom prst="roundRect">
              <a:avLst>
                <a:gd name="adj" fmla="val 50000"/>
              </a:avLst>
            </a:prstGeom>
            <a:gradFill>
              <a:gsLst>
                <a:gs pos="0">
                  <a:srgbClr val="FF0000"/>
                </a:gs>
                <a:gs pos="100000">
                  <a:srgbClr val="C00000"/>
                </a:gs>
              </a:gsLst>
              <a:lin ang="27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9" name="文本框 38"/>
            <p:cNvSpPr txBox="1"/>
            <p:nvPr/>
          </p:nvSpPr>
          <p:spPr>
            <a:xfrm>
              <a:off x="5073438" y="1815533"/>
              <a:ext cx="2101946" cy="5796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a:r>
                <a:rPr lang="zh-CN" altLang="en-US" sz="3200" b="1">
                  <a:solidFill>
                    <a:srgbClr val="FFFDF8"/>
                  </a:solidFill>
                  <a:latin typeface="宋体"/>
                  <a:ea typeface="微软雅黑" panose="020B0503020204020204" pitchFamily="34" charset="-122"/>
                  <a:cs typeface="思源宋体 CN Heavy" panose="02020900000000000000" charset="-122"/>
                  <a:sym typeface="宋体"/>
                </a:rPr>
                <a:t>第4部分</a:t>
              </a:r>
            </a:p>
          </p:txBody>
        </p:sp>
      </p:grpSp>
      <p:sp>
        <p:nvSpPr>
          <p:cNvPr id="40" name="TextBox 48"/>
          <p:cNvSpPr txBox="1"/>
          <p:nvPr/>
        </p:nvSpPr>
        <p:spPr>
          <a:xfrm>
            <a:off x="2290994" y="2724048"/>
            <a:ext cx="7120909" cy="1569047"/>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defTabSz="685800"/>
            <a:r>
              <a:rPr lang="zh-CN" altLang="en-US" sz="6600" b="1">
                <a:solidFill>
                  <a:srgbClr val="000000"/>
                </a:solidFill>
                <a:latin typeface="宋体"/>
                <a:ea typeface="微软雅黑" panose="020B0503020204020204" pitchFamily="34" charset="-122"/>
                <a:cs typeface="+mn-ea"/>
                <a:sym typeface="宋体"/>
              </a:rPr>
              <a:t>系统实现</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arn(inVertical)" prLst="">
                                      <p:cBhvr>
                                        <p:cTn id="7" dur="500"/>
                                        <p:tgtEl>
                                          <p:spTgt spid="37"/>
                                        </p:tgtEl>
                                      </p:cBhvr>
                                    </p:animEffect>
                                  </p:childTnLst>
                                </p:cTn>
                              </p:par>
                            </p:childTnLst>
                          </p:cTn>
                        </p:par>
                        <p:par>
                          <p:cTn id="8" fill="hold" nodeType="afterGroup">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p:cTn id="11" dur="500" fill="hold"/>
                                        <p:tgtEl>
                                          <p:spTgt spid="40"/>
                                        </p:tgtEl>
                                        <p:attrNameLst>
                                          <p:attrName>ppt_w</p:attrName>
                                        </p:attrNameLst>
                                      </p:cBhvr>
                                      <p:tavLst>
                                        <p:tav tm="0">
                                          <p:val>
                                            <p:fltVal val="0"/>
                                          </p:val>
                                        </p:tav>
                                        <p:tav tm="100000">
                                          <p:val>
                                            <p:strVal val="#ppt_w"/>
                                          </p:val>
                                        </p:tav>
                                      </p:tavLst>
                                    </p:anim>
                                    <p:anim calcmode="lin" valueType="num">
                                      <p:cBhvr>
                                        <p:cTn id="12" dur="500" fill="hold"/>
                                        <p:tgtEl>
                                          <p:spTgt spid="40"/>
                                        </p:tgtEl>
                                        <p:attrNameLst>
                                          <p:attrName>ppt_h</p:attrName>
                                        </p:attrNameLst>
                                      </p:cBhvr>
                                      <p:tavLst>
                                        <p:tav tm="0">
                                          <p:val>
                                            <p:fltVal val="0"/>
                                          </p:val>
                                        </p:tav>
                                        <p:tav tm="100000">
                                          <p:val>
                                            <p:strVal val="#ppt_h"/>
                                          </p:val>
                                        </p:tav>
                                      </p:tavLst>
                                    </p:anim>
                                    <p:animEffect transition="in" filter="fade" prLst="">
                                      <p:cBhvr>
                                        <p:cTn id="13" dur="500"/>
                                        <p:tgtEl>
                                          <p:spTgt spid="40"/>
                                        </p:tgtEl>
                                      </p:cBhvr>
                                    </p:animEffect>
                                  </p:childTnLst>
                                </p:cTn>
                              </p:par>
                            </p:childTnLst>
                          </p:cTn>
                        </p:par>
                        <p:par>
                          <p:cTn id="14" fill="hold" nodeType="afterGroup">
                            <p:stCondLst>
                              <p:cond delay="1000"/>
                            </p:stCondLst>
                            <p:childTnLst>
                              <p:par>
                                <p:cTn id="15" presetID="42"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rLst="">
                                      <p:cBhvr>
                                        <p:cTn id="17" dur="500"/>
                                        <p:tgtEl>
                                          <p:spTgt spid="4"/>
                                        </p:tgtEl>
                                      </p:cBhvr>
                                    </p:animEffect>
                                    <p:anim calcmode="lin" valueType="num">
                                      <p:cBhvr>
                                        <p:cTn id="18" dur="500" fill="hold"/>
                                        <p:tgtEl>
                                          <p:spTgt spid="4"/>
                                        </p:tgtEl>
                                        <p:attrNameLst>
                                          <p:attrName>ppt_x</p:attrName>
                                        </p:attrNameLst>
                                      </p:cBhvr>
                                      <p:tavLst>
                                        <p:tav tm="0">
                                          <p:val>
                                            <p:strVal val="#ppt_x"/>
                                          </p:val>
                                        </p:tav>
                                        <p:tav tm="100000">
                                          <p:val>
                                            <p:strVal val="#ppt_x"/>
                                          </p:val>
                                        </p:tav>
                                      </p:tavLst>
                                    </p:anim>
                                    <p:anim calcmode="lin" valueType="num">
                                      <p:cBhvr>
                                        <p:cTn id="1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系统实现</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1337744"/>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软件设计与实现</a:t>
            </a:r>
            <a:endParaRPr sz="3700" b="1" dirty="0">
              <a:solidFill>
                <a:srgbClr val="000000"/>
              </a:solidFill>
              <a:latin typeface="宋体"/>
            </a:endParaRPr>
          </a:p>
        </p:txBody>
      </p:sp>
      <p:sp>
        <p:nvSpPr>
          <p:cNvPr id="19" name="New shape"/>
          <p:cNvSpPr/>
          <p:nvPr/>
        </p:nvSpPr>
        <p:spPr>
          <a:xfrm>
            <a:off x="1117600" y="2326388"/>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架构设计：系统采用前后端分离的架构</a:t>
            </a:r>
            <a:endParaRPr sz="3700" b="1" dirty="0">
              <a:solidFill>
                <a:srgbClr val="000000"/>
              </a:solidFill>
              <a:latin typeface="宋体"/>
            </a:endParaRPr>
          </a:p>
        </p:txBody>
      </p:sp>
      <p:sp>
        <p:nvSpPr>
          <p:cNvPr id="20" name="New shape"/>
          <p:cNvSpPr/>
          <p:nvPr/>
        </p:nvSpPr>
        <p:spPr>
          <a:xfrm>
            <a:off x="1093242" y="3010232"/>
            <a:ext cx="9956800" cy="10287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sz="2400" b="0" dirty="0" err="1">
                <a:solidFill>
                  <a:srgbClr val="000000"/>
                </a:solidFill>
                <a:latin typeface="宋体"/>
              </a:rPr>
              <a:t>前端使用HTML、CSS、JavaScript等技术实现用户界面，后端使用Python的FastAPI框架提供RESTful</a:t>
            </a:r>
            <a:r>
              <a:rPr sz="2400" b="0" dirty="0">
                <a:solidFill>
                  <a:srgbClr val="000000"/>
                </a:solidFill>
                <a:latin typeface="宋体"/>
              </a:rPr>
              <a:t> </a:t>
            </a:r>
            <a:r>
              <a:rPr sz="2400" b="0" dirty="0" err="1">
                <a:solidFill>
                  <a:srgbClr val="000000"/>
                </a:solidFill>
                <a:latin typeface="宋体"/>
              </a:rPr>
              <a:t>API服务。前端通过AJAX与后端进行数据交互，后端处理业务逻辑并与数据库、第三方API等进行交互</a:t>
            </a:r>
            <a:endParaRPr sz="2400" b="0" dirty="0">
              <a:solidFill>
                <a:srgbClr val="000000"/>
              </a:solidFill>
              <a:latin typeface="宋体"/>
            </a:endParaRPr>
          </a:p>
        </p:txBody>
      </p:sp>
      <p:sp>
        <p:nvSpPr>
          <p:cNvPr id="21" name="New shape"/>
          <p:cNvSpPr/>
          <p:nvPr/>
        </p:nvSpPr>
        <p:spPr>
          <a:xfrm>
            <a:off x="1117600" y="4876800"/>
            <a:ext cx="9956800" cy="3429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endParaRPr sz="2100" b="0" dirty="0">
              <a:solidFill>
                <a:srgbClr val="000000"/>
              </a:solidFill>
              <a:latin typeface="宋体"/>
            </a:endParaRP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6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200" fill="hold"/>
                                        <p:tgtEl>
                                          <p:spTgt spid="21"/>
                                        </p:tgtEl>
                                        <p:attrNameLst>
                                          <p:attrName>ppt_w</p:attrName>
                                        </p:attrNameLst>
                                      </p:cBhvr>
                                      <p:tavLst>
                                        <p:tav tm="0">
                                          <p:val>
                                            <p:fltVal val="0"/>
                                          </p:val>
                                        </p:tav>
                                        <p:tav tm="100000">
                                          <p:val>
                                            <p:strVal val="#ppt_w"/>
                                          </p:val>
                                        </p:tav>
                                      </p:tavLst>
                                    </p:anim>
                                    <p:anim calcmode="lin" valueType="num">
                                      <p:cBhvr>
                                        <p:cTn id="23" dur="200" fill="hold"/>
                                        <p:tgtEl>
                                          <p:spTgt spid="2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48" name="New picture"/>
            <p:cNvPicPr/>
            <p:nvPr/>
          </p:nvPicPr>
          <p:blipFill>
            <a:blip r:embed="rId3"/>
            <a:stretch>
              <a:fillRect/>
            </a:stretch>
          </p:blipFill>
          <p:spPr>
            <a:xfrm>
              <a:off x="0" y="0"/>
              <a:ext cx="12192000" cy="6097721"/>
            </a:xfrm>
            <a:prstGeom prst="rect">
              <a:avLst/>
            </a:prstGeom>
            <a:ln>
              <a:noFill/>
            </a:ln>
          </p:spPr>
        </p:pic>
        <p:pic>
          <p:nvPicPr>
            <p:cNvPr id="49" name="New picture"/>
            <p:cNvPicPr/>
            <p:nvPr/>
          </p:nvPicPr>
          <p:blipFill>
            <a:blip r:embed="rId4"/>
            <a:stretch>
              <a:fillRect/>
            </a:stretch>
          </p:blipFill>
          <p:spPr>
            <a:xfrm>
              <a:off x="0" y="1693729"/>
              <a:ext cx="12192000" cy="5164271"/>
            </a:xfrm>
            <a:prstGeom prst="rect">
              <a:avLst/>
            </a:prstGeom>
            <a:ln>
              <a:noFill/>
            </a:ln>
          </p:spPr>
        </p:pic>
      </p:grpSp>
      <p:sp>
        <p:nvSpPr>
          <p:cNvPr id="50"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51"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cxnSp>
        <p:nvCxnSpPr>
          <p:cNvPr id="6" name="直接连接符 5"/>
          <p:cNvCxnSpPr/>
          <p:nvPr/>
        </p:nvCxnSpPr>
        <p:spPr>
          <a:xfrm>
            <a:off x="1127263" y="3769845"/>
            <a:ext cx="982910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6"/>
          <p:cNvCxnSpPr/>
          <p:nvPr/>
        </p:nvCxnSpPr>
        <p:spPr>
          <a:xfrm flipV="1">
            <a:off x="1113187" y="2939188"/>
            <a:ext cx="422368" cy="830657"/>
          </a:xfrm>
          <a:prstGeom prst="line">
            <a:avLst/>
          </a:prstGeom>
          <a:ln>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1493316" y="2826557"/>
            <a:ext cx="154868" cy="154868"/>
          </a:xfrm>
          <a:prstGeom prst="ellipse">
            <a:avLst/>
          </a:prstGeom>
          <a:solidFill>
            <a:srgbClr val="1E4A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0105" tIns="45053" rIns="90105" bIns="45053" numCol="1" spcCol="0" rtlCol="0" fromWordArt="0" anchor="ctr" anchorCtr="0" forceAA="0" compatLnSpc="1">
            <a:noAutofit/>
          </a:bodyP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9" name="椭圆 8"/>
          <p:cNvSpPr/>
          <p:nvPr/>
        </p:nvSpPr>
        <p:spPr>
          <a:xfrm>
            <a:off x="1602426" y="2027576"/>
            <a:ext cx="633553" cy="633553"/>
          </a:xfrm>
          <a:prstGeom prst="ellipse">
            <a:avLst/>
          </a:prstGeom>
          <a:solidFill>
            <a:srgbClr val="1E4A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0105" tIns="45053" rIns="90105" bIns="45053" numCol="1" spcCol="0" rtlCol="0" fromWordArt="0" anchor="ctr" anchorCtr="0" forceAA="0" compatLnSpc="1">
            <a:noAutofit/>
          </a:bodyP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pPr algn="ctr"/>
            <a:r>
              <a:rPr lang="zh-CN" altLang="zh-CN" sz="1575" b="0" i="0">
                <a:solidFill>
                  <a:srgbClr val="000000"/>
                </a:solidFill>
                <a:latin typeface="宋体"/>
                <a:ea typeface="思源黑体旧字形 Normal" panose="020B0400000000000000" pitchFamily="34" charset="-128"/>
                <a:cs typeface="+mn-ea"/>
                <a:sym typeface="宋体"/>
              </a:rPr>
              <a:t>01</a:t>
            </a:r>
            <a:endParaRPr lang="zh-CN" altLang="en-US" sz="1575" b="0" i="0">
              <a:solidFill>
                <a:srgbClr val="000000"/>
              </a:solidFill>
              <a:latin typeface="宋体"/>
              <a:ea typeface="思源黑体旧字形 Normal" panose="020B0400000000000000" pitchFamily="34" charset="-128"/>
              <a:cs typeface="+mn-ea"/>
              <a:sym typeface="宋体"/>
            </a:endParaRPr>
          </a:p>
        </p:txBody>
      </p:sp>
      <p:grpSp>
        <p:nvGrpSpPr>
          <p:cNvPr id="10" name="组合 9"/>
          <p:cNvGrpSpPr/>
          <p:nvPr/>
        </p:nvGrpSpPr>
        <p:grpSpPr>
          <a:xfrm>
            <a:off x="1493316" y="1918465"/>
            <a:ext cx="851776" cy="851776"/>
            <a:chOff x="857250" y="1893093"/>
            <a:chExt cx="864394" cy="864394"/>
          </a:xfrm>
        </p:grpSpPr>
        <p:sp>
          <p:nvSpPr>
            <p:cNvPr id="11" name="弧形 10"/>
            <p:cNvSpPr/>
            <p:nvPr/>
          </p:nvSpPr>
          <p:spPr>
            <a:xfrm>
              <a:off x="857250" y="1893093"/>
              <a:ext cx="864394" cy="864394"/>
            </a:xfrm>
            <a:prstGeom prst="arc">
              <a:avLst>
                <a:gd name="adj1" fmla="val 3406397"/>
                <a:gd name="adj2" fmla="val 20528884"/>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2" name="弧形 11"/>
            <p:cNvSpPr/>
            <p:nvPr/>
          </p:nvSpPr>
          <p:spPr>
            <a:xfrm>
              <a:off x="857250" y="1893093"/>
              <a:ext cx="864394" cy="864394"/>
            </a:xfrm>
            <a:prstGeom prst="arc">
              <a:avLst>
                <a:gd name="adj1" fmla="val 7448849"/>
                <a:gd name="adj2" fmla="val 17571339"/>
              </a:avLst>
            </a:prstGeom>
            <a:ln w="7620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cxnSp>
        <p:nvCxnSpPr>
          <p:cNvPr id="13" name="直接连接符 12"/>
          <p:cNvCxnSpPr/>
          <p:nvPr/>
        </p:nvCxnSpPr>
        <p:spPr>
          <a:xfrm flipH="1">
            <a:off x="2514040" y="3786300"/>
            <a:ext cx="422368" cy="830657"/>
          </a:xfrm>
          <a:prstGeom prst="line">
            <a:avLst/>
          </a:prstGeom>
          <a:ln>
            <a:solidFill>
              <a:schemeClr val="accent2">
                <a:lumMod val="100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flipV="1">
            <a:off x="2436604" y="4559497"/>
            <a:ext cx="154868" cy="154868"/>
          </a:xfrm>
          <a:prstGeom prst="ellipse">
            <a:avLst/>
          </a:prstGeom>
          <a:solidFill>
            <a:srgbClr val="1E4A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0105" tIns="45053" rIns="90105" bIns="45053" numCol="1" spcCol="0" rtlCol="0" fromWordArt="0" anchor="ctr" anchorCtr="0" forceAA="0" compatLnSpc="1">
            <a:noAutofit/>
          </a:bodyP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15" name="椭圆 14"/>
          <p:cNvSpPr/>
          <p:nvPr/>
        </p:nvSpPr>
        <p:spPr>
          <a:xfrm>
            <a:off x="1855838" y="4895016"/>
            <a:ext cx="633553" cy="633553"/>
          </a:xfrm>
          <a:prstGeom prst="ellipse">
            <a:avLst/>
          </a:prstGeom>
          <a:solidFill>
            <a:srgbClr val="1E4A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0105" tIns="45053" rIns="90105" bIns="45053" numCol="1" spcCol="0" rtlCol="0" fromWordArt="0" anchor="ctr" anchorCtr="0" forceAA="0" compatLnSpc="1">
            <a:noAutofit/>
          </a:bodyP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pPr algn="ctr"/>
            <a:r>
              <a:rPr lang="zh-CN" altLang="zh-CN" sz="1575" b="0" i="0">
                <a:solidFill>
                  <a:srgbClr val="000000"/>
                </a:solidFill>
                <a:latin typeface="宋体"/>
                <a:ea typeface="思源黑体旧字形 Normal" panose="020B0400000000000000" pitchFamily="34" charset="-128"/>
                <a:cs typeface="+mn-ea"/>
                <a:sym typeface="宋体"/>
              </a:rPr>
              <a:t>02</a:t>
            </a:r>
            <a:endParaRPr lang="zh-CN" altLang="en-US" sz="1575" b="0" i="0">
              <a:solidFill>
                <a:srgbClr val="000000"/>
              </a:solidFill>
              <a:latin typeface="宋体"/>
              <a:ea typeface="思源黑体旧字形 Normal" panose="020B0400000000000000" pitchFamily="34" charset="-128"/>
              <a:cs typeface="+mn-ea"/>
              <a:sym typeface="宋体"/>
            </a:endParaRPr>
          </a:p>
        </p:txBody>
      </p:sp>
      <p:grpSp>
        <p:nvGrpSpPr>
          <p:cNvPr id="16" name="组合 15"/>
          <p:cNvGrpSpPr/>
          <p:nvPr/>
        </p:nvGrpSpPr>
        <p:grpSpPr>
          <a:xfrm>
            <a:off x="1746727" y="4785904"/>
            <a:ext cx="851776" cy="851776"/>
            <a:chOff x="857250" y="1893093"/>
            <a:chExt cx="864394" cy="864394"/>
          </a:xfrm>
        </p:grpSpPr>
        <p:sp>
          <p:nvSpPr>
            <p:cNvPr id="17" name="弧形 16"/>
            <p:cNvSpPr/>
            <p:nvPr/>
          </p:nvSpPr>
          <p:spPr>
            <a:xfrm>
              <a:off x="857250" y="1893093"/>
              <a:ext cx="864394" cy="864394"/>
            </a:xfrm>
            <a:prstGeom prst="arc">
              <a:avLst>
                <a:gd name="adj1" fmla="val 3406397"/>
                <a:gd name="adj2" fmla="val 20528884"/>
              </a:avLst>
            </a:prstGeom>
            <a:ln>
              <a:solidFill>
                <a:srgbClr val="42342F"/>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弧形 17"/>
            <p:cNvSpPr/>
            <p:nvPr/>
          </p:nvSpPr>
          <p:spPr>
            <a:xfrm>
              <a:off x="857250" y="1893093"/>
              <a:ext cx="864394" cy="864394"/>
            </a:xfrm>
            <a:prstGeom prst="arc">
              <a:avLst>
                <a:gd name="adj1" fmla="val 7448849"/>
                <a:gd name="adj2" fmla="val 17571339"/>
              </a:avLst>
            </a:prstGeom>
            <a:ln w="76200">
              <a:solidFill>
                <a:schemeClr val="accent2">
                  <a:lumMod val="100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cxnSp>
        <p:nvCxnSpPr>
          <p:cNvPr id="19" name="直接连接符 18"/>
          <p:cNvCxnSpPr/>
          <p:nvPr/>
        </p:nvCxnSpPr>
        <p:spPr>
          <a:xfrm flipV="1">
            <a:off x="6175325" y="2939188"/>
            <a:ext cx="422368" cy="830657"/>
          </a:xfrm>
          <a:prstGeom prst="line">
            <a:avLst/>
          </a:prstGeom>
          <a:ln>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6555455" y="2826557"/>
            <a:ext cx="154868" cy="154868"/>
          </a:xfrm>
          <a:prstGeom prst="ellipse">
            <a:avLst/>
          </a:prstGeom>
          <a:solidFill>
            <a:srgbClr val="1E4A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0105" tIns="45053" rIns="90105" bIns="45053" numCol="1" spcCol="0" rtlCol="0" fromWordArt="0" anchor="ctr" anchorCtr="0" forceAA="0" compatLnSpc="1">
            <a:noAutofit/>
          </a:bodyP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21" name="椭圆 20"/>
          <p:cNvSpPr/>
          <p:nvPr/>
        </p:nvSpPr>
        <p:spPr>
          <a:xfrm>
            <a:off x="6664565" y="2027576"/>
            <a:ext cx="633553" cy="633553"/>
          </a:xfrm>
          <a:prstGeom prst="ellipse">
            <a:avLst/>
          </a:prstGeom>
          <a:solidFill>
            <a:srgbClr val="1E4A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0105" tIns="45053" rIns="90105" bIns="45053" numCol="1" spcCol="0" rtlCol="0" fromWordArt="0" anchor="ctr" anchorCtr="0" forceAA="0" compatLnSpc="1">
            <a:noAutofit/>
          </a:bodyP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pPr algn="ctr"/>
            <a:r>
              <a:rPr lang="zh-CN" altLang="zh-CN" sz="1575" b="0" i="0">
                <a:solidFill>
                  <a:srgbClr val="000000"/>
                </a:solidFill>
                <a:latin typeface="宋体"/>
                <a:ea typeface="思源黑体旧字形 Normal" panose="020B0400000000000000" pitchFamily="34" charset="-128"/>
                <a:cs typeface="+mn-ea"/>
                <a:sym typeface="宋体"/>
              </a:rPr>
              <a:t>03</a:t>
            </a:r>
            <a:endParaRPr lang="zh-CN" altLang="en-US" sz="1575" b="0" i="0">
              <a:solidFill>
                <a:srgbClr val="000000"/>
              </a:solidFill>
              <a:latin typeface="宋体"/>
              <a:ea typeface="思源黑体旧字形 Normal" panose="020B0400000000000000" pitchFamily="34" charset="-128"/>
              <a:cs typeface="+mn-ea"/>
              <a:sym typeface="宋体"/>
            </a:endParaRPr>
          </a:p>
        </p:txBody>
      </p:sp>
      <p:grpSp>
        <p:nvGrpSpPr>
          <p:cNvPr id="22" name="组合 21"/>
          <p:cNvGrpSpPr/>
          <p:nvPr/>
        </p:nvGrpSpPr>
        <p:grpSpPr>
          <a:xfrm>
            <a:off x="6555453" y="1918465"/>
            <a:ext cx="851776" cy="851776"/>
            <a:chOff x="857250" y="1893093"/>
            <a:chExt cx="864394" cy="864394"/>
          </a:xfrm>
        </p:grpSpPr>
        <p:sp>
          <p:nvSpPr>
            <p:cNvPr id="23" name="弧形 22"/>
            <p:cNvSpPr/>
            <p:nvPr/>
          </p:nvSpPr>
          <p:spPr>
            <a:xfrm>
              <a:off x="857250" y="1893093"/>
              <a:ext cx="864394" cy="864394"/>
            </a:xfrm>
            <a:prstGeom prst="arc">
              <a:avLst>
                <a:gd name="adj1" fmla="val 3406397"/>
                <a:gd name="adj2" fmla="val 20528884"/>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24" name="弧形 23"/>
            <p:cNvSpPr/>
            <p:nvPr/>
          </p:nvSpPr>
          <p:spPr>
            <a:xfrm>
              <a:off x="857250" y="1893093"/>
              <a:ext cx="864394" cy="864394"/>
            </a:xfrm>
            <a:prstGeom prst="arc">
              <a:avLst>
                <a:gd name="adj1" fmla="val 7448849"/>
                <a:gd name="adj2" fmla="val 17571339"/>
              </a:avLst>
            </a:prstGeom>
            <a:ln w="7620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cxnSp>
        <p:nvCxnSpPr>
          <p:cNvPr id="25" name="直接连接符 24"/>
          <p:cNvCxnSpPr/>
          <p:nvPr/>
        </p:nvCxnSpPr>
        <p:spPr>
          <a:xfrm flipH="1">
            <a:off x="7576177" y="3786300"/>
            <a:ext cx="422368" cy="830657"/>
          </a:xfrm>
          <a:prstGeom prst="line">
            <a:avLst/>
          </a:prstGeom>
          <a:ln>
            <a:solidFill>
              <a:schemeClr val="accent2">
                <a:lumMod val="100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flipV="1">
            <a:off x="7498743" y="4559497"/>
            <a:ext cx="154868" cy="154868"/>
          </a:xfrm>
          <a:prstGeom prst="ellipse">
            <a:avLst/>
          </a:prstGeom>
          <a:solidFill>
            <a:srgbClr val="1E4A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0105" tIns="45053" rIns="90105" bIns="45053" numCol="1" spcCol="0" rtlCol="0" fromWordArt="0" anchor="ctr" anchorCtr="0" forceAA="0" compatLnSpc="1">
            <a:noAutofit/>
          </a:bodyP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27" name="椭圆 26"/>
          <p:cNvSpPr/>
          <p:nvPr/>
        </p:nvSpPr>
        <p:spPr>
          <a:xfrm>
            <a:off x="6917977" y="4895016"/>
            <a:ext cx="633553" cy="633553"/>
          </a:xfrm>
          <a:prstGeom prst="ellipse">
            <a:avLst/>
          </a:prstGeom>
          <a:solidFill>
            <a:srgbClr val="1E4A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0105" tIns="45053" rIns="90105" bIns="45053" numCol="1" spcCol="0" rtlCol="0" fromWordArt="0" anchor="ctr" anchorCtr="0" forceAA="0" compatLnSpc="1">
            <a:noAutofit/>
          </a:bodyP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pPr algn="ctr"/>
            <a:r>
              <a:rPr lang="zh-CN" altLang="zh-CN" sz="1575" b="0" i="0">
                <a:solidFill>
                  <a:srgbClr val="000000"/>
                </a:solidFill>
                <a:latin typeface="宋体"/>
                <a:ea typeface="思源黑体旧字形 Normal" panose="020B0400000000000000" pitchFamily="34" charset="-128"/>
                <a:cs typeface="+mn-ea"/>
                <a:sym typeface="宋体"/>
              </a:rPr>
              <a:t>04</a:t>
            </a:r>
            <a:endParaRPr lang="zh-CN" altLang="en-US" sz="1575" b="0" i="0">
              <a:solidFill>
                <a:srgbClr val="000000"/>
              </a:solidFill>
              <a:latin typeface="宋体"/>
              <a:ea typeface="思源黑体旧字形 Normal" panose="020B0400000000000000" pitchFamily="34" charset="-128"/>
              <a:cs typeface="+mn-ea"/>
              <a:sym typeface="宋体"/>
            </a:endParaRPr>
          </a:p>
        </p:txBody>
      </p:sp>
      <p:grpSp>
        <p:nvGrpSpPr>
          <p:cNvPr id="28" name="组合 27"/>
          <p:cNvGrpSpPr/>
          <p:nvPr/>
        </p:nvGrpSpPr>
        <p:grpSpPr>
          <a:xfrm>
            <a:off x="6808867" y="4785904"/>
            <a:ext cx="851776" cy="851776"/>
            <a:chOff x="857250" y="1893093"/>
            <a:chExt cx="864394" cy="864394"/>
          </a:xfrm>
        </p:grpSpPr>
        <p:sp>
          <p:nvSpPr>
            <p:cNvPr id="29" name="弧形 28"/>
            <p:cNvSpPr/>
            <p:nvPr/>
          </p:nvSpPr>
          <p:spPr>
            <a:xfrm>
              <a:off x="857250" y="1893093"/>
              <a:ext cx="864394" cy="864394"/>
            </a:xfrm>
            <a:prstGeom prst="arc">
              <a:avLst>
                <a:gd name="adj1" fmla="val 3406397"/>
                <a:gd name="adj2" fmla="val 20528884"/>
              </a:avLst>
            </a:prstGeom>
            <a:ln>
              <a:solidFill>
                <a:srgbClr val="42342F"/>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0" name="弧形 29"/>
            <p:cNvSpPr/>
            <p:nvPr/>
          </p:nvSpPr>
          <p:spPr>
            <a:xfrm>
              <a:off x="857250" y="1893093"/>
              <a:ext cx="864394" cy="864394"/>
            </a:xfrm>
            <a:prstGeom prst="arc">
              <a:avLst>
                <a:gd name="adj1" fmla="val 7448849"/>
                <a:gd name="adj2" fmla="val 17571339"/>
              </a:avLst>
            </a:prstGeom>
            <a:ln w="76200">
              <a:solidFill>
                <a:schemeClr val="accent2">
                  <a:lumMod val="100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sp>
        <p:nvSpPr>
          <p:cNvPr id="31" name="矩形 30"/>
          <p:cNvSpPr/>
          <p:nvPr/>
        </p:nvSpPr>
        <p:spPr>
          <a:xfrm>
            <a:off x="2303512" y="2220038"/>
            <a:ext cx="4231724" cy="363689"/>
          </a:xfrm>
          <a:prstGeom prst="rect">
            <a:avLst/>
          </a:prstGeom>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2" name="文本框 31"/>
          <p:cNvSpPr txBox="1"/>
          <p:nvPr/>
        </p:nvSpPr>
        <p:spPr>
          <a:xfrm>
            <a:off x="2486122" y="2403121"/>
            <a:ext cx="3924795" cy="521970"/>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a:spcBef>
                <a:spcPts val="790"/>
              </a:spcBef>
            </a:pPr>
            <a:r>
              <a:rPr lang="zh-CN" altLang="en-US" sz="1400" dirty="0">
                <a:solidFill>
                  <a:schemeClr val="tx1">
                    <a:lumMod val="95000"/>
                    <a:lumOff val="5000"/>
                  </a:schemeClr>
                </a:solidFill>
                <a:latin typeface="宋体"/>
                <a:ea typeface="思源黑体旧字形 Normal" panose="020B0400000000000000" pitchFamily="34" charset="-128"/>
                <a:cs typeface="+mn-ea"/>
                <a:sym typeface="宋体"/>
              </a:rPr>
              <a:t>用户界面模块：负责用户交互，包括输入表单、结果显示、图表展示等</a:t>
            </a:r>
          </a:p>
        </p:txBody>
      </p:sp>
      <p:sp>
        <p:nvSpPr>
          <p:cNvPr id="35" name="Rectangle 24"/>
          <p:cNvSpPr>
            <a:spLocks noChangeArrowheads="1"/>
          </p:cNvSpPr>
          <p:nvPr/>
        </p:nvSpPr>
        <p:spPr>
          <a:xfrm>
            <a:off x="2412624" y="2068032"/>
            <a:ext cx="1647928"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6" name="文本框 35"/>
          <p:cNvSpPr txBox="1"/>
          <p:nvPr/>
        </p:nvSpPr>
        <p:spPr>
          <a:xfrm>
            <a:off x="2664969" y="4978466"/>
            <a:ext cx="3924795" cy="521970"/>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a:spcBef>
                <a:spcPts val="790"/>
              </a:spcBef>
            </a:pPr>
            <a:r>
              <a:rPr lang="zh-CN" altLang="en-US" sz="1400">
                <a:solidFill>
                  <a:schemeClr val="tx1">
                    <a:lumMod val="95000"/>
                    <a:lumOff val="5000"/>
                  </a:schemeClr>
                </a:solidFill>
                <a:latin typeface="宋体"/>
                <a:ea typeface="思源黑体旧字形 Normal" panose="020B0400000000000000" pitchFamily="34" charset="-128"/>
                <a:cs typeface="+mn-ea"/>
                <a:sym typeface="宋体"/>
              </a:rPr>
              <a:t>数据处理模块：负责数据的接收、处理和存储，包括碳排放数据的计算、Excel文件的解析等</a:t>
            </a:r>
          </a:p>
        </p:txBody>
      </p:sp>
      <p:sp>
        <p:nvSpPr>
          <p:cNvPr id="39" name="Rectangle 24"/>
          <p:cNvSpPr>
            <a:spLocks noChangeArrowheads="1"/>
          </p:cNvSpPr>
          <p:nvPr/>
        </p:nvSpPr>
        <p:spPr>
          <a:xfrm>
            <a:off x="2591472" y="4643376"/>
            <a:ext cx="1647928"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40" name="文本框 39"/>
          <p:cNvSpPr txBox="1"/>
          <p:nvPr/>
        </p:nvSpPr>
        <p:spPr>
          <a:xfrm>
            <a:off x="7544752" y="2403517"/>
            <a:ext cx="3924795" cy="521970"/>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a:spcBef>
                <a:spcPts val="790"/>
              </a:spcBef>
            </a:pPr>
            <a:r>
              <a:rPr lang="zh-CN" altLang="en-US" sz="1400">
                <a:solidFill>
                  <a:schemeClr val="tx1">
                    <a:lumMod val="95000"/>
                    <a:lumOff val="5000"/>
                  </a:schemeClr>
                </a:solidFill>
                <a:latin typeface="宋体"/>
                <a:ea typeface="思源黑体旧字形 Normal" panose="020B0400000000000000" pitchFamily="34" charset="-128"/>
                <a:cs typeface="+mn-ea"/>
                <a:sym typeface="宋体"/>
              </a:rPr>
              <a:t>AI对话模块：负责与用户的自然语言交互，调用第三方AI服务进行对话处理</a:t>
            </a:r>
          </a:p>
        </p:txBody>
      </p:sp>
      <p:sp>
        <p:nvSpPr>
          <p:cNvPr id="43" name="Rectangle 24"/>
          <p:cNvSpPr>
            <a:spLocks noChangeArrowheads="1"/>
          </p:cNvSpPr>
          <p:nvPr/>
        </p:nvSpPr>
        <p:spPr>
          <a:xfrm>
            <a:off x="7471255" y="2068427"/>
            <a:ext cx="1647928"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44" name="文本框 43"/>
          <p:cNvSpPr txBox="1"/>
          <p:nvPr/>
        </p:nvSpPr>
        <p:spPr>
          <a:xfrm>
            <a:off x="7649674" y="5018959"/>
            <a:ext cx="3924795" cy="521970"/>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a:spcBef>
                <a:spcPts val="790"/>
              </a:spcBef>
            </a:pPr>
            <a:r>
              <a:rPr lang="zh-CN" altLang="en-US" sz="1400">
                <a:solidFill>
                  <a:schemeClr val="tx1">
                    <a:lumMod val="95000"/>
                    <a:lumOff val="5000"/>
                  </a:schemeClr>
                </a:solidFill>
                <a:latin typeface="宋体"/>
                <a:ea typeface="思源黑体旧字形 Normal" panose="020B0400000000000000" pitchFamily="34" charset="-128"/>
                <a:cs typeface="+mn-ea"/>
                <a:sym typeface="宋体"/>
              </a:rPr>
              <a:t>数据存储模块：负责数据的持久化存储，使用SQLite数据库存储用户数据和计算结果</a:t>
            </a:r>
          </a:p>
        </p:txBody>
      </p:sp>
      <p:sp>
        <p:nvSpPr>
          <p:cNvPr id="47" name="Rectangle 24"/>
          <p:cNvSpPr>
            <a:spLocks noChangeArrowheads="1"/>
          </p:cNvSpPr>
          <p:nvPr/>
        </p:nvSpPr>
        <p:spPr>
          <a:xfrm>
            <a:off x="7576177" y="4683869"/>
            <a:ext cx="1647928"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2" name="文本框 1">
            <a:extLst>
              <a:ext uri="{FF2B5EF4-FFF2-40B4-BE49-F238E27FC236}">
                <a16:creationId xmlns:a16="http://schemas.microsoft.com/office/drawing/2014/main" id="{01D5BAB3-1D3F-85DC-FAEA-16A12A8A4D2A}"/>
              </a:ext>
            </a:extLst>
          </p:cNvPr>
          <p:cNvSpPr txBox="1"/>
          <p:nvPr/>
        </p:nvSpPr>
        <p:spPr>
          <a:xfrm>
            <a:off x="1356793" y="739198"/>
            <a:ext cx="2549358" cy="556884"/>
          </a:xfrm>
          <a:prstGeom prst="rect">
            <a:avLst/>
          </a:prstGeom>
          <a:noFill/>
        </p:spPr>
        <p:txBody>
          <a:bodyPr wrap="square" rtlCol="0">
            <a:spAutoFit/>
          </a:bodyPr>
          <a:lstStyle/>
          <a:p>
            <a:pPr indent="0" algn="l">
              <a:lnSpc>
                <a:spcPct val="125000"/>
              </a:lnSpc>
            </a:pPr>
            <a:r>
              <a:rPr lang="zh-CN" altLang="en-US" sz="2800" b="0" dirty="0">
                <a:solidFill>
                  <a:srgbClr val="000000"/>
                </a:solidFill>
                <a:latin typeface="宋体"/>
              </a:rPr>
              <a:t>模块划分</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rLst="">
                                      <p:cBhvr>
                                        <p:cTn id="7" dur="1000"/>
                                        <p:tgtEl>
                                          <p:spTgt spid="6"/>
                                        </p:tgtEl>
                                      </p:cBhvr>
                                    </p:animEffect>
                                  </p:childTnLst>
                                </p:cTn>
                              </p:par>
                            </p:childTnLst>
                          </p:cTn>
                        </p:par>
                        <p:par>
                          <p:cTn id="8" fill="hold" nodeType="afterGroup">
                            <p:stCondLst>
                              <p:cond delay="1000"/>
                            </p:stCondLst>
                            <p:childTnLst>
                              <p:par>
                                <p:cTn id="9" presetID="2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rLst="">
                                      <p:cBhvr>
                                        <p:cTn id="11" dur="500"/>
                                        <p:tgtEl>
                                          <p:spTgt spid="7"/>
                                        </p:tgtEl>
                                      </p:cBhvr>
                                    </p:animEffect>
                                  </p:childTnLst>
                                </p:cTn>
                              </p:par>
                            </p:childTnLst>
                          </p:cTn>
                        </p:par>
                        <p:par>
                          <p:cTn id="12" fill="hold" nodeType="afterGroup">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rLst="">
                                      <p:cBhvr>
                                        <p:cTn id="15" dur="500"/>
                                        <p:tgtEl>
                                          <p:spTgt spid="8"/>
                                        </p:tgtEl>
                                      </p:cBhvr>
                                    </p:animEffect>
                                  </p:childTnLst>
                                </p:cTn>
                              </p:par>
                            </p:childTnLst>
                          </p:cTn>
                        </p:par>
                        <p:par>
                          <p:cTn id="16" fill="hold" nodeType="afterGroup">
                            <p:stCondLst>
                              <p:cond delay="2000"/>
                            </p:stCondLst>
                            <p:childTnLst>
                              <p:par>
                                <p:cTn id="17" presetID="10"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rLst="">
                                      <p:cBhvr>
                                        <p:cTn id="19" dur="750"/>
                                        <p:tgtEl>
                                          <p:spTgt spid="10"/>
                                        </p:tgtEl>
                                      </p:cBhvr>
                                    </p:animEffect>
                                  </p:childTnLst>
                                </p:cTn>
                              </p:par>
                            </p:childTnLst>
                          </p:cTn>
                        </p:par>
                        <p:par>
                          <p:cTn id="20" fill="hold" nodeType="afterGroup">
                            <p:stCondLst>
                              <p:cond delay="2750"/>
                            </p:stCondLst>
                            <p:childTnLst>
                              <p:par>
                                <p:cTn id="21" presetID="10" presetClass="entr" presetSubtype="0" fill="hold" grpId="1"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rLst="">
                                      <p:cBhvr>
                                        <p:cTn id="23" dur="1000"/>
                                        <p:tgtEl>
                                          <p:spTgt spid="9"/>
                                        </p:tgtEl>
                                      </p:cBhvr>
                                    </p:animEffect>
                                  </p:childTnLst>
                                </p:cTn>
                              </p:par>
                            </p:childTnLst>
                          </p:cTn>
                        </p:par>
                        <p:par>
                          <p:cTn id="24" fill="hold" nodeType="afterGroup">
                            <p:stCondLst>
                              <p:cond delay="3750"/>
                            </p:stCondLst>
                            <p:childTnLst>
                              <p:par>
                                <p:cTn id="25" presetID="22" presetClass="entr" presetSubtype="1"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up)" prLst="">
                                      <p:cBhvr>
                                        <p:cTn id="27" dur="500"/>
                                        <p:tgtEl>
                                          <p:spTgt spid="13"/>
                                        </p:tgtEl>
                                      </p:cBhvr>
                                    </p:animEffect>
                                  </p:childTnLst>
                                </p:cTn>
                              </p:par>
                            </p:childTnLst>
                          </p:cTn>
                        </p:par>
                        <p:par>
                          <p:cTn id="28" fill="hold" nodeType="afterGroup">
                            <p:stCondLst>
                              <p:cond delay="4250"/>
                            </p:stCondLst>
                            <p:childTnLst>
                              <p:par>
                                <p:cTn id="29" presetID="10" presetClass="entr" presetSubtype="0" fill="hold" grpId="2"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rLst="">
                                      <p:cBhvr>
                                        <p:cTn id="31" dur="500"/>
                                        <p:tgtEl>
                                          <p:spTgt spid="14"/>
                                        </p:tgtEl>
                                      </p:cBhvr>
                                    </p:animEffect>
                                  </p:childTnLst>
                                </p:cTn>
                              </p:par>
                            </p:childTnLst>
                          </p:cTn>
                        </p:par>
                        <p:par>
                          <p:cTn id="32" fill="hold" nodeType="afterGroup">
                            <p:stCondLst>
                              <p:cond delay="4750"/>
                            </p:stCondLst>
                            <p:childTnLst>
                              <p:par>
                                <p:cTn id="33" presetID="10" presetClass="entr" presetSubtype="0" fill="hold"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rLst="">
                                      <p:cBhvr>
                                        <p:cTn id="35" dur="750"/>
                                        <p:tgtEl>
                                          <p:spTgt spid="16"/>
                                        </p:tgtEl>
                                      </p:cBhvr>
                                    </p:animEffect>
                                  </p:childTnLst>
                                </p:cTn>
                              </p:par>
                            </p:childTnLst>
                          </p:cTn>
                        </p:par>
                        <p:par>
                          <p:cTn id="36" fill="hold" nodeType="afterGroup">
                            <p:stCondLst>
                              <p:cond delay="5500"/>
                            </p:stCondLst>
                            <p:childTnLst>
                              <p:par>
                                <p:cTn id="37" presetID="10" presetClass="entr" presetSubtype="0" fill="hold" grpId="3"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rLst="">
                                      <p:cBhvr>
                                        <p:cTn id="39" dur="1000"/>
                                        <p:tgtEl>
                                          <p:spTgt spid="15"/>
                                        </p:tgtEl>
                                      </p:cBhvr>
                                    </p:animEffect>
                                  </p:childTnLst>
                                </p:cTn>
                              </p:par>
                            </p:childTnLst>
                          </p:cTn>
                        </p:par>
                        <p:par>
                          <p:cTn id="40" fill="hold" nodeType="afterGroup">
                            <p:stCondLst>
                              <p:cond delay="6500"/>
                            </p:stCondLst>
                            <p:childTnLst>
                              <p:par>
                                <p:cTn id="41" presetID="22" presetClass="entr" presetSubtype="4" fill="hold"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down)" prLst="">
                                      <p:cBhvr>
                                        <p:cTn id="43" dur="500"/>
                                        <p:tgtEl>
                                          <p:spTgt spid="19"/>
                                        </p:tgtEl>
                                      </p:cBhvr>
                                    </p:animEffect>
                                  </p:childTnLst>
                                </p:cTn>
                              </p:par>
                            </p:childTnLst>
                          </p:cTn>
                        </p:par>
                        <p:par>
                          <p:cTn id="44" fill="hold" nodeType="afterGroup">
                            <p:stCondLst>
                              <p:cond delay="7000"/>
                            </p:stCondLst>
                            <p:childTnLst>
                              <p:par>
                                <p:cTn id="45" presetID="10" presetClass="entr" presetSubtype="0" fill="hold" grpId="4"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rLst="">
                                      <p:cBhvr>
                                        <p:cTn id="47" dur="500"/>
                                        <p:tgtEl>
                                          <p:spTgt spid="20"/>
                                        </p:tgtEl>
                                      </p:cBhvr>
                                    </p:animEffect>
                                  </p:childTnLst>
                                </p:cTn>
                              </p:par>
                            </p:childTnLst>
                          </p:cTn>
                        </p:par>
                        <p:par>
                          <p:cTn id="48" fill="hold" nodeType="afterGroup">
                            <p:stCondLst>
                              <p:cond delay="7500"/>
                            </p:stCondLst>
                            <p:childTnLst>
                              <p:par>
                                <p:cTn id="49" presetID="10" presetClass="entr" presetSubtype="0"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rLst="">
                                      <p:cBhvr>
                                        <p:cTn id="51" dur="750"/>
                                        <p:tgtEl>
                                          <p:spTgt spid="22"/>
                                        </p:tgtEl>
                                      </p:cBhvr>
                                    </p:animEffect>
                                  </p:childTnLst>
                                </p:cTn>
                              </p:par>
                            </p:childTnLst>
                          </p:cTn>
                        </p:par>
                        <p:par>
                          <p:cTn id="52" fill="hold" nodeType="afterGroup">
                            <p:stCondLst>
                              <p:cond delay="8250"/>
                            </p:stCondLst>
                            <p:childTnLst>
                              <p:par>
                                <p:cTn id="53" presetID="10" presetClass="entr" presetSubtype="0" fill="hold" grpId="5"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rLst="">
                                      <p:cBhvr>
                                        <p:cTn id="55" dur="1000"/>
                                        <p:tgtEl>
                                          <p:spTgt spid="21"/>
                                        </p:tgtEl>
                                      </p:cBhvr>
                                    </p:animEffect>
                                  </p:childTnLst>
                                </p:cTn>
                              </p:par>
                            </p:childTnLst>
                          </p:cTn>
                        </p:par>
                        <p:par>
                          <p:cTn id="56" fill="hold" nodeType="afterGroup">
                            <p:stCondLst>
                              <p:cond delay="9250"/>
                            </p:stCondLst>
                            <p:childTnLst>
                              <p:par>
                                <p:cTn id="57" presetID="22" presetClass="entr" presetSubtype="1" fill="hold"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up)" prLst="">
                                      <p:cBhvr>
                                        <p:cTn id="59" dur="500"/>
                                        <p:tgtEl>
                                          <p:spTgt spid="25"/>
                                        </p:tgtEl>
                                      </p:cBhvr>
                                    </p:animEffect>
                                  </p:childTnLst>
                                </p:cTn>
                              </p:par>
                            </p:childTnLst>
                          </p:cTn>
                        </p:par>
                        <p:par>
                          <p:cTn id="60" fill="hold" nodeType="afterGroup">
                            <p:stCondLst>
                              <p:cond delay="9750"/>
                            </p:stCondLst>
                            <p:childTnLst>
                              <p:par>
                                <p:cTn id="61" presetID="10" presetClass="entr" presetSubtype="0" fill="hold" grpId="6" nodeType="after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rLst="">
                                      <p:cBhvr>
                                        <p:cTn id="63" dur="500"/>
                                        <p:tgtEl>
                                          <p:spTgt spid="26"/>
                                        </p:tgtEl>
                                      </p:cBhvr>
                                    </p:animEffect>
                                  </p:childTnLst>
                                </p:cTn>
                              </p:par>
                            </p:childTnLst>
                          </p:cTn>
                        </p:par>
                        <p:par>
                          <p:cTn id="64" fill="hold" nodeType="afterGroup">
                            <p:stCondLst>
                              <p:cond delay="10250"/>
                            </p:stCondLst>
                            <p:childTnLst>
                              <p:par>
                                <p:cTn id="65" presetID="10" presetClass="entr" presetSubtype="0" fill="hold" nodeType="after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rLst="">
                                      <p:cBhvr>
                                        <p:cTn id="67" dur="750"/>
                                        <p:tgtEl>
                                          <p:spTgt spid="28"/>
                                        </p:tgtEl>
                                      </p:cBhvr>
                                    </p:animEffect>
                                  </p:childTnLst>
                                </p:cTn>
                              </p:par>
                            </p:childTnLst>
                          </p:cTn>
                        </p:par>
                        <p:par>
                          <p:cTn id="68" fill="hold" nodeType="afterGroup">
                            <p:stCondLst>
                              <p:cond delay="11000"/>
                            </p:stCondLst>
                            <p:childTnLst>
                              <p:par>
                                <p:cTn id="69" presetID="10" presetClass="entr" presetSubtype="0" fill="hold" grpId="7" nodeType="after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rLst="">
                                      <p:cBhvr>
                                        <p:cTn id="71" dur="1000"/>
                                        <p:tgtEl>
                                          <p:spTgt spid="27"/>
                                        </p:tgtEl>
                                      </p:cBhvr>
                                    </p:animEffect>
                                  </p:childTnLst>
                                </p:cTn>
                              </p:par>
                            </p:childTnLst>
                          </p:cTn>
                        </p:par>
                      </p:childTnLst>
                    </p:cTn>
                  </p:par>
                  <p:par>
                    <p:cTn id="72" fill="hold" nodeType="clickPar">
                      <p:stCondLst>
                        <p:cond delay="indefinite"/>
                        <p:cond evt="onBegin" delay="0">
                          <p:tn val="71"/>
                        </p:cond>
                      </p:stCondLst>
                      <p:childTnLst>
                        <p:par>
                          <p:cTn id="73" fill="hold" nodeType="afterGroup">
                            <p:stCondLst>
                              <p:cond delay="0"/>
                            </p:stCondLst>
                            <p:childTnLst>
                              <p:par>
                                <p:cTn id="74" presetID="22" presetClass="entr" presetSubtype="4" fill="hold" grpId="9" nodeType="click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wipe(down)" prLst="">
                                      <p:cBhvr>
                                        <p:cTn id="76" dur="500"/>
                                        <p:tgtEl>
                                          <p:spTgt spid="35"/>
                                        </p:tgtEl>
                                      </p:cBhvr>
                                    </p:animEffect>
                                  </p:childTnLst>
                                </p:cTn>
                              </p:par>
                            </p:childTnLst>
                          </p:cTn>
                        </p:par>
                      </p:childTnLst>
                    </p:cTn>
                  </p:par>
                  <p:par>
                    <p:cTn id="77" fill="hold" nodeType="clickPar">
                      <p:stCondLst>
                        <p:cond delay="indefinite"/>
                        <p:cond evt="onBegin" delay="0">
                          <p:tn val="76"/>
                        </p:cond>
                      </p:stCondLst>
                      <p:childTnLst>
                        <p:par>
                          <p:cTn id="78" fill="hold" nodeType="afterGroup">
                            <p:stCondLst>
                              <p:cond delay="0"/>
                            </p:stCondLst>
                            <p:childTnLst>
                              <p:par>
                                <p:cTn id="79" presetID="22" presetClass="entr" presetSubtype="4" fill="hold" grpId="8" nodeType="click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wipe(down)" prLst="">
                                      <p:cBhvr>
                                        <p:cTn id="81" dur="500"/>
                                        <p:tgtEl>
                                          <p:spTgt spid="32"/>
                                        </p:tgtEl>
                                      </p:cBhvr>
                                    </p:animEffect>
                                  </p:childTnLst>
                                </p:cTn>
                              </p:par>
                            </p:childTnLst>
                          </p:cTn>
                        </p:par>
                      </p:childTnLst>
                    </p:cTn>
                  </p:par>
                  <p:par>
                    <p:cTn id="82" fill="hold" nodeType="clickPar">
                      <p:stCondLst>
                        <p:cond delay="indefinite"/>
                        <p:cond evt="onBegin" delay="0">
                          <p:tn val="81"/>
                        </p:cond>
                      </p:stCondLst>
                      <p:childTnLst>
                        <p:par>
                          <p:cTn id="83" fill="hold" nodeType="afterGroup">
                            <p:stCondLst>
                              <p:cond delay="0"/>
                            </p:stCondLst>
                            <p:childTnLst>
                              <p:par>
                                <p:cTn id="84" presetID="22" presetClass="entr" presetSubtype="4" fill="hold" grpId="11" nodeType="click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wipe(down)" prLst="">
                                      <p:cBhvr>
                                        <p:cTn id="86" dur="500"/>
                                        <p:tgtEl>
                                          <p:spTgt spid="39"/>
                                        </p:tgtEl>
                                      </p:cBhvr>
                                    </p:animEffect>
                                  </p:childTnLst>
                                </p:cTn>
                              </p:par>
                            </p:childTnLst>
                          </p:cTn>
                        </p:par>
                      </p:childTnLst>
                    </p:cTn>
                  </p:par>
                  <p:par>
                    <p:cTn id="87" fill="hold" nodeType="clickPar">
                      <p:stCondLst>
                        <p:cond delay="indefinite"/>
                        <p:cond evt="onBegin" delay="0">
                          <p:tn val="86"/>
                        </p:cond>
                      </p:stCondLst>
                      <p:childTnLst>
                        <p:par>
                          <p:cTn id="88" fill="hold" nodeType="afterGroup">
                            <p:stCondLst>
                              <p:cond delay="0"/>
                            </p:stCondLst>
                            <p:childTnLst>
                              <p:par>
                                <p:cTn id="89" presetID="22" presetClass="entr" presetSubtype="4" fill="hold" grpId="10" nodeType="click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wipe(down)" prLst="">
                                      <p:cBhvr>
                                        <p:cTn id="91" dur="500"/>
                                        <p:tgtEl>
                                          <p:spTgt spid="36"/>
                                        </p:tgtEl>
                                      </p:cBhvr>
                                    </p:animEffect>
                                  </p:childTnLst>
                                </p:cTn>
                              </p:par>
                            </p:childTnLst>
                          </p:cTn>
                        </p:par>
                      </p:childTnLst>
                    </p:cTn>
                  </p:par>
                  <p:par>
                    <p:cTn id="92" fill="hold" nodeType="clickPar">
                      <p:stCondLst>
                        <p:cond delay="indefinite"/>
                        <p:cond evt="onBegin" delay="0">
                          <p:tn val="91"/>
                        </p:cond>
                      </p:stCondLst>
                      <p:childTnLst>
                        <p:par>
                          <p:cTn id="93" fill="hold" nodeType="afterGroup">
                            <p:stCondLst>
                              <p:cond delay="0"/>
                            </p:stCondLst>
                            <p:childTnLst>
                              <p:par>
                                <p:cTn id="94" presetID="22" presetClass="entr" presetSubtype="4" fill="hold" grpId="13" nodeType="click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wipe(down)" prLst="">
                                      <p:cBhvr>
                                        <p:cTn id="96" dur="500"/>
                                        <p:tgtEl>
                                          <p:spTgt spid="43"/>
                                        </p:tgtEl>
                                      </p:cBhvr>
                                    </p:animEffect>
                                  </p:childTnLst>
                                </p:cTn>
                              </p:par>
                            </p:childTnLst>
                          </p:cTn>
                        </p:par>
                      </p:childTnLst>
                    </p:cTn>
                  </p:par>
                  <p:par>
                    <p:cTn id="97" fill="hold" nodeType="clickPar">
                      <p:stCondLst>
                        <p:cond delay="indefinite"/>
                        <p:cond evt="onBegin" delay="0">
                          <p:tn val="96"/>
                        </p:cond>
                      </p:stCondLst>
                      <p:childTnLst>
                        <p:par>
                          <p:cTn id="98" fill="hold" nodeType="afterGroup">
                            <p:stCondLst>
                              <p:cond delay="0"/>
                            </p:stCondLst>
                            <p:childTnLst>
                              <p:par>
                                <p:cTn id="99" presetID="22" presetClass="entr" presetSubtype="4" fill="hold" grpId="12" nodeType="click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wipe(down)" prLst="">
                                      <p:cBhvr>
                                        <p:cTn id="101" dur="500"/>
                                        <p:tgtEl>
                                          <p:spTgt spid="40"/>
                                        </p:tgtEl>
                                      </p:cBhvr>
                                    </p:animEffect>
                                  </p:childTnLst>
                                </p:cTn>
                              </p:par>
                            </p:childTnLst>
                          </p:cTn>
                        </p:par>
                      </p:childTnLst>
                    </p:cTn>
                  </p:par>
                  <p:par>
                    <p:cTn id="102" fill="hold" nodeType="clickPar">
                      <p:stCondLst>
                        <p:cond delay="indefinite"/>
                        <p:cond evt="onBegin" delay="0">
                          <p:tn val="101"/>
                        </p:cond>
                      </p:stCondLst>
                      <p:childTnLst>
                        <p:par>
                          <p:cTn id="103" fill="hold" nodeType="afterGroup">
                            <p:stCondLst>
                              <p:cond delay="0"/>
                            </p:stCondLst>
                            <p:childTnLst>
                              <p:par>
                                <p:cTn id="104" presetID="22" presetClass="entr" presetSubtype="4" fill="hold" grpId="15" nodeType="clickEffect">
                                  <p:stCondLst>
                                    <p:cond delay="0"/>
                                  </p:stCondLst>
                                  <p:childTnLst>
                                    <p:set>
                                      <p:cBhvr>
                                        <p:cTn id="105" dur="1" fill="hold">
                                          <p:stCondLst>
                                            <p:cond delay="0"/>
                                          </p:stCondLst>
                                        </p:cTn>
                                        <p:tgtEl>
                                          <p:spTgt spid="47"/>
                                        </p:tgtEl>
                                        <p:attrNameLst>
                                          <p:attrName>style.visibility</p:attrName>
                                        </p:attrNameLst>
                                      </p:cBhvr>
                                      <p:to>
                                        <p:strVal val="visible"/>
                                      </p:to>
                                    </p:set>
                                    <p:animEffect transition="in" filter="wipe(down)" prLst="">
                                      <p:cBhvr>
                                        <p:cTn id="106" dur="500"/>
                                        <p:tgtEl>
                                          <p:spTgt spid="47"/>
                                        </p:tgtEl>
                                      </p:cBhvr>
                                    </p:animEffect>
                                  </p:childTnLst>
                                </p:cTn>
                              </p:par>
                            </p:childTnLst>
                          </p:cTn>
                        </p:par>
                      </p:childTnLst>
                    </p:cTn>
                  </p:par>
                  <p:par>
                    <p:cTn id="107" fill="hold" nodeType="clickPar">
                      <p:stCondLst>
                        <p:cond delay="indefinite"/>
                        <p:cond evt="onBegin" delay="0">
                          <p:tn val="106"/>
                        </p:cond>
                      </p:stCondLst>
                      <p:childTnLst>
                        <p:par>
                          <p:cTn id="108" fill="hold" nodeType="afterGroup">
                            <p:stCondLst>
                              <p:cond delay="0"/>
                            </p:stCondLst>
                            <p:childTnLst>
                              <p:par>
                                <p:cTn id="109" presetID="22" presetClass="entr" presetSubtype="4" fill="hold" grpId="14" nodeType="click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wipe(down)" prLst="">
                                      <p:cBhvr>
                                        <p:cTn id="11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dvAuto="0"/>
      <p:bldP spid="9" grpId="1" animBg="1" advAuto="0"/>
      <p:bldP spid="14" grpId="2" animBg="1" advAuto="0"/>
      <p:bldP spid="15" grpId="3" animBg="1" advAuto="0"/>
      <p:bldP spid="20" grpId="4" animBg="1" advAuto="0"/>
      <p:bldP spid="21" grpId="5" animBg="1" advAuto="0"/>
      <p:bldP spid="26" grpId="6" animBg="1" advAuto="0"/>
      <p:bldP spid="27" grpId="7" animBg="1" advAuto="0"/>
      <p:bldP spid="32" grpId="8" advAuto="0"/>
      <p:bldP spid="35" grpId="9" advAuto="0"/>
      <p:bldP spid="36" grpId="10" advAuto="0"/>
      <p:bldP spid="39" grpId="11" advAuto="0"/>
      <p:bldP spid="40" grpId="12" advAuto="0"/>
      <p:bldP spid="43" grpId="13" advAuto="0"/>
      <p:bldP spid="44" grpId="14" advAuto="0"/>
      <p:bldP spid="47" grpId="15" advAuto="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18" name="New picture"/>
            <p:cNvPicPr/>
            <p:nvPr/>
          </p:nvPicPr>
          <p:blipFill>
            <a:blip r:embed="rId3"/>
            <a:stretch>
              <a:fillRect/>
            </a:stretch>
          </p:blipFill>
          <p:spPr>
            <a:xfrm>
              <a:off x="0" y="0"/>
              <a:ext cx="12192000" cy="6097721"/>
            </a:xfrm>
            <a:prstGeom prst="rect">
              <a:avLst/>
            </a:prstGeom>
            <a:ln>
              <a:noFill/>
            </a:ln>
          </p:spPr>
        </p:pic>
        <p:pic>
          <p:nvPicPr>
            <p:cNvPr id="19" name="New picture"/>
            <p:cNvPicPr/>
            <p:nvPr/>
          </p:nvPicPr>
          <p:blipFill>
            <a:blip r:embed="rId4"/>
            <a:stretch>
              <a:fillRect/>
            </a:stretch>
          </p:blipFill>
          <p:spPr>
            <a:xfrm>
              <a:off x="0" y="1693729"/>
              <a:ext cx="12192000" cy="5164271"/>
            </a:xfrm>
            <a:prstGeom prst="rect">
              <a:avLst/>
            </a:prstGeom>
            <a:ln>
              <a:noFill/>
            </a:ln>
          </p:spPr>
        </p:pic>
      </p:grpSp>
      <p:sp>
        <p:nvSpPr>
          <p:cNvPr id="20"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21"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pic>
        <p:nvPicPr>
          <p:cNvPr id="3" name="Picture 3"/>
          <p:cNvPicPr>
            <a:picLocks noChangeAspect="1"/>
          </p:cNvPicPr>
          <p:nvPr/>
        </p:nvPicPr>
        <p:blipFill>
          <a:blip r:embed="rId5">
            <a:grayscl/>
          </a:blip>
          <a:stretch>
            <a:fillRect/>
          </a:stretch>
        </p:blipFill>
        <p:spPr>
          <a:xfrm>
            <a:off x="3961269" y="1961921"/>
            <a:ext cx="1692783" cy="1467079"/>
          </a:xfrm>
          <a:prstGeom prst="rect">
            <a:avLst/>
          </a:prstGeom>
          <a:ln>
            <a:noFill/>
          </a:ln>
        </p:spPr>
      </p:pic>
      <p:pic>
        <p:nvPicPr>
          <p:cNvPr id="4" name="Picture 4"/>
          <p:cNvPicPr>
            <a:picLocks noChangeAspect="1"/>
          </p:cNvPicPr>
          <p:nvPr/>
        </p:nvPicPr>
        <p:blipFill>
          <a:blip r:embed="rId5">
            <a:grayscl/>
          </a:blip>
          <a:stretch>
            <a:fillRect/>
          </a:stretch>
        </p:blipFill>
        <p:spPr>
          <a:xfrm>
            <a:off x="8969259" y="1961921"/>
            <a:ext cx="1692783" cy="1467079"/>
          </a:xfrm>
          <a:prstGeom prst="rect">
            <a:avLst/>
          </a:prstGeom>
          <a:ln>
            <a:noFill/>
          </a:ln>
        </p:spPr>
      </p:pic>
      <p:pic>
        <p:nvPicPr>
          <p:cNvPr id="5" name="Picture 5"/>
          <p:cNvPicPr>
            <a:picLocks noChangeAspect="1"/>
          </p:cNvPicPr>
          <p:nvPr/>
        </p:nvPicPr>
        <p:blipFill>
          <a:blip r:embed="rId5">
            <a:grayscl/>
          </a:blip>
          <a:stretch>
            <a:fillRect/>
          </a:stretch>
        </p:blipFill>
        <p:spPr>
          <a:xfrm>
            <a:off x="1457274" y="1961921"/>
            <a:ext cx="1692783" cy="1467079"/>
          </a:xfrm>
          <a:prstGeom prst="rect">
            <a:avLst/>
          </a:prstGeom>
          <a:ln>
            <a:noFill/>
          </a:ln>
        </p:spPr>
      </p:pic>
      <p:pic>
        <p:nvPicPr>
          <p:cNvPr id="6" name="Picture 6"/>
          <p:cNvPicPr>
            <a:picLocks noChangeAspect="1"/>
          </p:cNvPicPr>
          <p:nvPr/>
        </p:nvPicPr>
        <p:blipFill>
          <a:blip r:embed="rId5">
            <a:grayscl/>
          </a:blip>
          <a:stretch>
            <a:fillRect/>
          </a:stretch>
        </p:blipFill>
        <p:spPr>
          <a:xfrm>
            <a:off x="6465264" y="1961921"/>
            <a:ext cx="1692783" cy="1467079"/>
          </a:xfrm>
          <a:prstGeom prst="rect">
            <a:avLst/>
          </a:prstGeom>
          <a:ln>
            <a:noFill/>
          </a:ln>
        </p:spPr>
      </p:pic>
      <p:pic>
        <p:nvPicPr>
          <p:cNvPr id="22" name="Picture 7"/>
          <p:cNvPicPr>
            <a:picLocks noChangeAspect="1"/>
          </p:cNvPicPr>
          <p:nvPr/>
        </p:nvPicPr>
        <p:blipFill>
          <a:blip r:embed="rId6">
            <a:grayscl/>
          </a:blip>
          <a:stretch>
            <a:fillRect/>
          </a:stretch>
        </p:blipFill>
        <p:spPr>
          <a:xfrm>
            <a:off x="8317208" y="2580345"/>
            <a:ext cx="511265" cy="255632"/>
          </a:xfrm>
          <a:prstGeom prst="rect">
            <a:avLst/>
          </a:prstGeom>
          <a:ln>
            <a:noFill/>
          </a:ln>
        </p:spPr>
      </p:pic>
      <p:pic>
        <p:nvPicPr>
          <p:cNvPr id="8" name="Picture 8"/>
          <p:cNvPicPr>
            <a:picLocks noChangeAspect="1"/>
          </p:cNvPicPr>
          <p:nvPr/>
        </p:nvPicPr>
        <p:blipFill>
          <a:blip r:embed="rId6">
            <a:grayscl/>
          </a:blip>
          <a:stretch>
            <a:fillRect/>
          </a:stretch>
        </p:blipFill>
        <p:spPr>
          <a:xfrm>
            <a:off x="5821658" y="2580345"/>
            <a:ext cx="511265" cy="255632"/>
          </a:xfrm>
          <a:prstGeom prst="rect">
            <a:avLst/>
          </a:prstGeom>
          <a:ln>
            <a:noFill/>
          </a:ln>
        </p:spPr>
      </p:pic>
      <p:pic>
        <p:nvPicPr>
          <p:cNvPr id="9" name="Picture 9"/>
          <p:cNvPicPr>
            <a:picLocks noChangeAspect="1"/>
          </p:cNvPicPr>
          <p:nvPr/>
        </p:nvPicPr>
        <p:blipFill>
          <a:blip r:embed="rId6">
            <a:grayscl/>
          </a:blip>
          <a:stretch>
            <a:fillRect/>
          </a:stretch>
        </p:blipFill>
        <p:spPr>
          <a:xfrm>
            <a:off x="3294358" y="2580345"/>
            <a:ext cx="511265" cy="255632"/>
          </a:xfrm>
          <a:prstGeom prst="rect">
            <a:avLst/>
          </a:prstGeom>
          <a:ln>
            <a:noFill/>
          </a:ln>
        </p:spPr>
      </p:pic>
      <p:sp>
        <p:nvSpPr>
          <p:cNvPr id="10" name="TextBox 10"/>
          <p:cNvSpPr txBox="1"/>
          <p:nvPr/>
        </p:nvSpPr>
        <p:spPr>
          <a:xfrm>
            <a:off x="1325858" y="3884198"/>
            <a:ext cx="2006600" cy="2042753"/>
          </a:xfrm>
          <a:prstGeom prst="rect">
            <a:avLst/>
          </a:prstGeom>
        </p:spPr>
        <p:txBody>
          <a:bodyPr lIns="0" tIns="0" rIns="0" bIns="0" rtlCol="0" anchor="t">
            <a:norm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stStyle>
          <a:p>
            <a:pPr algn="ctr">
              <a:lnSpc>
                <a:spcPts val="1960"/>
              </a:lnSpc>
            </a:pPr>
            <a:r>
              <a:rPr lang="zh-CN" sz="1400">
                <a:solidFill>
                  <a:srgbClr val="6D6D6D"/>
                </a:solidFill>
                <a:latin typeface="宋体"/>
                <a:ea typeface="字由点字典黑 65J"/>
                <a:sym typeface="宋体"/>
              </a:rPr>
              <a:t>技术栈:选用Visual Studio Code作为主要的开发环境，专注于HTML、CSS和JavaScript的编码工作，旨在创造高度互动且用户友好的界面体验</a:t>
            </a:r>
          </a:p>
        </p:txBody>
      </p:sp>
      <p:sp>
        <p:nvSpPr>
          <p:cNvPr id="11" name="TextBox 11"/>
          <p:cNvSpPr txBox="1"/>
          <p:nvPr/>
        </p:nvSpPr>
        <p:spPr>
          <a:xfrm>
            <a:off x="3842522" y="3884198"/>
            <a:ext cx="2006600" cy="2042753"/>
          </a:xfrm>
          <a:prstGeom prst="rect">
            <a:avLst/>
          </a:prstGeom>
        </p:spPr>
        <p:txBody>
          <a:bodyPr lIns="0" tIns="0" rIns="0" bIns="0" rtlCol="0" anchor="t">
            <a:norm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stStyle>
          <a:p>
            <a:pPr algn="ctr">
              <a:lnSpc>
                <a:spcPts val="1960"/>
              </a:lnSpc>
            </a:pPr>
            <a:r>
              <a:rPr lang="zh-CN" sz="1400">
                <a:solidFill>
                  <a:srgbClr val="6D6D6D"/>
                </a:solidFill>
                <a:latin typeface="宋体"/>
                <a:ea typeface="字由点字典黑 65J"/>
                <a:sym typeface="宋体"/>
              </a:rPr>
              <a:t>前端应用充分利用Ajax以及现代化的库，处理包括用户注册登录在内的多项功能需求</a:t>
            </a:r>
          </a:p>
        </p:txBody>
      </p:sp>
      <p:sp>
        <p:nvSpPr>
          <p:cNvPr id="12" name="TextBox 12"/>
          <p:cNvSpPr txBox="1"/>
          <p:nvPr/>
        </p:nvSpPr>
        <p:spPr>
          <a:xfrm>
            <a:off x="6359186" y="3884198"/>
            <a:ext cx="2006600" cy="2042753"/>
          </a:xfrm>
          <a:prstGeom prst="rect">
            <a:avLst/>
          </a:prstGeom>
        </p:spPr>
        <p:txBody>
          <a:bodyPr lIns="0" tIns="0" rIns="0" bIns="0" rtlCol="0" anchor="t">
            <a:norm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stStyle>
          <a:p>
            <a:pPr algn="ctr">
              <a:lnSpc>
                <a:spcPts val="1960"/>
              </a:lnSpc>
            </a:pPr>
            <a:r>
              <a:rPr lang="zh-CN" sz="1400">
                <a:solidFill>
                  <a:srgbClr val="6D6D6D"/>
                </a:solidFill>
                <a:latin typeface="宋体"/>
                <a:ea typeface="字由点字典黑 65J"/>
                <a:sym typeface="宋体"/>
              </a:rPr>
              <a:t>跨域资源共享(CORS)策略被妥善配置于后端服务器端，保证前端应用能安全跨越域限制访问后端资源</a:t>
            </a:r>
          </a:p>
        </p:txBody>
      </p:sp>
      <p:sp>
        <p:nvSpPr>
          <p:cNvPr id="13" name="TextBox 13"/>
          <p:cNvSpPr txBox="1"/>
          <p:nvPr/>
        </p:nvSpPr>
        <p:spPr>
          <a:xfrm>
            <a:off x="8875850" y="3884198"/>
            <a:ext cx="2006600" cy="2042753"/>
          </a:xfrm>
          <a:prstGeom prst="rect">
            <a:avLst/>
          </a:prstGeom>
        </p:spPr>
        <p:txBody>
          <a:bodyPr lIns="0" tIns="0" rIns="0" bIns="0" rtlCol="0" anchor="t">
            <a:norm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stStyle>
          <a:p>
            <a:pPr algn="ctr">
              <a:lnSpc>
                <a:spcPts val="1960"/>
              </a:lnSpc>
            </a:pPr>
            <a:r>
              <a:rPr lang="zh-CN" sz="1400">
                <a:solidFill>
                  <a:srgbClr val="6D6D6D"/>
                </a:solidFill>
                <a:latin typeface="宋体"/>
                <a:ea typeface="字由点字典黑 65J"/>
                <a:sym typeface="宋体"/>
              </a:rPr>
              <a:t>尽管前端直接管理数据库连接池并不常见，但开发者需紧密配合后端设计，深入理解数据库接口规范，从而精准地调用API并有效处理返回的数据</a:t>
            </a:r>
          </a:p>
        </p:txBody>
      </p:sp>
      <p:pic>
        <p:nvPicPr>
          <p:cNvPr id="14" name="Picture 14"/>
          <p:cNvPicPr>
            <a:picLocks noChangeAspect="1"/>
          </p:cNvPicPr>
          <p:nvPr/>
        </p:nvPicPr>
        <p:blipFill>
          <a:blip r:embed="rId7">
            <a:grayscl/>
          </a:blip>
          <a:stretch>
            <a:fillRect/>
          </a:stretch>
        </p:blipFill>
        <p:spPr>
          <a:xfrm>
            <a:off x="1906884" y="2311286"/>
            <a:ext cx="768350" cy="768350"/>
          </a:xfrm>
          <a:prstGeom prst="rect">
            <a:avLst/>
          </a:prstGeom>
          <a:ln>
            <a:noFill/>
          </a:ln>
        </p:spPr>
      </p:pic>
      <p:pic>
        <p:nvPicPr>
          <p:cNvPr id="15" name="Picture 15"/>
          <p:cNvPicPr>
            <a:picLocks noChangeAspect="1"/>
          </p:cNvPicPr>
          <p:nvPr/>
        </p:nvPicPr>
        <p:blipFill>
          <a:blip r:embed="rId8">
            <a:grayscl/>
          </a:blip>
          <a:stretch>
            <a:fillRect/>
          </a:stretch>
        </p:blipFill>
        <p:spPr>
          <a:xfrm>
            <a:off x="4410847" y="2336686"/>
            <a:ext cx="781050" cy="781050"/>
          </a:xfrm>
          <a:prstGeom prst="rect">
            <a:avLst/>
          </a:prstGeom>
          <a:ln>
            <a:noFill/>
          </a:ln>
        </p:spPr>
      </p:pic>
      <p:pic>
        <p:nvPicPr>
          <p:cNvPr id="16" name="Picture 16"/>
          <p:cNvPicPr>
            <a:picLocks noChangeAspect="1"/>
          </p:cNvPicPr>
          <p:nvPr/>
        </p:nvPicPr>
        <p:blipFill>
          <a:blip r:embed="rId9">
            <a:grayscl/>
          </a:blip>
          <a:stretch>
            <a:fillRect/>
          </a:stretch>
        </p:blipFill>
        <p:spPr>
          <a:xfrm>
            <a:off x="6940211" y="2336686"/>
            <a:ext cx="793750" cy="793750"/>
          </a:xfrm>
          <a:prstGeom prst="rect">
            <a:avLst/>
          </a:prstGeom>
          <a:ln>
            <a:noFill/>
          </a:ln>
        </p:spPr>
      </p:pic>
      <p:pic>
        <p:nvPicPr>
          <p:cNvPr id="17" name="Picture 17"/>
          <p:cNvPicPr>
            <a:picLocks noChangeAspect="1"/>
          </p:cNvPicPr>
          <p:nvPr/>
        </p:nvPicPr>
        <p:blipFill>
          <a:blip r:embed="rId10">
            <a:grayscl/>
          </a:blip>
          <a:stretch>
            <a:fillRect/>
          </a:stretch>
        </p:blipFill>
        <p:spPr>
          <a:xfrm>
            <a:off x="9441000" y="2311286"/>
            <a:ext cx="800100" cy="80010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系统实现</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pic>
        <p:nvPicPr>
          <p:cNvPr id="18" name="New picture"/>
          <p:cNvPicPr/>
          <p:nvPr/>
        </p:nvPicPr>
        <p:blipFill>
          <a:blip r:embed="rId6"/>
          <a:stretch>
            <a:fillRect/>
          </a:stretch>
        </p:blipFill>
        <p:spPr>
          <a:xfrm>
            <a:off x="1117600" y="2743200"/>
            <a:ext cx="4914900" cy="1270000"/>
          </a:xfrm>
          <a:prstGeom prst="rect">
            <a:avLst/>
          </a:prstGeom>
          <a:ln>
            <a:solidFill>
              <a:srgbClr val="FFFFFF">
                <a:alpha val="0"/>
              </a:srgbClr>
            </a:solidFill>
          </a:ln>
        </p:spPr>
      </p:pic>
      <p:pic>
        <p:nvPicPr>
          <p:cNvPr id="19" name="New picture"/>
          <p:cNvPicPr/>
          <p:nvPr/>
        </p:nvPicPr>
        <p:blipFill>
          <a:blip r:embed="rId6"/>
          <a:stretch>
            <a:fillRect/>
          </a:stretch>
        </p:blipFill>
        <p:spPr>
          <a:xfrm>
            <a:off x="6159500" y="2743200"/>
            <a:ext cx="4914900" cy="1270000"/>
          </a:xfrm>
          <a:prstGeom prst="rect">
            <a:avLst/>
          </a:prstGeom>
          <a:ln>
            <a:solidFill>
              <a:srgbClr val="FFFFFF">
                <a:alpha val="0"/>
              </a:srgbClr>
            </a:solidFill>
          </a:ln>
        </p:spPr>
      </p:pic>
      <p:pic>
        <p:nvPicPr>
          <p:cNvPr id="20" name="New picture"/>
          <p:cNvPicPr/>
          <p:nvPr/>
        </p:nvPicPr>
        <p:blipFill>
          <a:blip r:embed="rId6"/>
          <a:stretch>
            <a:fillRect/>
          </a:stretch>
        </p:blipFill>
        <p:spPr>
          <a:xfrm>
            <a:off x="1117600" y="4686300"/>
            <a:ext cx="4914900" cy="1270000"/>
          </a:xfrm>
          <a:prstGeom prst="rect">
            <a:avLst/>
          </a:prstGeom>
          <a:ln>
            <a:solidFill>
              <a:srgbClr val="FFFFFF">
                <a:alpha val="0"/>
              </a:srgbClr>
            </a:solidFill>
          </a:ln>
        </p:spPr>
      </p:pic>
      <p:pic>
        <p:nvPicPr>
          <p:cNvPr id="21" name="New picture"/>
          <p:cNvPicPr/>
          <p:nvPr/>
        </p:nvPicPr>
        <p:blipFill>
          <a:blip r:embed="rId6"/>
          <a:stretch>
            <a:fillRect/>
          </a:stretch>
        </p:blipFill>
        <p:spPr>
          <a:xfrm>
            <a:off x="6159500" y="4686300"/>
            <a:ext cx="4914900" cy="1270000"/>
          </a:xfrm>
          <a:prstGeom prst="rect">
            <a:avLst/>
          </a:prstGeom>
          <a:ln>
            <a:solidFill>
              <a:srgbClr val="FFFFFF">
                <a:alpha val="0"/>
              </a:srgbClr>
            </a:solidFill>
          </a:ln>
        </p:spPr>
      </p:pic>
      <p:sp>
        <p:nvSpPr>
          <p:cNvPr id="22" name="New shape"/>
          <p:cNvSpPr/>
          <p:nvPr/>
        </p:nvSpPr>
        <p:spPr>
          <a:xfrm>
            <a:off x="1117600" y="14732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a:solidFill>
                  <a:srgbClr val="000000"/>
                </a:solidFill>
                <a:latin typeface="宋体"/>
              </a:rPr>
              <a:t>用户界面</a:t>
            </a:r>
          </a:p>
        </p:txBody>
      </p:sp>
      <p:sp>
        <p:nvSpPr>
          <p:cNvPr id="23" name="New shape"/>
          <p:cNvSpPr/>
          <p:nvPr/>
        </p:nvSpPr>
        <p:spPr>
          <a:xfrm>
            <a:off x="1371600" y="2197100"/>
            <a:ext cx="4406900" cy="13716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2500"/>
          </a:bodyPr>
          <a:lstStyle/>
          <a:p>
            <a:pPr indent="0" algn="l">
              <a:lnSpc>
                <a:spcPct val="125000"/>
              </a:lnSpc>
            </a:pPr>
            <a:r>
              <a:rPr sz="2400" b="0">
                <a:solidFill>
                  <a:srgbClr val="000000"/>
                </a:solidFill>
                <a:latin typeface="宋体"/>
              </a:rPr>
              <a:t>登录/注册模块: 用户可以通过注册账号并登录系统，系统会使用 Flask-Login 进行用户会话管理</a:t>
            </a:r>
          </a:p>
        </p:txBody>
      </p:sp>
      <p:sp>
        <p:nvSpPr>
          <p:cNvPr id="24" name="New shape"/>
          <p:cNvSpPr/>
          <p:nvPr/>
        </p:nvSpPr>
        <p:spPr>
          <a:xfrm>
            <a:off x="6413500" y="2197100"/>
            <a:ext cx="4406900" cy="13716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87500" lnSpcReduction="20000"/>
          </a:bodyPr>
          <a:lstStyle/>
          <a:p>
            <a:pPr indent="0" algn="l">
              <a:lnSpc>
                <a:spcPct val="125000"/>
              </a:lnSpc>
            </a:pPr>
            <a:r>
              <a:rPr sz="2400" b="0">
                <a:solidFill>
                  <a:srgbClr val="000000"/>
                </a:solidFill>
                <a:latin typeface="宋体"/>
              </a:rPr>
              <a:t>碳足迹计算模块: 用户可以输入不同类别的碳排放数据，系统会根据预设的系数计算总碳排放量，并生成可视化图表</a:t>
            </a:r>
          </a:p>
        </p:txBody>
      </p:sp>
      <p:sp>
        <p:nvSpPr>
          <p:cNvPr id="25" name="New shape"/>
          <p:cNvSpPr/>
          <p:nvPr/>
        </p:nvSpPr>
        <p:spPr>
          <a:xfrm>
            <a:off x="1371600" y="4140200"/>
            <a:ext cx="4406900" cy="13716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a:bodyPr>
          <a:lstStyle/>
          <a:p>
            <a:pPr indent="0" algn="l">
              <a:lnSpc>
                <a:spcPct val="125000"/>
              </a:lnSpc>
            </a:pPr>
            <a:r>
              <a:rPr sz="2400" b="0">
                <a:solidFill>
                  <a:srgbClr val="000000"/>
                </a:solidFill>
                <a:latin typeface="宋体"/>
              </a:rPr>
              <a:t>AI 对话模块: 用户可以与 CarbonAI 进行对话，获取碳排放相关的专业建议</a:t>
            </a:r>
          </a:p>
        </p:txBody>
      </p:sp>
      <p:sp>
        <p:nvSpPr>
          <p:cNvPr id="26" name="New shape"/>
          <p:cNvSpPr/>
          <p:nvPr/>
        </p:nvSpPr>
        <p:spPr>
          <a:xfrm>
            <a:off x="6413500" y="4140200"/>
            <a:ext cx="4406900" cy="13716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a:bodyPr>
          <a:lstStyle/>
          <a:p>
            <a:pPr indent="0" algn="l">
              <a:lnSpc>
                <a:spcPct val="125000"/>
              </a:lnSpc>
            </a:pPr>
            <a:r>
              <a:rPr sz="2400" b="0">
                <a:solidFill>
                  <a:srgbClr val="000000"/>
                </a:solidFill>
                <a:latin typeface="宋体"/>
              </a:rPr>
              <a:t>数据上传模块: 用户可以上传内部Excel文件，系统会解析文件中的数据并用于后续分析</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6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200" fill="hold"/>
                                        <p:tgtEl>
                                          <p:spTgt spid="21"/>
                                        </p:tgtEl>
                                        <p:attrNameLst>
                                          <p:attrName>ppt_w</p:attrName>
                                        </p:attrNameLst>
                                      </p:cBhvr>
                                      <p:tavLst>
                                        <p:tav tm="0">
                                          <p:val>
                                            <p:fltVal val="0"/>
                                          </p:val>
                                        </p:tav>
                                        <p:tav tm="100000">
                                          <p:val>
                                            <p:strVal val="#ppt_w"/>
                                          </p:val>
                                        </p:tav>
                                      </p:tavLst>
                                    </p:anim>
                                    <p:anim calcmode="lin" valueType="num">
                                      <p:cBhvr>
                                        <p:cTn id="23" dur="2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8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200" fill="hold"/>
                                        <p:tgtEl>
                                          <p:spTgt spid="22"/>
                                        </p:tgtEl>
                                        <p:attrNameLst>
                                          <p:attrName>ppt_w</p:attrName>
                                        </p:attrNameLst>
                                      </p:cBhvr>
                                      <p:tavLst>
                                        <p:tav tm="0">
                                          <p:val>
                                            <p:fltVal val="0"/>
                                          </p:val>
                                        </p:tav>
                                        <p:tav tm="100000">
                                          <p:val>
                                            <p:strVal val="#ppt_w"/>
                                          </p:val>
                                        </p:tav>
                                      </p:tavLst>
                                    </p:anim>
                                    <p:anim calcmode="lin" valueType="num">
                                      <p:cBhvr>
                                        <p:cTn id="28" dur="2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0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200" fill="hold"/>
                                        <p:tgtEl>
                                          <p:spTgt spid="23"/>
                                        </p:tgtEl>
                                        <p:attrNameLst>
                                          <p:attrName>ppt_w</p:attrName>
                                        </p:attrNameLst>
                                      </p:cBhvr>
                                      <p:tavLst>
                                        <p:tav tm="0">
                                          <p:val>
                                            <p:fltVal val="0"/>
                                          </p:val>
                                        </p:tav>
                                        <p:tav tm="100000">
                                          <p:val>
                                            <p:strVal val="#ppt_w"/>
                                          </p:val>
                                        </p:tav>
                                      </p:tavLst>
                                    </p:anim>
                                    <p:anim calcmode="lin" valueType="num">
                                      <p:cBhvr>
                                        <p:cTn id="33" dur="2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2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200" fill="hold"/>
                                        <p:tgtEl>
                                          <p:spTgt spid="24"/>
                                        </p:tgtEl>
                                        <p:attrNameLst>
                                          <p:attrName>ppt_w</p:attrName>
                                        </p:attrNameLst>
                                      </p:cBhvr>
                                      <p:tavLst>
                                        <p:tav tm="0">
                                          <p:val>
                                            <p:fltVal val="0"/>
                                          </p:val>
                                        </p:tav>
                                        <p:tav tm="100000">
                                          <p:val>
                                            <p:strVal val="#ppt_w"/>
                                          </p:val>
                                        </p:tav>
                                      </p:tavLst>
                                    </p:anim>
                                    <p:anim calcmode="lin" valueType="num">
                                      <p:cBhvr>
                                        <p:cTn id="38" dur="200" fill="hold"/>
                                        <p:tgtEl>
                                          <p:spTgt spid="2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1400"/>
                            </p:stCondLst>
                            <p:childTnLst>
                              <p:par>
                                <p:cTn id="40" presetID="23" presetClass="entr" presetSubtype="16" fill="hold" grpId="7"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200" fill="hold"/>
                                        <p:tgtEl>
                                          <p:spTgt spid="25"/>
                                        </p:tgtEl>
                                        <p:attrNameLst>
                                          <p:attrName>ppt_w</p:attrName>
                                        </p:attrNameLst>
                                      </p:cBhvr>
                                      <p:tavLst>
                                        <p:tav tm="0">
                                          <p:val>
                                            <p:fltVal val="0"/>
                                          </p:val>
                                        </p:tav>
                                        <p:tav tm="100000">
                                          <p:val>
                                            <p:strVal val="#ppt_w"/>
                                          </p:val>
                                        </p:tav>
                                      </p:tavLst>
                                    </p:anim>
                                    <p:anim calcmode="lin" valueType="num">
                                      <p:cBhvr>
                                        <p:cTn id="43" dur="200" fill="hold"/>
                                        <p:tgtEl>
                                          <p:spTgt spid="25"/>
                                        </p:tgtEl>
                                        <p:attrNameLst>
                                          <p:attrName>ppt_h</p:attrName>
                                        </p:attrNameLst>
                                      </p:cBhvr>
                                      <p:tavLst>
                                        <p:tav tm="0">
                                          <p:val>
                                            <p:fltVal val="0"/>
                                          </p:val>
                                        </p:tav>
                                        <p:tav tm="100000">
                                          <p:val>
                                            <p:strVal val="#ppt_h"/>
                                          </p:val>
                                        </p:tav>
                                      </p:tavLst>
                                    </p:anim>
                                  </p:childTnLst>
                                </p:cTn>
                              </p:par>
                            </p:childTnLst>
                          </p:cTn>
                        </p:par>
                        <p:par>
                          <p:cTn id="44" fill="hold" nodeType="afterGroup">
                            <p:stCondLst>
                              <p:cond delay="1600"/>
                            </p:stCondLst>
                            <p:childTnLst>
                              <p:par>
                                <p:cTn id="45" presetID="23" presetClass="entr" presetSubtype="16" fill="hold" grpId="8" nodeType="after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200" fill="hold"/>
                                        <p:tgtEl>
                                          <p:spTgt spid="26"/>
                                        </p:tgtEl>
                                        <p:attrNameLst>
                                          <p:attrName>ppt_w</p:attrName>
                                        </p:attrNameLst>
                                      </p:cBhvr>
                                      <p:tavLst>
                                        <p:tav tm="0">
                                          <p:val>
                                            <p:fltVal val="0"/>
                                          </p:val>
                                        </p:tav>
                                        <p:tav tm="100000">
                                          <p:val>
                                            <p:strVal val="#ppt_w"/>
                                          </p:val>
                                        </p:tav>
                                      </p:tavLst>
                                    </p:anim>
                                    <p:anim calcmode="lin" valueType="num">
                                      <p:cBhvr>
                                        <p:cTn id="48" dur="200" fill="hold"/>
                                        <p:tgtEl>
                                          <p:spTgt spid="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P spid="25" grpId="7" animBg="1"/>
      <p:bldP spid="26" grpId="8"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系统实现</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2895600"/>
            <a:ext cx="9956800" cy="939800"/>
          </a:xfrm>
          <a:prstGeom prst="roundRect">
            <a:avLst>
              <a:gd name="adj" fmla="val 5405"/>
            </a:avLst>
          </a:prstGeom>
          <a:solidFill>
            <a:srgbClr val="FFFFFF"/>
          </a:solidFill>
          <a:ln w="25400">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New shape"/>
          <p:cNvSpPr/>
          <p:nvPr/>
        </p:nvSpPr>
        <p:spPr>
          <a:xfrm>
            <a:off x="1117600" y="3962400"/>
            <a:ext cx="9956800" cy="1282700"/>
          </a:xfrm>
          <a:prstGeom prst="roundRect">
            <a:avLst>
              <a:gd name="adj" fmla="val 3960"/>
            </a:avLst>
          </a:prstGeom>
          <a:solidFill>
            <a:srgbClr val="FFFFFF"/>
          </a:solidFill>
          <a:ln w="25400">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New picture"/>
          <p:cNvPicPr/>
          <p:nvPr/>
        </p:nvPicPr>
        <p:blipFill>
          <a:blip r:embed="rId6"/>
          <a:stretch>
            <a:fillRect/>
          </a:stretch>
        </p:blipFill>
        <p:spPr>
          <a:xfrm>
            <a:off x="1219200" y="2895600"/>
            <a:ext cx="381000" cy="762000"/>
          </a:xfrm>
          <a:prstGeom prst="rect">
            <a:avLst/>
          </a:prstGeom>
          <a:ln>
            <a:solidFill>
              <a:srgbClr val="FFFFFF">
                <a:alpha val="0"/>
              </a:srgbClr>
            </a:solidFill>
          </a:ln>
        </p:spPr>
      </p:pic>
      <p:pic>
        <p:nvPicPr>
          <p:cNvPr id="21" name="New picture"/>
          <p:cNvPicPr/>
          <p:nvPr/>
        </p:nvPicPr>
        <p:blipFill>
          <a:blip r:embed="rId7"/>
          <a:stretch>
            <a:fillRect/>
          </a:stretch>
        </p:blipFill>
        <p:spPr>
          <a:xfrm>
            <a:off x="10591800" y="3073400"/>
            <a:ext cx="381000" cy="762000"/>
          </a:xfrm>
          <a:prstGeom prst="rect">
            <a:avLst/>
          </a:prstGeom>
          <a:ln>
            <a:solidFill>
              <a:srgbClr val="FFFFFF">
                <a:alpha val="0"/>
              </a:srgbClr>
            </a:solidFill>
          </a:ln>
        </p:spPr>
      </p:pic>
      <p:pic>
        <p:nvPicPr>
          <p:cNvPr id="22" name="New picture"/>
          <p:cNvPicPr/>
          <p:nvPr/>
        </p:nvPicPr>
        <p:blipFill>
          <a:blip r:embed="rId6"/>
          <a:stretch>
            <a:fillRect/>
          </a:stretch>
        </p:blipFill>
        <p:spPr>
          <a:xfrm>
            <a:off x="1219200" y="3962400"/>
            <a:ext cx="381000" cy="762000"/>
          </a:xfrm>
          <a:prstGeom prst="rect">
            <a:avLst/>
          </a:prstGeom>
          <a:ln>
            <a:solidFill>
              <a:srgbClr val="FFFFFF">
                <a:alpha val="0"/>
              </a:srgbClr>
            </a:solidFill>
          </a:ln>
        </p:spPr>
      </p:pic>
      <p:pic>
        <p:nvPicPr>
          <p:cNvPr id="23" name="New picture"/>
          <p:cNvPicPr/>
          <p:nvPr/>
        </p:nvPicPr>
        <p:blipFill>
          <a:blip r:embed="rId7"/>
          <a:stretch>
            <a:fillRect/>
          </a:stretch>
        </p:blipFill>
        <p:spPr>
          <a:xfrm>
            <a:off x="10591800" y="4483100"/>
            <a:ext cx="381000" cy="762000"/>
          </a:xfrm>
          <a:prstGeom prst="rect">
            <a:avLst/>
          </a:prstGeom>
          <a:ln>
            <a:solidFill>
              <a:srgbClr val="FFFFFF">
                <a:alpha val="0"/>
              </a:srgbClr>
            </a:solidFill>
          </a:ln>
        </p:spPr>
      </p:pic>
      <p:sp>
        <p:nvSpPr>
          <p:cNvPr id="24" name="New shape"/>
          <p:cNvSpPr/>
          <p:nvPr/>
        </p:nvSpPr>
        <p:spPr>
          <a:xfrm>
            <a:off x="1117600" y="21717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a:solidFill>
                  <a:srgbClr val="000000"/>
                </a:solidFill>
                <a:latin typeface="宋体"/>
              </a:rPr>
              <a:t>数据来源与处理</a:t>
            </a:r>
          </a:p>
        </p:txBody>
      </p:sp>
      <p:sp>
        <p:nvSpPr>
          <p:cNvPr id="25" name="New shape"/>
          <p:cNvSpPr/>
          <p:nvPr/>
        </p:nvSpPr>
        <p:spPr>
          <a:xfrm>
            <a:off x="1498600" y="3022600"/>
            <a:ext cx="9194800" cy="6858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87500" lnSpcReduction="20000"/>
          </a:bodyPr>
          <a:lstStyle/>
          <a:p>
            <a:pPr indent="0" algn="l">
              <a:lnSpc>
                <a:spcPct val="125000"/>
              </a:lnSpc>
            </a:pPr>
            <a:r>
              <a:rPr sz="2400" b="0">
                <a:solidFill>
                  <a:srgbClr val="000000"/>
                </a:solidFill>
                <a:latin typeface="宋体"/>
              </a:rPr>
              <a:t>数据采集: 利用后羿采集器从CPCD爬取数据以及CEADs下载的碳排放因子数据，包括物品类别、行为活动、地理位置等，导出为Excel文件</a:t>
            </a:r>
          </a:p>
        </p:txBody>
      </p:sp>
      <p:sp>
        <p:nvSpPr>
          <p:cNvPr id="26" name="New shape"/>
          <p:cNvSpPr/>
          <p:nvPr/>
        </p:nvSpPr>
        <p:spPr>
          <a:xfrm>
            <a:off x="1498600" y="4089400"/>
            <a:ext cx="9194800" cy="10287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0000"/>
          </a:bodyPr>
          <a:lstStyle/>
          <a:p>
            <a:pPr indent="0" algn="l">
              <a:lnSpc>
                <a:spcPct val="125000"/>
              </a:lnSpc>
            </a:pPr>
            <a:r>
              <a:rPr sz="2400" b="0">
                <a:solidFill>
                  <a:srgbClr val="000000"/>
                </a:solidFill>
                <a:latin typeface="宋体"/>
              </a:rPr>
              <a:t>数据预处理: 开发一系列Python脚本，执行去重、数据类型转换（将分类变量转为所需类型）。使用Pandas和difflib进行高效数据分析和清洗</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300" fill="hold"/>
                                        <p:tgtEl>
                                          <p:spTgt spid="18"/>
                                        </p:tgtEl>
                                        <p:attrNameLst>
                                          <p:attrName>ppt_w</p:attrName>
                                        </p:attrNameLst>
                                      </p:cBhvr>
                                      <p:tavLst>
                                        <p:tav tm="0">
                                          <p:val>
                                            <p:fltVal val="0"/>
                                          </p:val>
                                        </p:tav>
                                        <p:tav tm="100000">
                                          <p:val>
                                            <p:strVal val="#ppt_w"/>
                                          </p:val>
                                        </p:tav>
                                      </p:tavLst>
                                    </p:anim>
                                    <p:anim calcmode="lin" valueType="num">
                                      <p:cBhvr>
                                        <p:cTn id="8" dur="3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3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300" fill="hold"/>
                                        <p:tgtEl>
                                          <p:spTgt spid="19"/>
                                        </p:tgtEl>
                                        <p:attrNameLst>
                                          <p:attrName>ppt_w</p:attrName>
                                        </p:attrNameLst>
                                      </p:cBhvr>
                                      <p:tavLst>
                                        <p:tav tm="0">
                                          <p:val>
                                            <p:fltVal val="0"/>
                                          </p:val>
                                        </p:tav>
                                        <p:tav tm="100000">
                                          <p:val>
                                            <p:strVal val="#ppt_w"/>
                                          </p:val>
                                        </p:tav>
                                      </p:tavLst>
                                    </p:anim>
                                    <p:anim calcmode="lin" valueType="num">
                                      <p:cBhvr>
                                        <p:cTn id="13" dur="3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6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8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200" fill="hold"/>
                                        <p:tgtEl>
                                          <p:spTgt spid="21"/>
                                        </p:tgtEl>
                                        <p:attrNameLst>
                                          <p:attrName>ppt_w</p:attrName>
                                        </p:attrNameLst>
                                      </p:cBhvr>
                                      <p:tavLst>
                                        <p:tav tm="0">
                                          <p:val>
                                            <p:fltVal val="0"/>
                                          </p:val>
                                        </p:tav>
                                        <p:tav tm="100000">
                                          <p:val>
                                            <p:strVal val="#ppt_w"/>
                                          </p:val>
                                        </p:tav>
                                      </p:tavLst>
                                    </p:anim>
                                    <p:anim calcmode="lin" valueType="num">
                                      <p:cBhvr>
                                        <p:cTn id="23" dur="2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10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200" fill="hold"/>
                                        <p:tgtEl>
                                          <p:spTgt spid="22"/>
                                        </p:tgtEl>
                                        <p:attrNameLst>
                                          <p:attrName>ppt_w</p:attrName>
                                        </p:attrNameLst>
                                      </p:cBhvr>
                                      <p:tavLst>
                                        <p:tav tm="0">
                                          <p:val>
                                            <p:fltVal val="0"/>
                                          </p:val>
                                        </p:tav>
                                        <p:tav tm="100000">
                                          <p:val>
                                            <p:strVal val="#ppt_w"/>
                                          </p:val>
                                        </p:tav>
                                      </p:tavLst>
                                    </p:anim>
                                    <p:anim calcmode="lin" valueType="num">
                                      <p:cBhvr>
                                        <p:cTn id="28" dur="2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2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200" fill="hold"/>
                                        <p:tgtEl>
                                          <p:spTgt spid="23"/>
                                        </p:tgtEl>
                                        <p:attrNameLst>
                                          <p:attrName>ppt_w</p:attrName>
                                        </p:attrNameLst>
                                      </p:cBhvr>
                                      <p:tavLst>
                                        <p:tav tm="0">
                                          <p:val>
                                            <p:fltVal val="0"/>
                                          </p:val>
                                        </p:tav>
                                        <p:tav tm="100000">
                                          <p:val>
                                            <p:strVal val="#ppt_w"/>
                                          </p:val>
                                        </p:tav>
                                      </p:tavLst>
                                    </p:anim>
                                    <p:anim calcmode="lin" valueType="num">
                                      <p:cBhvr>
                                        <p:cTn id="33" dur="2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4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200" fill="hold"/>
                                        <p:tgtEl>
                                          <p:spTgt spid="24"/>
                                        </p:tgtEl>
                                        <p:attrNameLst>
                                          <p:attrName>ppt_w</p:attrName>
                                        </p:attrNameLst>
                                      </p:cBhvr>
                                      <p:tavLst>
                                        <p:tav tm="0">
                                          <p:val>
                                            <p:fltVal val="0"/>
                                          </p:val>
                                        </p:tav>
                                        <p:tav tm="100000">
                                          <p:val>
                                            <p:strVal val="#ppt_w"/>
                                          </p:val>
                                        </p:tav>
                                      </p:tavLst>
                                    </p:anim>
                                    <p:anim calcmode="lin" valueType="num">
                                      <p:cBhvr>
                                        <p:cTn id="38" dur="200" fill="hold"/>
                                        <p:tgtEl>
                                          <p:spTgt spid="2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1600"/>
                            </p:stCondLst>
                            <p:childTnLst>
                              <p:par>
                                <p:cTn id="40" presetID="23" presetClass="entr" presetSubtype="16" fill="hold" grpId="7"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200" fill="hold"/>
                                        <p:tgtEl>
                                          <p:spTgt spid="25"/>
                                        </p:tgtEl>
                                        <p:attrNameLst>
                                          <p:attrName>ppt_w</p:attrName>
                                        </p:attrNameLst>
                                      </p:cBhvr>
                                      <p:tavLst>
                                        <p:tav tm="0">
                                          <p:val>
                                            <p:fltVal val="0"/>
                                          </p:val>
                                        </p:tav>
                                        <p:tav tm="100000">
                                          <p:val>
                                            <p:strVal val="#ppt_w"/>
                                          </p:val>
                                        </p:tav>
                                      </p:tavLst>
                                    </p:anim>
                                    <p:anim calcmode="lin" valueType="num">
                                      <p:cBhvr>
                                        <p:cTn id="43" dur="200" fill="hold"/>
                                        <p:tgtEl>
                                          <p:spTgt spid="25"/>
                                        </p:tgtEl>
                                        <p:attrNameLst>
                                          <p:attrName>ppt_h</p:attrName>
                                        </p:attrNameLst>
                                      </p:cBhvr>
                                      <p:tavLst>
                                        <p:tav tm="0">
                                          <p:val>
                                            <p:fltVal val="0"/>
                                          </p:val>
                                        </p:tav>
                                        <p:tav tm="100000">
                                          <p:val>
                                            <p:strVal val="#ppt_h"/>
                                          </p:val>
                                        </p:tav>
                                      </p:tavLst>
                                    </p:anim>
                                  </p:childTnLst>
                                </p:cTn>
                              </p:par>
                            </p:childTnLst>
                          </p:cTn>
                        </p:par>
                        <p:par>
                          <p:cTn id="44" fill="hold" nodeType="afterGroup">
                            <p:stCondLst>
                              <p:cond delay="1800"/>
                            </p:stCondLst>
                            <p:childTnLst>
                              <p:par>
                                <p:cTn id="45" presetID="23" presetClass="entr" presetSubtype="16" fill="hold" grpId="8" nodeType="after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200" fill="hold"/>
                                        <p:tgtEl>
                                          <p:spTgt spid="26"/>
                                        </p:tgtEl>
                                        <p:attrNameLst>
                                          <p:attrName>ppt_w</p:attrName>
                                        </p:attrNameLst>
                                      </p:cBhvr>
                                      <p:tavLst>
                                        <p:tav tm="0">
                                          <p:val>
                                            <p:fltVal val="0"/>
                                          </p:val>
                                        </p:tav>
                                        <p:tav tm="100000">
                                          <p:val>
                                            <p:strVal val="#ppt_w"/>
                                          </p:val>
                                        </p:tav>
                                      </p:tavLst>
                                    </p:anim>
                                    <p:anim calcmode="lin" valueType="num">
                                      <p:cBhvr>
                                        <p:cTn id="48" dur="200" fill="hold"/>
                                        <p:tgtEl>
                                          <p:spTgt spid="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P spid="25" grpId="7" animBg="1"/>
      <p:bldP spid="26" grpId="8"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系统实现</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24003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模型构建与改进</a:t>
            </a:r>
            <a:endParaRPr sz="3700" b="1" dirty="0">
              <a:solidFill>
                <a:srgbClr val="000000"/>
              </a:solidFill>
              <a:latin typeface="宋体"/>
            </a:endParaRPr>
          </a:p>
        </p:txBody>
      </p:sp>
      <p:sp>
        <p:nvSpPr>
          <p:cNvPr id="19" name="New shape"/>
          <p:cNvSpPr/>
          <p:nvPr/>
        </p:nvSpPr>
        <p:spPr>
          <a:xfrm>
            <a:off x="1117600" y="31242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a:solidFill>
                  <a:srgbClr val="000000"/>
                </a:solidFill>
                <a:latin typeface="宋体"/>
              </a:rPr>
              <a:t>通过扩充碳排放领域的多样化数据集，</a:t>
            </a:r>
          </a:p>
        </p:txBody>
      </p:sp>
      <p:sp>
        <p:nvSpPr>
          <p:cNvPr id="20" name="New shape"/>
          <p:cNvSpPr/>
          <p:nvPr/>
        </p:nvSpPr>
        <p:spPr>
          <a:xfrm>
            <a:off x="1117600" y="3784600"/>
            <a:ext cx="9956800" cy="13716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Autofit/>
          </a:bodyPr>
          <a:lstStyle/>
          <a:p>
            <a:pPr indent="0" algn="l">
              <a:lnSpc>
                <a:spcPct val="125000"/>
              </a:lnSpc>
            </a:pPr>
            <a:r>
              <a:rPr sz="2400" b="0" dirty="0">
                <a:solidFill>
                  <a:srgbClr val="000000"/>
                </a:solidFill>
                <a:latin typeface="宋体"/>
              </a:rPr>
              <a:t>涵盖不同地区和行业的排放因子，提升模型的专业性和适用性。同时，利用用户交互数据进行微调训练，优化模型对复杂问题的理解和响应能力。结合用户反馈机制，持续改进回答的准确性与实用性，并在多场景下测试模型，确保其稳定性和通用性，从而更好地满足用户需求</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系统实现</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2235200"/>
            <a:ext cx="1879600" cy="3810000"/>
          </a:xfrm>
          <a:prstGeom prst="roundRect">
            <a:avLst>
              <a:gd name="adj" fmla="val 4054"/>
            </a:avLst>
          </a:prstGeom>
          <a:solidFill>
            <a:srgbClr val="000000">
              <a:alpha val="0"/>
            </a:srgbClr>
          </a:solidFill>
          <a:ln w="25400">
            <a:solidFill>
              <a:srgbClr val="0E2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New shape"/>
          <p:cNvSpPr/>
          <p:nvPr/>
        </p:nvSpPr>
        <p:spPr>
          <a:xfrm>
            <a:off x="3124200" y="2235200"/>
            <a:ext cx="1879600" cy="3810000"/>
          </a:xfrm>
          <a:prstGeom prst="roundRect">
            <a:avLst>
              <a:gd name="adj" fmla="val 4054"/>
            </a:avLst>
          </a:prstGeom>
          <a:solidFill>
            <a:srgbClr val="000000">
              <a:alpha val="0"/>
            </a:srgbClr>
          </a:solidFill>
          <a:ln w="25400">
            <a:solidFill>
              <a:srgbClr val="0E2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New shape"/>
          <p:cNvSpPr/>
          <p:nvPr/>
        </p:nvSpPr>
        <p:spPr>
          <a:xfrm>
            <a:off x="5130800" y="2235200"/>
            <a:ext cx="1879600" cy="3810000"/>
          </a:xfrm>
          <a:prstGeom prst="roundRect">
            <a:avLst>
              <a:gd name="adj" fmla="val 4054"/>
            </a:avLst>
          </a:prstGeom>
          <a:solidFill>
            <a:srgbClr val="000000">
              <a:alpha val="0"/>
            </a:srgbClr>
          </a:solidFill>
          <a:ln w="25400">
            <a:solidFill>
              <a:srgbClr val="0E2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New shape"/>
          <p:cNvSpPr/>
          <p:nvPr/>
        </p:nvSpPr>
        <p:spPr>
          <a:xfrm>
            <a:off x="7137400" y="2235200"/>
            <a:ext cx="1879600" cy="3810000"/>
          </a:xfrm>
          <a:prstGeom prst="roundRect">
            <a:avLst>
              <a:gd name="adj" fmla="val 4054"/>
            </a:avLst>
          </a:prstGeom>
          <a:solidFill>
            <a:srgbClr val="000000">
              <a:alpha val="0"/>
            </a:srgbClr>
          </a:solidFill>
          <a:ln w="25400">
            <a:solidFill>
              <a:srgbClr val="0E2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New shape"/>
          <p:cNvSpPr/>
          <p:nvPr/>
        </p:nvSpPr>
        <p:spPr>
          <a:xfrm>
            <a:off x="9144000" y="2235200"/>
            <a:ext cx="1879600" cy="3810000"/>
          </a:xfrm>
          <a:prstGeom prst="roundRect">
            <a:avLst>
              <a:gd name="adj" fmla="val 4054"/>
            </a:avLst>
          </a:prstGeom>
          <a:solidFill>
            <a:srgbClr val="000000">
              <a:alpha val="0"/>
            </a:srgbClr>
          </a:solidFill>
          <a:ln w="25400">
            <a:solidFill>
              <a:srgbClr val="0E2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New shape"/>
          <p:cNvSpPr/>
          <p:nvPr/>
        </p:nvSpPr>
        <p:spPr>
          <a:xfrm>
            <a:off x="1117600" y="15113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a:solidFill>
                  <a:srgbClr val="000000"/>
                </a:solidFill>
                <a:latin typeface="宋体"/>
              </a:rPr>
              <a:t>系统部署</a:t>
            </a:r>
          </a:p>
        </p:txBody>
      </p:sp>
      <p:sp>
        <p:nvSpPr>
          <p:cNvPr id="24" name="New shape"/>
          <p:cNvSpPr/>
          <p:nvPr/>
        </p:nvSpPr>
        <p:spPr>
          <a:xfrm>
            <a:off x="1308100" y="2425700"/>
            <a:ext cx="1498600" cy="34290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a:bodyPr>
          <a:lstStyle/>
          <a:p>
            <a:pPr indent="0" algn="l">
              <a:lnSpc>
                <a:spcPct val="125000"/>
              </a:lnSpc>
            </a:pPr>
            <a:r>
              <a:rPr sz="2100" b="0">
                <a:solidFill>
                  <a:srgbClr val="000000"/>
                </a:solidFill>
                <a:latin typeface="宋体"/>
              </a:rPr>
              <a:t>环境准备: 在服务器上安装 Python 3.8+、Flask、FastAPI 等依赖</a:t>
            </a:r>
          </a:p>
        </p:txBody>
      </p:sp>
      <p:sp>
        <p:nvSpPr>
          <p:cNvPr id="25" name="New shape"/>
          <p:cNvSpPr/>
          <p:nvPr/>
        </p:nvSpPr>
        <p:spPr>
          <a:xfrm>
            <a:off x="3314700" y="2425700"/>
            <a:ext cx="1498600" cy="34290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a:bodyPr>
          <a:lstStyle/>
          <a:p>
            <a:pPr indent="0" algn="l">
              <a:lnSpc>
                <a:spcPct val="125000"/>
              </a:lnSpc>
            </a:pPr>
            <a:r>
              <a:rPr sz="2100" b="0">
                <a:solidFill>
                  <a:srgbClr val="000000"/>
                </a:solidFill>
                <a:latin typeface="宋体"/>
              </a:rPr>
              <a:t>代码部署: 将前端和后端代码部署到服务器上，配置 Nginx 作为反向代理</a:t>
            </a:r>
          </a:p>
        </p:txBody>
      </p:sp>
      <p:sp>
        <p:nvSpPr>
          <p:cNvPr id="26" name="New shape"/>
          <p:cNvSpPr/>
          <p:nvPr/>
        </p:nvSpPr>
        <p:spPr>
          <a:xfrm>
            <a:off x="5321300" y="2425700"/>
            <a:ext cx="1498600" cy="34290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a:bodyPr>
          <a:lstStyle/>
          <a:p>
            <a:pPr indent="0" algn="l">
              <a:lnSpc>
                <a:spcPct val="125000"/>
              </a:lnSpc>
            </a:pPr>
            <a:r>
              <a:rPr sz="2100" b="0">
                <a:solidFill>
                  <a:srgbClr val="000000"/>
                </a:solidFill>
                <a:latin typeface="宋体"/>
              </a:rPr>
              <a:t>数据库初始化: 使用 SQLite 作为用户数据库，初始化用户表结构</a:t>
            </a:r>
          </a:p>
        </p:txBody>
      </p:sp>
      <p:sp>
        <p:nvSpPr>
          <p:cNvPr id="27" name="New shape"/>
          <p:cNvSpPr/>
          <p:nvPr/>
        </p:nvSpPr>
        <p:spPr>
          <a:xfrm>
            <a:off x="7327900" y="2425700"/>
            <a:ext cx="1498600" cy="34290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a:bodyPr>
          <a:lstStyle/>
          <a:p>
            <a:pPr indent="0" algn="l">
              <a:lnSpc>
                <a:spcPct val="125000"/>
              </a:lnSpc>
            </a:pPr>
            <a:r>
              <a:rPr sz="2100" b="0">
                <a:solidFill>
                  <a:srgbClr val="000000"/>
                </a:solidFill>
                <a:latin typeface="宋体"/>
              </a:rPr>
              <a:t>服务启动: 使用 uvicorn 启动 FastAPI 服务，使用 gunicorn 启动 Flask 服务</a:t>
            </a:r>
          </a:p>
        </p:txBody>
      </p:sp>
      <p:sp>
        <p:nvSpPr>
          <p:cNvPr id="28" name="New shape"/>
          <p:cNvSpPr/>
          <p:nvPr/>
        </p:nvSpPr>
        <p:spPr>
          <a:xfrm>
            <a:off x="9334500" y="2425700"/>
            <a:ext cx="1498600" cy="34290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a:bodyPr>
          <a:lstStyle/>
          <a:p>
            <a:pPr indent="0" algn="l">
              <a:lnSpc>
                <a:spcPct val="125000"/>
              </a:lnSpc>
            </a:pPr>
            <a:r>
              <a:rPr sz="2100" b="0">
                <a:solidFill>
                  <a:srgbClr val="000000"/>
                </a:solidFill>
                <a:latin typeface="宋体"/>
              </a:rPr>
              <a:t>监控与维护: 使用 Supervisor 进行进程管理，确保服务在异常情况下能够自动重启</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300" fill="hold"/>
                                        <p:tgtEl>
                                          <p:spTgt spid="18"/>
                                        </p:tgtEl>
                                        <p:attrNameLst>
                                          <p:attrName>ppt_w</p:attrName>
                                        </p:attrNameLst>
                                      </p:cBhvr>
                                      <p:tavLst>
                                        <p:tav tm="0">
                                          <p:val>
                                            <p:fltVal val="0"/>
                                          </p:val>
                                        </p:tav>
                                        <p:tav tm="100000">
                                          <p:val>
                                            <p:strVal val="#ppt_w"/>
                                          </p:val>
                                        </p:tav>
                                      </p:tavLst>
                                    </p:anim>
                                    <p:anim calcmode="lin" valueType="num">
                                      <p:cBhvr>
                                        <p:cTn id="8" dur="3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3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300" fill="hold"/>
                                        <p:tgtEl>
                                          <p:spTgt spid="19"/>
                                        </p:tgtEl>
                                        <p:attrNameLst>
                                          <p:attrName>ppt_w</p:attrName>
                                        </p:attrNameLst>
                                      </p:cBhvr>
                                      <p:tavLst>
                                        <p:tav tm="0">
                                          <p:val>
                                            <p:fltVal val="0"/>
                                          </p:val>
                                        </p:tav>
                                        <p:tav tm="100000">
                                          <p:val>
                                            <p:strVal val="#ppt_w"/>
                                          </p:val>
                                        </p:tav>
                                      </p:tavLst>
                                    </p:anim>
                                    <p:anim calcmode="lin" valueType="num">
                                      <p:cBhvr>
                                        <p:cTn id="13" dur="3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6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300" fill="hold"/>
                                        <p:tgtEl>
                                          <p:spTgt spid="20"/>
                                        </p:tgtEl>
                                        <p:attrNameLst>
                                          <p:attrName>ppt_w</p:attrName>
                                        </p:attrNameLst>
                                      </p:cBhvr>
                                      <p:tavLst>
                                        <p:tav tm="0">
                                          <p:val>
                                            <p:fltVal val="0"/>
                                          </p:val>
                                        </p:tav>
                                        <p:tav tm="100000">
                                          <p:val>
                                            <p:strVal val="#ppt_w"/>
                                          </p:val>
                                        </p:tav>
                                      </p:tavLst>
                                    </p:anim>
                                    <p:anim calcmode="lin" valueType="num">
                                      <p:cBhvr>
                                        <p:cTn id="18" dur="3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9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300" fill="hold"/>
                                        <p:tgtEl>
                                          <p:spTgt spid="21"/>
                                        </p:tgtEl>
                                        <p:attrNameLst>
                                          <p:attrName>ppt_w</p:attrName>
                                        </p:attrNameLst>
                                      </p:cBhvr>
                                      <p:tavLst>
                                        <p:tav tm="0">
                                          <p:val>
                                            <p:fltVal val="0"/>
                                          </p:val>
                                        </p:tav>
                                        <p:tav tm="100000">
                                          <p:val>
                                            <p:strVal val="#ppt_w"/>
                                          </p:val>
                                        </p:tav>
                                      </p:tavLst>
                                    </p:anim>
                                    <p:anim calcmode="lin" valueType="num">
                                      <p:cBhvr>
                                        <p:cTn id="23" dur="3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12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300" fill="hold"/>
                                        <p:tgtEl>
                                          <p:spTgt spid="22"/>
                                        </p:tgtEl>
                                        <p:attrNameLst>
                                          <p:attrName>ppt_w</p:attrName>
                                        </p:attrNameLst>
                                      </p:cBhvr>
                                      <p:tavLst>
                                        <p:tav tm="0">
                                          <p:val>
                                            <p:fltVal val="0"/>
                                          </p:val>
                                        </p:tav>
                                        <p:tav tm="100000">
                                          <p:val>
                                            <p:strVal val="#ppt_w"/>
                                          </p:val>
                                        </p:tav>
                                      </p:tavLst>
                                    </p:anim>
                                    <p:anim calcmode="lin" valueType="num">
                                      <p:cBhvr>
                                        <p:cTn id="28" dur="3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5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200" fill="hold"/>
                                        <p:tgtEl>
                                          <p:spTgt spid="23"/>
                                        </p:tgtEl>
                                        <p:attrNameLst>
                                          <p:attrName>ppt_w</p:attrName>
                                        </p:attrNameLst>
                                      </p:cBhvr>
                                      <p:tavLst>
                                        <p:tav tm="0">
                                          <p:val>
                                            <p:fltVal val="0"/>
                                          </p:val>
                                        </p:tav>
                                        <p:tav tm="100000">
                                          <p:val>
                                            <p:strVal val="#ppt_w"/>
                                          </p:val>
                                        </p:tav>
                                      </p:tavLst>
                                    </p:anim>
                                    <p:anim calcmode="lin" valueType="num">
                                      <p:cBhvr>
                                        <p:cTn id="33" dur="2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7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200" fill="hold"/>
                                        <p:tgtEl>
                                          <p:spTgt spid="24"/>
                                        </p:tgtEl>
                                        <p:attrNameLst>
                                          <p:attrName>ppt_w</p:attrName>
                                        </p:attrNameLst>
                                      </p:cBhvr>
                                      <p:tavLst>
                                        <p:tav tm="0">
                                          <p:val>
                                            <p:fltVal val="0"/>
                                          </p:val>
                                        </p:tav>
                                        <p:tav tm="100000">
                                          <p:val>
                                            <p:strVal val="#ppt_w"/>
                                          </p:val>
                                        </p:tav>
                                      </p:tavLst>
                                    </p:anim>
                                    <p:anim calcmode="lin" valueType="num">
                                      <p:cBhvr>
                                        <p:cTn id="38" dur="200" fill="hold"/>
                                        <p:tgtEl>
                                          <p:spTgt spid="2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1900"/>
                            </p:stCondLst>
                            <p:childTnLst>
                              <p:par>
                                <p:cTn id="40" presetID="23" presetClass="entr" presetSubtype="16" fill="hold" grpId="7"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200" fill="hold"/>
                                        <p:tgtEl>
                                          <p:spTgt spid="25"/>
                                        </p:tgtEl>
                                        <p:attrNameLst>
                                          <p:attrName>ppt_w</p:attrName>
                                        </p:attrNameLst>
                                      </p:cBhvr>
                                      <p:tavLst>
                                        <p:tav tm="0">
                                          <p:val>
                                            <p:fltVal val="0"/>
                                          </p:val>
                                        </p:tav>
                                        <p:tav tm="100000">
                                          <p:val>
                                            <p:strVal val="#ppt_w"/>
                                          </p:val>
                                        </p:tav>
                                      </p:tavLst>
                                    </p:anim>
                                    <p:anim calcmode="lin" valueType="num">
                                      <p:cBhvr>
                                        <p:cTn id="43" dur="200" fill="hold"/>
                                        <p:tgtEl>
                                          <p:spTgt spid="25"/>
                                        </p:tgtEl>
                                        <p:attrNameLst>
                                          <p:attrName>ppt_h</p:attrName>
                                        </p:attrNameLst>
                                      </p:cBhvr>
                                      <p:tavLst>
                                        <p:tav tm="0">
                                          <p:val>
                                            <p:fltVal val="0"/>
                                          </p:val>
                                        </p:tav>
                                        <p:tav tm="100000">
                                          <p:val>
                                            <p:strVal val="#ppt_h"/>
                                          </p:val>
                                        </p:tav>
                                      </p:tavLst>
                                    </p:anim>
                                  </p:childTnLst>
                                </p:cTn>
                              </p:par>
                            </p:childTnLst>
                          </p:cTn>
                        </p:par>
                        <p:par>
                          <p:cTn id="44" fill="hold" nodeType="afterGroup">
                            <p:stCondLst>
                              <p:cond delay="2100"/>
                            </p:stCondLst>
                            <p:childTnLst>
                              <p:par>
                                <p:cTn id="45" presetID="23" presetClass="entr" presetSubtype="16" fill="hold" grpId="8" nodeType="after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200" fill="hold"/>
                                        <p:tgtEl>
                                          <p:spTgt spid="26"/>
                                        </p:tgtEl>
                                        <p:attrNameLst>
                                          <p:attrName>ppt_w</p:attrName>
                                        </p:attrNameLst>
                                      </p:cBhvr>
                                      <p:tavLst>
                                        <p:tav tm="0">
                                          <p:val>
                                            <p:fltVal val="0"/>
                                          </p:val>
                                        </p:tav>
                                        <p:tav tm="100000">
                                          <p:val>
                                            <p:strVal val="#ppt_w"/>
                                          </p:val>
                                        </p:tav>
                                      </p:tavLst>
                                    </p:anim>
                                    <p:anim calcmode="lin" valueType="num">
                                      <p:cBhvr>
                                        <p:cTn id="48" dur="200" fill="hold"/>
                                        <p:tgtEl>
                                          <p:spTgt spid="26"/>
                                        </p:tgtEl>
                                        <p:attrNameLst>
                                          <p:attrName>ppt_h</p:attrName>
                                        </p:attrNameLst>
                                      </p:cBhvr>
                                      <p:tavLst>
                                        <p:tav tm="0">
                                          <p:val>
                                            <p:fltVal val="0"/>
                                          </p:val>
                                        </p:tav>
                                        <p:tav tm="100000">
                                          <p:val>
                                            <p:strVal val="#ppt_h"/>
                                          </p:val>
                                        </p:tav>
                                      </p:tavLst>
                                    </p:anim>
                                  </p:childTnLst>
                                </p:cTn>
                              </p:par>
                            </p:childTnLst>
                          </p:cTn>
                        </p:par>
                        <p:par>
                          <p:cTn id="49" fill="hold" nodeType="afterGroup">
                            <p:stCondLst>
                              <p:cond delay="2300"/>
                            </p:stCondLst>
                            <p:childTnLst>
                              <p:par>
                                <p:cTn id="50" presetID="23" presetClass="entr" presetSubtype="16" fill="hold" grpId="9" nodeType="after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p:cTn id="52" dur="200" fill="hold"/>
                                        <p:tgtEl>
                                          <p:spTgt spid="27"/>
                                        </p:tgtEl>
                                        <p:attrNameLst>
                                          <p:attrName>ppt_w</p:attrName>
                                        </p:attrNameLst>
                                      </p:cBhvr>
                                      <p:tavLst>
                                        <p:tav tm="0">
                                          <p:val>
                                            <p:fltVal val="0"/>
                                          </p:val>
                                        </p:tav>
                                        <p:tav tm="100000">
                                          <p:val>
                                            <p:strVal val="#ppt_w"/>
                                          </p:val>
                                        </p:tav>
                                      </p:tavLst>
                                    </p:anim>
                                    <p:anim calcmode="lin" valueType="num">
                                      <p:cBhvr>
                                        <p:cTn id="53" dur="200" fill="hold"/>
                                        <p:tgtEl>
                                          <p:spTgt spid="27"/>
                                        </p:tgtEl>
                                        <p:attrNameLst>
                                          <p:attrName>ppt_h</p:attrName>
                                        </p:attrNameLst>
                                      </p:cBhvr>
                                      <p:tavLst>
                                        <p:tav tm="0">
                                          <p:val>
                                            <p:fltVal val="0"/>
                                          </p:val>
                                        </p:tav>
                                        <p:tav tm="100000">
                                          <p:val>
                                            <p:strVal val="#ppt_h"/>
                                          </p:val>
                                        </p:tav>
                                      </p:tavLst>
                                    </p:anim>
                                  </p:childTnLst>
                                </p:cTn>
                              </p:par>
                            </p:childTnLst>
                          </p:cTn>
                        </p:par>
                        <p:par>
                          <p:cTn id="54" fill="hold" nodeType="afterGroup">
                            <p:stCondLst>
                              <p:cond delay="2500"/>
                            </p:stCondLst>
                            <p:childTnLst>
                              <p:par>
                                <p:cTn id="55" presetID="23" presetClass="entr" presetSubtype="16" fill="hold" grpId="10" nodeType="afterEffect">
                                  <p:stCondLst>
                                    <p:cond delay="0"/>
                                  </p:stCondLst>
                                  <p:childTnLst>
                                    <p:set>
                                      <p:cBhvr>
                                        <p:cTn id="56" dur="1" fill="hold">
                                          <p:stCondLst>
                                            <p:cond delay="0"/>
                                          </p:stCondLst>
                                        </p:cTn>
                                        <p:tgtEl>
                                          <p:spTgt spid="28"/>
                                        </p:tgtEl>
                                        <p:attrNameLst>
                                          <p:attrName>style.visibility</p:attrName>
                                        </p:attrNameLst>
                                      </p:cBhvr>
                                      <p:to>
                                        <p:strVal val="visible"/>
                                      </p:to>
                                    </p:set>
                                    <p:anim calcmode="lin" valueType="num">
                                      <p:cBhvr>
                                        <p:cTn id="57" dur="200" fill="hold"/>
                                        <p:tgtEl>
                                          <p:spTgt spid="28"/>
                                        </p:tgtEl>
                                        <p:attrNameLst>
                                          <p:attrName>ppt_w</p:attrName>
                                        </p:attrNameLst>
                                      </p:cBhvr>
                                      <p:tavLst>
                                        <p:tav tm="0">
                                          <p:val>
                                            <p:fltVal val="0"/>
                                          </p:val>
                                        </p:tav>
                                        <p:tav tm="100000">
                                          <p:val>
                                            <p:strVal val="#ppt_w"/>
                                          </p:val>
                                        </p:tav>
                                      </p:tavLst>
                                    </p:anim>
                                    <p:anim calcmode="lin" valueType="num">
                                      <p:cBhvr>
                                        <p:cTn id="58" dur="200" fill="hold"/>
                                        <p:tgtEl>
                                          <p:spTgt spid="2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P spid="25" grpId="7" animBg="1"/>
      <p:bldP spid="26" grpId="8" animBg="1"/>
      <p:bldP spid="27" grpId="9" animBg="1"/>
      <p:bldP spid="28" grpId="1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系统实现</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2413000"/>
            <a:ext cx="9956800" cy="1066800"/>
          </a:xfrm>
          <a:prstGeom prst="roundRect">
            <a:avLst>
              <a:gd name="adj" fmla="val 7142"/>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New shape"/>
          <p:cNvSpPr/>
          <p:nvPr/>
        </p:nvSpPr>
        <p:spPr>
          <a:xfrm>
            <a:off x="1168400" y="2463800"/>
            <a:ext cx="76200" cy="9652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New shape"/>
          <p:cNvSpPr/>
          <p:nvPr/>
        </p:nvSpPr>
        <p:spPr>
          <a:xfrm>
            <a:off x="1117600" y="3606800"/>
            <a:ext cx="9956800" cy="1066800"/>
          </a:xfrm>
          <a:prstGeom prst="roundRect">
            <a:avLst>
              <a:gd name="adj" fmla="val 7142"/>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New shape"/>
          <p:cNvSpPr/>
          <p:nvPr/>
        </p:nvSpPr>
        <p:spPr>
          <a:xfrm>
            <a:off x="1168400" y="3657600"/>
            <a:ext cx="76200" cy="9652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New shape"/>
          <p:cNvSpPr/>
          <p:nvPr/>
        </p:nvSpPr>
        <p:spPr>
          <a:xfrm>
            <a:off x="1117600" y="4800600"/>
            <a:ext cx="9956800" cy="1066800"/>
          </a:xfrm>
          <a:prstGeom prst="roundRect">
            <a:avLst>
              <a:gd name="adj" fmla="val 7142"/>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New shape"/>
          <p:cNvSpPr/>
          <p:nvPr/>
        </p:nvSpPr>
        <p:spPr>
          <a:xfrm>
            <a:off x="1168400" y="4851400"/>
            <a:ext cx="76200" cy="9652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New shape"/>
          <p:cNvSpPr/>
          <p:nvPr/>
        </p:nvSpPr>
        <p:spPr>
          <a:xfrm>
            <a:off x="1117600" y="16891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a:solidFill>
                  <a:srgbClr val="000000"/>
                </a:solidFill>
                <a:latin typeface="宋体"/>
              </a:rPr>
              <a:t>遇到的困难与解决方案</a:t>
            </a:r>
          </a:p>
        </p:txBody>
      </p:sp>
      <p:sp>
        <p:nvSpPr>
          <p:cNvPr id="25" name="New shape"/>
          <p:cNvSpPr/>
          <p:nvPr/>
        </p:nvSpPr>
        <p:spPr>
          <a:xfrm>
            <a:off x="1435100" y="2603500"/>
            <a:ext cx="9639300" cy="660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0000" lnSpcReduction="10000"/>
          </a:bodyPr>
          <a:lstStyle/>
          <a:p>
            <a:pPr indent="0" algn="l">
              <a:lnSpc>
                <a:spcPct val="125000"/>
              </a:lnSpc>
            </a:pPr>
            <a:r>
              <a:rPr sz="2100" b="0">
                <a:solidFill>
                  <a:srgbClr val="000000"/>
                </a:solidFill>
                <a:latin typeface="宋体"/>
              </a:rPr>
              <a:t>WebSocket 连接不稳定: 在开发过程中，WebSocket 连接经常出现断开的情况。通过增加重试机制和优化网络配置，解决了这一问题</a:t>
            </a:r>
          </a:p>
        </p:txBody>
      </p:sp>
      <p:sp>
        <p:nvSpPr>
          <p:cNvPr id="26" name="New shape"/>
          <p:cNvSpPr/>
          <p:nvPr/>
        </p:nvSpPr>
        <p:spPr>
          <a:xfrm>
            <a:off x="1435100" y="3797300"/>
            <a:ext cx="9639300" cy="660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0000" lnSpcReduction="10000"/>
          </a:bodyPr>
          <a:lstStyle/>
          <a:p>
            <a:pPr indent="0" algn="l">
              <a:lnSpc>
                <a:spcPct val="125000"/>
              </a:lnSpc>
            </a:pPr>
            <a:r>
              <a:rPr sz="2100" b="0">
                <a:solidFill>
                  <a:srgbClr val="000000"/>
                </a:solidFill>
                <a:latin typeface="宋体"/>
              </a:rPr>
              <a:t>数据解析错误: 用户上传的 Excel 文件格式不一致，导致数据解析失败。通过增加文件格式校验和错误提示，提升了系统的健壮性</a:t>
            </a:r>
          </a:p>
        </p:txBody>
      </p:sp>
      <p:sp>
        <p:nvSpPr>
          <p:cNvPr id="27" name="New shape"/>
          <p:cNvSpPr/>
          <p:nvPr/>
        </p:nvSpPr>
        <p:spPr>
          <a:xfrm>
            <a:off x="1435100" y="4991100"/>
            <a:ext cx="9639300" cy="660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0000" lnSpcReduction="10000"/>
          </a:bodyPr>
          <a:lstStyle/>
          <a:p>
            <a:pPr indent="0" algn="l">
              <a:lnSpc>
                <a:spcPct val="125000"/>
              </a:lnSpc>
            </a:pPr>
            <a:r>
              <a:rPr sz="2100" b="0">
                <a:solidFill>
                  <a:srgbClr val="000000"/>
                </a:solidFill>
                <a:latin typeface="宋体"/>
              </a:rPr>
              <a:t>AI 模型响应慢: 初期 AI 模型响应时间较长，通过优化模型参数和增加缓存机制，显著提升了响应速度</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300" fill="hold"/>
                                        <p:tgtEl>
                                          <p:spTgt spid="18"/>
                                        </p:tgtEl>
                                        <p:attrNameLst>
                                          <p:attrName>ppt_w</p:attrName>
                                        </p:attrNameLst>
                                      </p:cBhvr>
                                      <p:tavLst>
                                        <p:tav tm="0">
                                          <p:val>
                                            <p:fltVal val="0"/>
                                          </p:val>
                                        </p:tav>
                                        <p:tav tm="100000">
                                          <p:val>
                                            <p:strVal val="#ppt_w"/>
                                          </p:val>
                                        </p:tav>
                                      </p:tavLst>
                                    </p:anim>
                                    <p:anim calcmode="lin" valueType="num">
                                      <p:cBhvr>
                                        <p:cTn id="8" dur="3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3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300" fill="hold"/>
                                        <p:tgtEl>
                                          <p:spTgt spid="19"/>
                                        </p:tgtEl>
                                        <p:attrNameLst>
                                          <p:attrName>ppt_w</p:attrName>
                                        </p:attrNameLst>
                                      </p:cBhvr>
                                      <p:tavLst>
                                        <p:tav tm="0">
                                          <p:val>
                                            <p:fltVal val="0"/>
                                          </p:val>
                                        </p:tav>
                                        <p:tav tm="100000">
                                          <p:val>
                                            <p:strVal val="#ppt_w"/>
                                          </p:val>
                                        </p:tav>
                                      </p:tavLst>
                                    </p:anim>
                                    <p:anim calcmode="lin" valueType="num">
                                      <p:cBhvr>
                                        <p:cTn id="13" dur="3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6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300" fill="hold"/>
                                        <p:tgtEl>
                                          <p:spTgt spid="20"/>
                                        </p:tgtEl>
                                        <p:attrNameLst>
                                          <p:attrName>ppt_w</p:attrName>
                                        </p:attrNameLst>
                                      </p:cBhvr>
                                      <p:tavLst>
                                        <p:tav tm="0">
                                          <p:val>
                                            <p:fltVal val="0"/>
                                          </p:val>
                                        </p:tav>
                                        <p:tav tm="100000">
                                          <p:val>
                                            <p:strVal val="#ppt_w"/>
                                          </p:val>
                                        </p:tav>
                                      </p:tavLst>
                                    </p:anim>
                                    <p:anim calcmode="lin" valueType="num">
                                      <p:cBhvr>
                                        <p:cTn id="18" dur="3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9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300" fill="hold"/>
                                        <p:tgtEl>
                                          <p:spTgt spid="21"/>
                                        </p:tgtEl>
                                        <p:attrNameLst>
                                          <p:attrName>ppt_w</p:attrName>
                                        </p:attrNameLst>
                                      </p:cBhvr>
                                      <p:tavLst>
                                        <p:tav tm="0">
                                          <p:val>
                                            <p:fltVal val="0"/>
                                          </p:val>
                                        </p:tav>
                                        <p:tav tm="100000">
                                          <p:val>
                                            <p:strVal val="#ppt_w"/>
                                          </p:val>
                                        </p:tav>
                                      </p:tavLst>
                                    </p:anim>
                                    <p:anim calcmode="lin" valueType="num">
                                      <p:cBhvr>
                                        <p:cTn id="23" dur="3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12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300" fill="hold"/>
                                        <p:tgtEl>
                                          <p:spTgt spid="22"/>
                                        </p:tgtEl>
                                        <p:attrNameLst>
                                          <p:attrName>ppt_w</p:attrName>
                                        </p:attrNameLst>
                                      </p:cBhvr>
                                      <p:tavLst>
                                        <p:tav tm="0">
                                          <p:val>
                                            <p:fltVal val="0"/>
                                          </p:val>
                                        </p:tav>
                                        <p:tav tm="100000">
                                          <p:val>
                                            <p:strVal val="#ppt_w"/>
                                          </p:val>
                                        </p:tav>
                                      </p:tavLst>
                                    </p:anim>
                                    <p:anim calcmode="lin" valueType="num">
                                      <p:cBhvr>
                                        <p:cTn id="28" dur="3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5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300" fill="hold"/>
                                        <p:tgtEl>
                                          <p:spTgt spid="23"/>
                                        </p:tgtEl>
                                        <p:attrNameLst>
                                          <p:attrName>ppt_w</p:attrName>
                                        </p:attrNameLst>
                                      </p:cBhvr>
                                      <p:tavLst>
                                        <p:tav tm="0">
                                          <p:val>
                                            <p:fltVal val="0"/>
                                          </p:val>
                                        </p:tav>
                                        <p:tav tm="100000">
                                          <p:val>
                                            <p:strVal val="#ppt_w"/>
                                          </p:val>
                                        </p:tav>
                                      </p:tavLst>
                                    </p:anim>
                                    <p:anim calcmode="lin" valueType="num">
                                      <p:cBhvr>
                                        <p:cTn id="33" dur="3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8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200" fill="hold"/>
                                        <p:tgtEl>
                                          <p:spTgt spid="24"/>
                                        </p:tgtEl>
                                        <p:attrNameLst>
                                          <p:attrName>ppt_w</p:attrName>
                                        </p:attrNameLst>
                                      </p:cBhvr>
                                      <p:tavLst>
                                        <p:tav tm="0">
                                          <p:val>
                                            <p:fltVal val="0"/>
                                          </p:val>
                                        </p:tav>
                                        <p:tav tm="100000">
                                          <p:val>
                                            <p:strVal val="#ppt_w"/>
                                          </p:val>
                                        </p:tav>
                                      </p:tavLst>
                                    </p:anim>
                                    <p:anim calcmode="lin" valueType="num">
                                      <p:cBhvr>
                                        <p:cTn id="38" dur="200" fill="hold"/>
                                        <p:tgtEl>
                                          <p:spTgt spid="2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2000"/>
                            </p:stCondLst>
                            <p:childTnLst>
                              <p:par>
                                <p:cTn id="40" presetID="23" presetClass="entr" presetSubtype="16" fill="hold" grpId="7"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200" fill="hold"/>
                                        <p:tgtEl>
                                          <p:spTgt spid="25"/>
                                        </p:tgtEl>
                                        <p:attrNameLst>
                                          <p:attrName>ppt_w</p:attrName>
                                        </p:attrNameLst>
                                      </p:cBhvr>
                                      <p:tavLst>
                                        <p:tav tm="0">
                                          <p:val>
                                            <p:fltVal val="0"/>
                                          </p:val>
                                        </p:tav>
                                        <p:tav tm="100000">
                                          <p:val>
                                            <p:strVal val="#ppt_w"/>
                                          </p:val>
                                        </p:tav>
                                      </p:tavLst>
                                    </p:anim>
                                    <p:anim calcmode="lin" valueType="num">
                                      <p:cBhvr>
                                        <p:cTn id="43" dur="200" fill="hold"/>
                                        <p:tgtEl>
                                          <p:spTgt spid="25"/>
                                        </p:tgtEl>
                                        <p:attrNameLst>
                                          <p:attrName>ppt_h</p:attrName>
                                        </p:attrNameLst>
                                      </p:cBhvr>
                                      <p:tavLst>
                                        <p:tav tm="0">
                                          <p:val>
                                            <p:fltVal val="0"/>
                                          </p:val>
                                        </p:tav>
                                        <p:tav tm="100000">
                                          <p:val>
                                            <p:strVal val="#ppt_h"/>
                                          </p:val>
                                        </p:tav>
                                      </p:tavLst>
                                    </p:anim>
                                  </p:childTnLst>
                                </p:cTn>
                              </p:par>
                            </p:childTnLst>
                          </p:cTn>
                        </p:par>
                        <p:par>
                          <p:cTn id="44" fill="hold" nodeType="afterGroup">
                            <p:stCondLst>
                              <p:cond delay="2200"/>
                            </p:stCondLst>
                            <p:childTnLst>
                              <p:par>
                                <p:cTn id="45" presetID="23" presetClass="entr" presetSubtype="16" fill="hold" grpId="8" nodeType="after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200" fill="hold"/>
                                        <p:tgtEl>
                                          <p:spTgt spid="26"/>
                                        </p:tgtEl>
                                        <p:attrNameLst>
                                          <p:attrName>ppt_w</p:attrName>
                                        </p:attrNameLst>
                                      </p:cBhvr>
                                      <p:tavLst>
                                        <p:tav tm="0">
                                          <p:val>
                                            <p:fltVal val="0"/>
                                          </p:val>
                                        </p:tav>
                                        <p:tav tm="100000">
                                          <p:val>
                                            <p:strVal val="#ppt_w"/>
                                          </p:val>
                                        </p:tav>
                                      </p:tavLst>
                                    </p:anim>
                                    <p:anim calcmode="lin" valueType="num">
                                      <p:cBhvr>
                                        <p:cTn id="48" dur="200" fill="hold"/>
                                        <p:tgtEl>
                                          <p:spTgt spid="26"/>
                                        </p:tgtEl>
                                        <p:attrNameLst>
                                          <p:attrName>ppt_h</p:attrName>
                                        </p:attrNameLst>
                                      </p:cBhvr>
                                      <p:tavLst>
                                        <p:tav tm="0">
                                          <p:val>
                                            <p:fltVal val="0"/>
                                          </p:val>
                                        </p:tav>
                                        <p:tav tm="100000">
                                          <p:val>
                                            <p:strVal val="#ppt_h"/>
                                          </p:val>
                                        </p:tav>
                                      </p:tavLst>
                                    </p:anim>
                                  </p:childTnLst>
                                </p:cTn>
                              </p:par>
                            </p:childTnLst>
                          </p:cTn>
                        </p:par>
                        <p:par>
                          <p:cTn id="49" fill="hold" nodeType="afterGroup">
                            <p:stCondLst>
                              <p:cond delay="2400"/>
                            </p:stCondLst>
                            <p:childTnLst>
                              <p:par>
                                <p:cTn id="50" presetID="23" presetClass="entr" presetSubtype="16" fill="hold" grpId="9" nodeType="after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p:cTn id="52" dur="200" fill="hold"/>
                                        <p:tgtEl>
                                          <p:spTgt spid="27"/>
                                        </p:tgtEl>
                                        <p:attrNameLst>
                                          <p:attrName>ppt_w</p:attrName>
                                        </p:attrNameLst>
                                      </p:cBhvr>
                                      <p:tavLst>
                                        <p:tav tm="0">
                                          <p:val>
                                            <p:fltVal val="0"/>
                                          </p:val>
                                        </p:tav>
                                        <p:tav tm="100000">
                                          <p:val>
                                            <p:strVal val="#ppt_w"/>
                                          </p:val>
                                        </p:tav>
                                      </p:tavLst>
                                    </p:anim>
                                    <p:anim calcmode="lin" valueType="num">
                                      <p:cBhvr>
                                        <p:cTn id="53" dur="200" fill="hold"/>
                                        <p:tgtEl>
                                          <p:spTgt spid="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P spid="25" grpId="7" animBg="1"/>
      <p:bldP spid="26" grpId="8" animBg="1"/>
      <p:bldP spid="27" grpId="9"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pic>
        <p:nvPicPr>
          <p:cNvPr id="2" name="图片 1" descr="图片包含 形状&#10;&#10;描述已自动生成"/>
          <p:cNvPicPr>
            <a:picLocks noChangeAspect="1"/>
          </p:cNvPicPr>
          <p:nvPr/>
        </p:nvPicPr>
        <p:blipFill>
          <a:blip r:embed="rId3"/>
          <a:stretch>
            <a:fillRect/>
          </a:stretch>
        </p:blipFill>
        <p:spPr>
          <a:xfrm>
            <a:off x="0" y="0"/>
            <a:ext cx="12192000" cy="6097721"/>
          </a:xfrm>
          <a:prstGeom prst="rect">
            <a:avLst/>
          </a:prstGeom>
        </p:spPr>
      </p:pic>
      <p:pic>
        <p:nvPicPr>
          <p:cNvPr id="3" name="图片 2" descr="湖边的景色&#10;&#10;描述已自动生成"/>
          <p:cNvPicPr>
            <a:picLocks noChangeAspect="1"/>
          </p:cNvPicPr>
          <p:nvPr/>
        </p:nvPicPr>
        <p:blipFill>
          <a:blip r:embed="rId4"/>
          <a:stretch>
            <a:fillRect/>
          </a:stretch>
        </p:blipFill>
        <p:spPr>
          <a:xfrm>
            <a:off x="0" y="760279"/>
            <a:ext cx="12192000" cy="6097721"/>
          </a:xfrm>
          <a:prstGeom prst="rect">
            <a:avLst/>
          </a:prstGeom>
        </p:spPr>
      </p:pic>
      <p:grpSp>
        <p:nvGrpSpPr>
          <p:cNvPr id="4" name="组合 3"/>
          <p:cNvGrpSpPr/>
          <p:nvPr/>
        </p:nvGrpSpPr>
        <p:grpSpPr>
          <a:xfrm>
            <a:off x="0" y="-2447492"/>
            <a:ext cx="12192000" cy="8545213"/>
            <a:chOff x="0" y="-2447492"/>
            <a:chExt cx="12192000" cy="8545213"/>
          </a:xfrm>
        </p:grpSpPr>
        <p:pic>
          <p:nvPicPr>
            <p:cNvPr id="6" name="图片 5" descr="穿黑色衣服的人的黑白照&#10;&#10;低可信度描述已自动生成"/>
            <p:cNvPicPr>
              <a:picLocks noChangeAspect="1"/>
            </p:cNvPicPr>
            <p:nvPr/>
          </p:nvPicPr>
          <p:blipFill>
            <a:blip r:embed="rId5"/>
            <a:stretch>
              <a:fillRect/>
            </a:stretch>
          </p:blipFill>
          <p:spPr>
            <a:xfrm>
              <a:off x="0" y="0"/>
              <a:ext cx="12192000" cy="6097721"/>
            </a:xfrm>
            <a:custGeom>
              <a:avLst/>
              <a:gdLst>
                <a:gd name="connsiteX0" fmla="*/ 9423461 w 12192000"/>
                <a:gd name="connsiteY0" fmla="*/ 3048860 h 6097721"/>
                <a:gd name="connsiteX1" fmla="*/ 8980398 w 12192000"/>
                <a:gd name="connsiteY1" fmla="*/ 3437721 h 6097721"/>
                <a:gd name="connsiteX2" fmla="*/ 9423461 w 12192000"/>
                <a:gd name="connsiteY2" fmla="*/ 3826582 h 6097721"/>
                <a:gd name="connsiteX3" fmla="*/ 9866524 w 12192000"/>
                <a:gd name="connsiteY3" fmla="*/ 3437721 h 6097721"/>
                <a:gd name="connsiteX4" fmla="*/ 9423461 w 12192000"/>
                <a:gd name="connsiteY4" fmla="*/ 3048860 h 6097721"/>
                <a:gd name="connsiteX5" fmla="*/ 0 w 12192000"/>
                <a:gd name="connsiteY5" fmla="*/ 0 h 6097721"/>
                <a:gd name="connsiteX6" fmla="*/ 12192000 w 12192000"/>
                <a:gd name="connsiteY6" fmla="*/ 0 h 6097721"/>
                <a:gd name="connsiteX7" fmla="*/ 12192000 w 12192000"/>
                <a:gd name="connsiteY7" fmla="*/ 6097721 h 6097721"/>
                <a:gd name="connsiteX8" fmla="*/ 0 w 12192000"/>
                <a:gd name="connsiteY8" fmla="*/ 6097721 h 609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097721">
                  <a:moveTo>
                    <a:pt x="9423461" y="3048860"/>
                  </a:moveTo>
                  <a:cubicBezTo>
                    <a:pt x="9178764" y="3048860"/>
                    <a:pt x="8980398" y="3222959"/>
                    <a:pt x="8980398" y="3437721"/>
                  </a:cubicBezTo>
                  <a:cubicBezTo>
                    <a:pt x="8980398" y="3652483"/>
                    <a:pt x="9178764" y="3826582"/>
                    <a:pt x="9423461" y="3826582"/>
                  </a:cubicBezTo>
                  <a:cubicBezTo>
                    <a:pt x="9668158" y="3826582"/>
                    <a:pt x="9866524" y="3652483"/>
                    <a:pt x="9866524" y="3437721"/>
                  </a:cubicBezTo>
                  <a:cubicBezTo>
                    <a:pt x="9866524" y="3222959"/>
                    <a:pt x="9668158" y="3048860"/>
                    <a:pt x="9423461" y="3048860"/>
                  </a:cubicBezTo>
                  <a:close/>
                  <a:moveTo>
                    <a:pt x="0" y="0"/>
                  </a:moveTo>
                  <a:lnTo>
                    <a:pt x="12192000" y="0"/>
                  </a:lnTo>
                  <a:lnTo>
                    <a:pt x="12192000" y="6097721"/>
                  </a:lnTo>
                  <a:lnTo>
                    <a:pt x="0" y="6097721"/>
                  </a:lnTo>
                  <a:close/>
                </a:path>
              </a:pathLst>
            </a:custGeom>
          </p:spPr>
        </p:pic>
        <p:pic>
          <p:nvPicPr>
            <p:cNvPr id="7" name="图片 6" descr="穿黑色衣服的人的黑白照&#10;&#10;低可信度描述已自动生成"/>
            <p:cNvPicPr>
              <a:picLocks noChangeAspect="1"/>
            </p:cNvPicPr>
            <p:nvPr/>
          </p:nvPicPr>
          <p:blipFill>
            <a:blip r:embed="rId6"/>
            <a:stretch>
              <a:fillRect/>
            </a:stretch>
          </p:blipFill>
          <p:spPr>
            <a:xfrm>
              <a:off x="7038905" y="-2447492"/>
              <a:ext cx="3722976" cy="6097721"/>
            </a:xfrm>
            <a:prstGeom prst="rect">
              <a:avLst/>
            </a:prstGeom>
          </p:spPr>
        </p:pic>
        <p:pic>
          <p:nvPicPr>
            <p:cNvPr id="8" name="图片 7" descr="穿黑色衣服的人的黑白照&#10;&#10;低可信度描述已自动生成"/>
            <p:cNvPicPr>
              <a:picLocks noChangeAspect="1"/>
            </p:cNvPicPr>
            <p:nvPr/>
          </p:nvPicPr>
          <p:blipFill>
            <a:blip r:embed="rId7"/>
            <a:stretch>
              <a:fillRect/>
            </a:stretch>
          </p:blipFill>
          <p:spPr>
            <a:xfrm>
              <a:off x="9295898" y="-1803928"/>
              <a:ext cx="2308727" cy="6097721"/>
            </a:xfrm>
            <a:prstGeom prst="rect">
              <a:avLst/>
            </a:prstGeom>
          </p:spPr>
        </p:pic>
      </p:grpSp>
      <p:grpSp>
        <p:nvGrpSpPr>
          <p:cNvPr id="37" name="组合 36"/>
          <p:cNvGrpSpPr/>
          <p:nvPr/>
        </p:nvGrpSpPr>
        <p:grpSpPr>
          <a:xfrm>
            <a:off x="4404370" y="1479727"/>
            <a:ext cx="3383261" cy="657415"/>
            <a:chOff x="4771220" y="1773297"/>
            <a:chExt cx="2670192" cy="657415"/>
          </a:xfrm>
        </p:grpSpPr>
        <p:sp>
          <p:nvSpPr>
            <p:cNvPr id="38" name="矩形: 圆角 2"/>
            <p:cNvSpPr/>
            <p:nvPr/>
          </p:nvSpPr>
          <p:spPr>
            <a:xfrm>
              <a:off x="4771220" y="1773297"/>
              <a:ext cx="2670192" cy="657415"/>
            </a:xfrm>
            <a:prstGeom prst="roundRect">
              <a:avLst>
                <a:gd name="adj" fmla="val 50000"/>
              </a:avLst>
            </a:prstGeom>
            <a:gradFill>
              <a:gsLst>
                <a:gs pos="0">
                  <a:srgbClr val="FF0000"/>
                </a:gs>
                <a:gs pos="100000">
                  <a:srgbClr val="C00000"/>
                </a:gs>
              </a:gsLst>
              <a:lin ang="27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9" name="文本框 38"/>
            <p:cNvSpPr txBox="1"/>
            <p:nvPr/>
          </p:nvSpPr>
          <p:spPr>
            <a:xfrm>
              <a:off x="5073438" y="1815533"/>
              <a:ext cx="2101946" cy="5796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a:r>
                <a:rPr lang="zh-CN" altLang="en-US" sz="3200" b="1">
                  <a:solidFill>
                    <a:srgbClr val="FFFDF8"/>
                  </a:solidFill>
                  <a:latin typeface="宋体"/>
                  <a:ea typeface="微软雅黑" panose="020B0503020204020204" pitchFamily="34" charset="-122"/>
                  <a:cs typeface="思源宋体 CN Heavy" panose="02020900000000000000" charset="-122"/>
                  <a:sym typeface="宋体"/>
                </a:rPr>
                <a:t>第5部分</a:t>
              </a:r>
            </a:p>
          </p:txBody>
        </p:sp>
      </p:grpSp>
      <p:sp>
        <p:nvSpPr>
          <p:cNvPr id="40" name="TextBox 48"/>
          <p:cNvSpPr txBox="1"/>
          <p:nvPr/>
        </p:nvSpPr>
        <p:spPr>
          <a:xfrm>
            <a:off x="2290994" y="2724048"/>
            <a:ext cx="7120909" cy="1569047"/>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defTabSz="685800"/>
            <a:r>
              <a:rPr lang="zh-CN" altLang="en-US" sz="6600" b="1">
                <a:solidFill>
                  <a:srgbClr val="000000"/>
                </a:solidFill>
                <a:latin typeface="宋体"/>
                <a:ea typeface="微软雅黑" panose="020B0503020204020204" pitchFamily="34" charset="-122"/>
                <a:cs typeface="+mn-ea"/>
                <a:sym typeface="宋体"/>
              </a:rPr>
              <a:t>测试分析</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arn(inVertical)" prLst="">
                                      <p:cBhvr>
                                        <p:cTn id="7" dur="500"/>
                                        <p:tgtEl>
                                          <p:spTgt spid="37"/>
                                        </p:tgtEl>
                                      </p:cBhvr>
                                    </p:animEffect>
                                  </p:childTnLst>
                                </p:cTn>
                              </p:par>
                            </p:childTnLst>
                          </p:cTn>
                        </p:par>
                        <p:par>
                          <p:cTn id="8" fill="hold" nodeType="afterGroup">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p:cTn id="11" dur="500" fill="hold"/>
                                        <p:tgtEl>
                                          <p:spTgt spid="40"/>
                                        </p:tgtEl>
                                        <p:attrNameLst>
                                          <p:attrName>ppt_w</p:attrName>
                                        </p:attrNameLst>
                                      </p:cBhvr>
                                      <p:tavLst>
                                        <p:tav tm="0">
                                          <p:val>
                                            <p:fltVal val="0"/>
                                          </p:val>
                                        </p:tav>
                                        <p:tav tm="100000">
                                          <p:val>
                                            <p:strVal val="#ppt_w"/>
                                          </p:val>
                                        </p:tav>
                                      </p:tavLst>
                                    </p:anim>
                                    <p:anim calcmode="lin" valueType="num">
                                      <p:cBhvr>
                                        <p:cTn id="12" dur="500" fill="hold"/>
                                        <p:tgtEl>
                                          <p:spTgt spid="40"/>
                                        </p:tgtEl>
                                        <p:attrNameLst>
                                          <p:attrName>ppt_h</p:attrName>
                                        </p:attrNameLst>
                                      </p:cBhvr>
                                      <p:tavLst>
                                        <p:tav tm="0">
                                          <p:val>
                                            <p:fltVal val="0"/>
                                          </p:val>
                                        </p:tav>
                                        <p:tav tm="100000">
                                          <p:val>
                                            <p:strVal val="#ppt_h"/>
                                          </p:val>
                                        </p:tav>
                                      </p:tavLst>
                                    </p:anim>
                                    <p:animEffect transition="in" filter="fade" prLst="">
                                      <p:cBhvr>
                                        <p:cTn id="13" dur="500"/>
                                        <p:tgtEl>
                                          <p:spTgt spid="40"/>
                                        </p:tgtEl>
                                      </p:cBhvr>
                                    </p:animEffect>
                                  </p:childTnLst>
                                </p:cTn>
                              </p:par>
                            </p:childTnLst>
                          </p:cTn>
                        </p:par>
                        <p:par>
                          <p:cTn id="14" fill="hold" nodeType="afterGroup">
                            <p:stCondLst>
                              <p:cond delay="1000"/>
                            </p:stCondLst>
                            <p:childTnLst>
                              <p:par>
                                <p:cTn id="15" presetID="42"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rLst="">
                                      <p:cBhvr>
                                        <p:cTn id="17" dur="500"/>
                                        <p:tgtEl>
                                          <p:spTgt spid="4"/>
                                        </p:tgtEl>
                                      </p:cBhvr>
                                    </p:animEffect>
                                    <p:anim calcmode="lin" valueType="num">
                                      <p:cBhvr>
                                        <p:cTn id="18" dur="500" fill="hold"/>
                                        <p:tgtEl>
                                          <p:spTgt spid="4"/>
                                        </p:tgtEl>
                                        <p:attrNameLst>
                                          <p:attrName>ppt_x</p:attrName>
                                        </p:attrNameLst>
                                      </p:cBhvr>
                                      <p:tavLst>
                                        <p:tav tm="0">
                                          <p:val>
                                            <p:strVal val="#ppt_x"/>
                                          </p:val>
                                        </p:tav>
                                        <p:tav tm="100000">
                                          <p:val>
                                            <p:strVal val="#ppt_x"/>
                                          </p:val>
                                        </p:tav>
                                      </p:tavLst>
                                    </p:anim>
                                    <p:anim calcmode="lin" valueType="num">
                                      <p:cBhvr>
                                        <p:cTn id="1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测试分析</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pic>
        <p:nvPicPr>
          <p:cNvPr id="18" name="New picture"/>
          <p:cNvPicPr/>
          <p:nvPr/>
        </p:nvPicPr>
        <p:blipFill>
          <a:blip r:embed="rId6"/>
          <a:stretch>
            <a:fillRect/>
          </a:stretch>
        </p:blipFill>
        <p:spPr>
          <a:xfrm>
            <a:off x="1117600" y="4051300"/>
            <a:ext cx="4914900" cy="1270000"/>
          </a:xfrm>
          <a:prstGeom prst="rect">
            <a:avLst/>
          </a:prstGeom>
          <a:ln>
            <a:solidFill>
              <a:srgbClr val="FFFFFF">
                <a:alpha val="0"/>
              </a:srgbClr>
            </a:solidFill>
          </a:ln>
        </p:spPr>
      </p:pic>
      <p:pic>
        <p:nvPicPr>
          <p:cNvPr id="19" name="New picture"/>
          <p:cNvPicPr/>
          <p:nvPr/>
        </p:nvPicPr>
        <p:blipFill>
          <a:blip r:embed="rId6"/>
          <a:stretch>
            <a:fillRect/>
          </a:stretch>
        </p:blipFill>
        <p:spPr>
          <a:xfrm>
            <a:off x="6159500" y="4051300"/>
            <a:ext cx="4914900" cy="1270000"/>
          </a:xfrm>
          <a:prstGeom prst="rect">
            <a:avLst/>
          </a:prstGeom>
          <a:ln>
            <a:solidFill>
              <a:srgbClr val="FFFFFF">
                <a:alpha val="0"/>
              </a:srgbClr>
            </a:solidFill>
          </a:ln>
        </p:spPr>
      </p:pic>
      <p:sp>
        <p:nvSpPr>
          <p:cNvPr id="20" name="New shape"/>
          <p:cNvSpPr/>
          <p:nvPr/>
        </p:nvSpPr>
        <p:spPr>
          <a:xfrm>
            <a:off x="1117600" y="20955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数据来源与规模</a:t>
            </a:r>
            <a:endParaRPr sz="3700" b="1" dirty="0">
              <a:solidFill>
                <a:srgbClr val="000000"/>
              </a:solidFill>
              <a:latin typeface="宋体"/>
            </a:endParaRPr>
          </a:p>
        </p:txBody>
      </p:sp>
      <p:sp>
        <p:nvSpPr>
          <p:cNvPr id="21" name="New shape"/>
          <p:cNvSpPr/>
          <p:nvPr/>
        </p:nvSpPr>
        <p:spPr>
          <a:xfrm>
            <a:off x="1371600" y="2819400"/>
            <a:ext cx="4406900" cy="2057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87500" lnSpcReduction="20000"/>
          </a:bodyPr>
          <a:lstStyle/>
          <a:p>
            <a:pPr indent="0" algn="l">
              <a:lnSpc>
                <a:spcPct val="125000"/>
              </a:lnSpc>
            </a:pPr>
            <a:r>
              <a:rPr sz="2400" b="0">
                <a:solidFill>
                  <a:srgbClr val="000000"/>
                </a:solidFill>
                <a:latin typeface="宋体"/>
              </a:rPr>
              <a:t>数据来源：数据主要来源于CPCD、CEADs网站的公开信息，覆盖全国范围内的碳排放因子记录。这些数据包括但不限于省份、事物种类、行为活动，总量跨度25年，确保分析的广度和深度</a:t>
            </a:r>
          </a:p>
        </p:txBody>
      </p:sp>
      <p:sp>
        <p:nvSpPr>
          <p:cNvPr id="22" name="New shape"/>
          <p:cNvSpPr/>
          <p:nvPr/>
        </p:nvSpPr>
        <p:spPr>
          <a:xfrm>
            <a:off x="6413500" y="2819400"/>
            <a:ext cx="4406900" cy="2057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a:bodyPr>
          <a:lstStyle/>
          <a:p>
            <a:pPr indent="0" algn="l">
              <a:lnSpc>
                <a:spcPct val="125000"/>
              </a:lnSpc>
            </a:pPr>
            <a:r>
              <a:rPr sz="2400" b="0">
                <a:solidFill>
                  <a:srgbClr val="000000"/>
                </a:solidFill>
                <a:latin typeface="宋体"/>
              </a:rPr>
              <a:t>数据规模：在清洗与预处理后，充分满足模型调用和验证的需求，保证分析结果的代表性</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6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200" fill="hold"/>
                                        <p:tgtEl>
                                          <p:spTgt spid="21"/>
                                        </p:tgtEl>
                                        <p:attrNameLst>
                                          <p:attrName>ppt_w</p:attrName>
                                        </p:attrNameLst>
                                      </p:cBhvr>
                                      <p:tavLst>
                                        <p:tav tm="0">
                                          <p:val>
                                            <p:fltVal val="0"/>
                                          </p:val>
                                        </p:tav>
                                        <p:tav tm="100000">
                                          <p:val>
                                            <p:strVal val="#ppt_w"/>
                                          </p:val>
                                        </p:tav>
                                      </p:tavLst>
                                    </p:anim>
                                    <p:anim calcmode="lin" valueType="num">
                                      <p:cBhvr>
                                        <p:cTn id="23" dur="2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8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200" fill="hold"/>
                                        <p:tgtEl>
                                          <p:spTgt spid="22"/>
                                        </p:tgtEl>
                                        <p:attrNameLst>
                                          <p:attrName>ppt_w</p:attrName>
                                        </p:attrNameLst>
                                      </p:cBhvr>
                                      <p:tavLst>
                                        <p:tav tm="0">
                                          <p:val>
                                            <p:fltVal val="0"/>
                                          </p:val>
                                        </p:tav>
                                        <p:tav tm="100000">
                                          <p:val>
                                            <p:strVal val="#ppt_w"/>
                                          </p:val>
                                        </p:tav>
                                      </p:tavLst>
                                    </p:anim>
                                    <p:anim calcmode="lin" valueType="num">
                                      <p:cBhvr>
                                        <p:cTn id="28" dur="200" fill="hold"/>
                                        <p:tgtEl>
                                          <p:spTgt spid="2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测试分析</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2324100"/>
            <a:ext cx="9956800" cy="723900"/>
          </a:xfrm>
          <a:prstGeom prst="roundRect">
            <a:avLst>
              <a:gd name="adj" fmla="val 10526"/>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New shape"/>
          <p:cNvSpPr/>
          <p:nvPr/>
        </p:nvSpPr>
        <p:spPr>
          <a:xfrm>
            <a:off x="1168400" y="2374900"/>
            <a:ext cx="76200" cy="6223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New shape"/>
          <p:cNvSpPr/>
          <p:nvPr/>
        </p:nvSpPr>
        <p:spPr>
          <a:xfrm>
            <a:off x="1117600" y="3175000"/>
            <a:ext cx="9956800" cy="1066800"/>
          </a:xfrm>
          <a:prstGeom prst="roundRect">
            <a:avLst>
              <a:gd name="adj" fmla="val 7142"/>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New shape"/>
          <p:cNvSpPr/>
          <p:nvPr/>
        </p:nvSpPr>
        <p:spPr>
          <a:xfrm>
            <a:off x="1168400" y="3225800"/>
            <a:ext cx="76200" cy="9652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New shape"/>
          <p:cNvSpPr/>
          <p:nvPr/>
        </p:nvSpPr>
        <p:spPr>
          <a:xfrm>
            <a:off x="1117600" y="4368800"/>
            <a:ext cx="9956800" cy="723900"/>
          </a:xfrm>
          <a:prstGeom prst="roundRect">
            <a:avLst>
              <a:gd name="adj" fmla="val 10526"/>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New shape"/>
          <p:cNvSpPr/>
          <p:nvPr/>
        </p:nvSpPr>
        <p:spPr>
          <a:xfrm>
            <a:off x="1168400" y="4419600"/>
            <a:ext cx="76200" cy="6223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New shape"/>
          <p:cNvSpPr/>
          <p:nvPr/>
        </p:nvSpPr>
        <p:spPr>
          <a:xfrm>
            <a:off x="1117600" y="5219700"/>
            <a:ext cx="9956800" cy="723900"/>
          </a:xfrm>
          <a:prstGeom prst="roundRect">
            <a:avLst>
              <a:gd name="adj" fmla="val 10526"/>
            </a:avLst>
          </a:prstGeom>
          <a:gradFill>
            <a:gsLst>
              <a:gs pos="100000">
                <a:srgbClr val="F2F2F2">
                  <a:alpha val="88235"/>
                </a:srgbClr>
              </a:gs>
              <a:gs pos="0">
                <a:srgbClr val="F2F2F2">
                  <a:alpha val="9804"/>
                </a:srgbClr>
              </a:gs>
            </a:gsLs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New shape"/>
          <p:cNvSpPr/>
          <p:nvPr/>
        </p:nvSpPr>
        <p:spPr>
          <a:xfrm>
            <a:off x="1168400" y="5270500"/>
            <a:ext cx="76200" cy="622300"/>
          </a:xfrm>
          <a:prstGeom prst="roundRect">
            <a:avLst>
              <a:gd name="adj" fmla="val 50000"/>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New shape"/>
          <p:cNvSpPr/>
          <p:nvPr/>
        </p:nvSpPr>
        <p:spPr>
          <a:xfrm>
            <a:off x="1117600" y="16002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测试过程</a:t>
            </a:r>
            <a:endParaRPr sz="3700" b="1" dirty="0">
              <a:solidFill>
                <a:srgbClr val="000000"/>
              </a:solidFill>
              <a:latin typeface="宋体"/>
            </a:endParaRPr>
          </a:p>
        </p:txBody>
      </p:sp>
      <p:sp>
        <p:nvSpPr>
          <p:cNvPr id="27" name="New shape"/>
          <p:cNvSpPr/>
          <p:nvPr/>
        </p:nvSpPr>
        <p:spPr>
          <a:xfrm>
            <a:off x="1435100" y="2514600"/>
            <a:ext cx="9639300" cy="3302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lnSpcReduction="10000"/>
          </a:bodyPr>
          <a:lstStyle/>
          <a:p>
            <a:pPr indent="0" algn="l">
              <a:lnSpc>
                <a:spcPct val="125000"/>
              </a:lnSpc>
            </a:pPr>
            <a:r>
              <a:rPr sz="2100" b="0">
                <a:solidFill>
                  <a:srgbClr val="000000"/>
                </a:solidFill>
                <a:latin typeface="宋体"/>
              </a:rPr>
              <a:t>碳足迹计算：输入标准测试数据集误差率&lt;5%平均误差率3.2%</a:t>
            </a:r>
          </a:p>
        </p:txBody>
      </p:sp>
      <p:sp>
        <p:nvSpPr>
          <p:cNvPr id="28" name="New shape"/>
          <p:cNvSpPr/>
          <p:nvPr/>
        </p:nvSpPr>
        <p:spPr>
          <a:xfrm>
            <a:off x="1435100" y="3365500"/>
            <a:ext cx="9639300" cy="660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a:solidFill>
                  <a:srgbClr val="000000"/>
                </a:solidFill>
                <a:latin typeface="宋体"/>
              </a:rPr>
              <a:t>AI对话响应：发送100条专业问题响应时间&lt;3s，准确率&gt;85%平均2.8s，准确率89.3%</a:t>
            </a:r>
          </a:p>
        </p:txBody>
      </p:sp>
      <p:sp>
        <p:nvSpPr>
          <p:cNvPr id="29" name="New shape"/>
          <p:cNvSpPr/>
          <p:nvPr/>
        </p:nvSpPr>
        <p:spPr>
          <a:xfrm>
            <a:off x="1435100" y="4559300"/>
            <a:ext cx="9639300" cy="3302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lnSpcReduction="10000"/>
          </a:bodyPr>
          <a:lstStyle/>
          <a:p>
            <a:pPr indent="0" algn="l">
              <a:lnSpc>
                <a:spcPct val="125000"/>
              </a:lnSpc>
            </a:pPr>
            <a:r>
              <a:rPr sz="2100" b="0">
                <a:solidFill>
                  <a:srgbClr val="000000"/>
                </a:solidFill>
                <a:latin typeface="宋体"/>
              </a:rPr>
              <a:t>数据可视化：生成多维度图表图表渲染成功率100%成功渲染率98.6%</a:t>
            </a:r>
          </a:p>
        </p:txBody>
      </p:sp>
      <p:sp>
        <p:nvSpPr>
          <p:cNvPr id="30" name="New shape"/>
          <p:cNvSpPr/>
          <p:nvPr/>
        </p:nvSpPr>
        <p:spPr>
          <a:xfrm>
            <a:off x="1435100" y="5410200"/>
            <a:ext cx="9639300" cy="3302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lnSpcReduction="10000"/>
          </a:bodyPr>
          <a:lstStyle/>
          <a:p>
            <a:pPr indent="0" algn="l">
              <a:lnSpc>
                <a:spcPct val="125000"/>
              </a:lnSpc>
            </a:pPr>
            <a:r>
              <a:rPr sz="2100" b="0">
                <a:solidFill>
                  <a:srgbClr val="000000"/>
                </a:solidFill>
                <a:latin typeface="宋体"/>
              </a:rPr>
              <a:t>Excel文件处理：上传内部文件处理时间&lt;10s平均8</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300" fill="hold"/>
                                        <p:tgtEl>
                                          <p:spTgt spid="18"/>
                                        </p:tgtEl>
                                        <p:attrNameLst>
                                          <p:attrName>ppt_w</p:attrName>
                                        </p:attrNameLst>
                                      </p:cBhvr>
                                      <p:tavLst>
                                        <p:tav tm="0">
                                          <p:val>
                                            <p:fltVal val="0"/>
                                          </p:val>
                                        </p:tav>
                                        <p:tav tm="100000">
                                          <p:val>
                                            <p:strVal val="#ppt_w"/>
                                          </p:val>
                                        </p:tav>
                                      </p:tavLst>
                                    </p:anim>
                                    <p:anim calcmode="lin" valueType="num">
                                      <p:cBhvr>
                                        <p:cTn id="8" dur="3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3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300" fill="hold"/>
                                        <p:tgtEl>
                                          <p:spTgt spid="19"/>
                                        </p:tgtEl>
                                        <p:attrNameLst>
                                          <p:attrName>ppt_w</p:attrName>
                                        </p:attrNameLst>
                                      </p:cBhvr>
                                      <p:tavLst>
                                        <p:tav tm="0">
                                          <p:val>
                                            <p:fltVal val="0"/>
                                          </p:val>
                                        </p:tav>
                                        <p:tav tm="100000">
                                          <p:val>
                                            <p:strVal val="#ppt_w"/>
                                          </p:val>
                                        </p:tav>
                                      </p:tavLst>
                                    </p:anim>
                                    <p:anim calcmode="lin" valueType="num">
                                      <p:cBhvr>
                                        <p:cTn id="13" dur="3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6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300" fill="hold"/>
                                        <p:tgtEl>
                                          <p:spTgt spid="20"/>
                                        </p:tgtEl>
                                        <p:attrNameLst>
                                          <p:attrName>ppt_w</p:attrName>
                                        </p:attrNameLst>
                                      </p:cBhvr>
                                      <p:tavLst>
                                        <p:tav tm="0">
                                          <p:val>
                                            <p:fltVal val="0"/>
                                          </p:val>
                                        </p:tav>
                                        <p:tav tm="100000">
                                          <p:val>
                                            <p:strVal val="#ppt_w"/>
                                          </p:val>
                                        </p:tav>
                                      </p:tavLst>
                                    </p:anim>
                                    <p:anim calcmode="lin" valueType="num">
                                      <p:cBhvr>
                                        <p:cTn id="18" dur="3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9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300" fill="hold"/>
                                        <p:tgtEl>
                                          <p:spTgt spid="21"/>
                                        </p:tgtEl>
                                        <p:attrNameLst>
                                          <p:attrName>ppt_w</p:attrName>
                                        </p:attrNameLst>
                                      </p:cBhvr>
                                      <p:tavLst>
                                        <p:tav tm="0">
                                          <p:val>
                                            <p:fltVal val="0"/>
                                          </p:val>
                                        </p:tav>
                                        <p:tav tm="100000">
                                          <p:val>
                                            <p:strVal val="#ppt_w"/>
                                          </p:val>
                                        </p:tav>
                                      </p:tavLst>
                                    </p:anim>
                                    <p:anim calcmode="lin" valueType="num">
                                      <p:cBhvr>
                                        <p:cTn id="23" dur="3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12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300" fill="hold"/>
                                        <p:tgtEl>
                                          <p:spTgt spid="22"/>
                                        </p:tgtEl>
                                        <p:attrNameLst>
                                          <p:attrName>ppt_w</p:attrName>
                                        </p:attrNameLst>
                                      </p:cBhvr>
                                      <p:tavLst>
                                        <p:tav tm="0">
                                          <p:val>
                                            <p:fltVal val="0"/>
                                          </p:val>
                                        </p:tav>
                                        <p:tav tm="100000">
                                          <p:val>
                                            <p:strVal val="#ppt_w"/>
                                          </p:val>
                                        </p:tav>
                                      </p:tavLst>
                                    </p:anim>
                                    <p:anim calcmode="lin" valueType="num">
                                      <p:cBhvr>
                                        <p:cTn id="28" dur="3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5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300" fill="hold"/>
                                        <p:tgtEl>
                                          <p:spTgt spid="23"/>
                                        </p:tgtEl>
                                        <p:attrNameLst>
                                          <p:attrName>ppt_w</p:attrName>
                                        </p:attrNameLst>
                                      </p:cBhvr>
                                      <p:tavLst>
                                        <p:tav tm="0">
                                          <p:val>
                                            <p:fltVal val="0"/>
                                          </p:val>
                                        </p:tav>
                                        <p:tav tm="100000">
                                          <p:val>
                                            <p:strVal val="#ppt_w"/>
                                          </p:val>
                                        </p:tav>
                                      </p:tavLst>
                                    </p:anim>
                                    <p:anim calcmode="lin" valueType="num">
                                      <p:cBhvr>
                                        <p:cTn id="33" dur="3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8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300" fill="hold"/>
                                        <p:tgtEl>
                                          <p:spTgt spid="24"/>
                                        </p:tgtEl>
                                        <p:attrNameLst>
                                          <p:attrName>ppt_w</p:attrName>
                                        </p:attrNameLst>
                                      </p:cBhvr>
                                      <p:tavLst>
                                        <p:tav tm="0">
                                          <p:val>
                                            <p:fltVal val="0"/>
                                          </p:val>
                                        </p:tav>
                                        <p:tav tm="100000">
                                          <p:val>
                                            <p:strVal val="#ppt_w"/>
                                          </p:val>
                                        </p:tav>
                                      </p:tavLst>
                                    </p:anim>
                                    <p:anim calcmode="lin" valueType="num">
                                      <p:cBhvr>
                                        <p:cTn id="38" dur="300" fill="hold"/>
                                        <p:tgtEl>
                                          <p:spTgt spid="2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2100"/>
                            </p:stCondLst>
                            <p:childTnLst>
                              <p:par>
                                <p:cTn id="40" presetID="23" presetClass="entr" presetSubtype="16" fill="hold" grpId="7"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300" fill="hold"/>
                                        <p:tgtEl>
                                          <p:spTgt spid="25"/>
                                        </p:tgtEl>
                                        <p:attrNameLst>
                                          <p:attrName>ppt_w</p:attrName>
                                        </p:attrNameLst>
                                      </p:cBhvr>
                                      <p:tavLst>
                                        <p:tav tm="0">
                                          <p:val>
                                            <p:fltVal val="0"/>
                                          </p:val>
                                        </p:tav>
                                        <p:tav tm="100000">
                                          <p:val>
                                            <p:strVal val="#ppt_w"/>
                                          </p:val>
                                        </p:tav>
                                      </p:tavLst>
                                    </p:anim>
                                    <p:anim calcmode="lin" valueType="num">
                                      <p:cBhvr>
                                        <p:cTn id="43" dur="300" fill="hold"/>
                                        <p:tgtEl>
                                          <p:spTgt spid="25"/>
                                        </p:tgtEl>
                                        <p:attrNameLst>
                                          <p:attrName>ppt_h</p:attrName>
                                        </p:attrNameLst>
                                      </p:cBhvr>
                                      <p:tavLst>
                                        <p:tav tm="0">
                                          <p:val>
                                            <p:fltVal val="0"/>
                                          </p:val>
                                        </p:tav>
                                        <p:tav tm="100000">
                                          <p:val>
                                            <p:strVal val="#ppt_h"/>
                                          </p:val>
                                        </p:tav>
                                      </p:tavLst>
                                    </p:anim>
                                  </p:childTnLst>
                                </p:cTn>
                              </p:par>
                            </p:childTnLst>
                          </p:cTn>
                        </p:par>
                        <p:par>
                          <p:cTn id="44" fill="hold" nodeType="afterGroup">
                            <p:stCondLst>
                              <p:cond delay="2400"/>
                            </p:stCondLst>
                            <p:childTnLst>
                              <p:par>
                                <p:cTn id="45" presetID="23" presetClass="entr" presetSubtype="16" fill="hold" grpId="8" nodeType="after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200" fill="hold"/>
                                        <p:tgtEl>
                                          <p:spTgt spid="26"/>
                                        </p:tgtEl>
                                        <p:attrNameLst>
                                          <p:attrName>ppt_w</p:attrName>
                                        </p:attrNameLst>
                                      </p:cBhvr>
                                      <p:tavLst>
                                        <p:tav tm="0">
                                          <p:val>
                                            <p:fltVal val="0"/>
                                          </p:val>
                                        </p:tav>
                                        <p:tav tm="100000">
                                          <p:val>
                                            <p:strVal val="#ppt_w"/>
                                          </p:val>
                                        </p:tav>
                                      </p:tavLst>
                                    </p:anim>
                                    <p:anim calcmode="lin" valueType="num">
                                      <p:cBhvr>
                                        <p:cTn id="48" dur="200" fill="hold"/>
                                        <p:tgtEl>
                                          <p:spTgt spid="26"/>
                                        </p:tgtEl>
                                        <p:attrNameLst>
                                          <p:attrName>ppt_h</p:attrName>
                                        </p:attrNameLst>
                                      </p:cBhvr>
                                      <p:tavLst>
                                        <p:tav tm="0">
                                          <p:val>
                                            <p:fltVal val="0"/>
                                          </p:val>
                                        </p:tav>
                                        <p:tav tm="100000">
                                          <p:val>
                                            <p:strVal val="#ppt_h"/>
                                          </p:val>
                                        </p:tav>
                                      </p:tavLst>
                                    </p:anim>
                                  </p:childTnLst>
                                </p:cTn>
                              </p:par>
                            </p:childTnLst>
                          </p:cTn>
                        </p:par>
                        <p:par>
                          <p:cTn id="49" fill="hold" nodeType="afterGroup">
                            <p:stCondLst>
                              <p:cond delay="2600"/>
                            </p:stCondLst>
                            <p:childTnLst>
                              <p:par>
                                <p:cTn id="50" presetID="23" presetClass="entr" presetSubtype="16" fill="hold" grpId="9" nodeType="after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p:cTn id="52" dur="200" fill="hold"/>
                                        <p:tgtEl>
                                          <p:spTgt spid="27"/>
                                        </p:tgtEl>
                                        <p:attrNameLst>
                                          <p:attrName>ppt_w</p:attrName>
                                        </p:attrNameLst>
                                      </p:cBhvr>
                                      <p:tavLst>
                                        <p:tav tm="0">
                                          <p:val>
                                            <p:fltVal val="0"/>
                                          </p:val>
                                        </p:tav>
                                        <p:tav tm="100000">
                                          <p:val>
                                            <p:strVal val="#ppt_w"/>
                                          </p:val>
                                        </p:tav>
                                      </p:tavLst>
                                    </p:anim>
                                    <p:anim calcmode="lin" valueType="num">
                                      <p:cBhvr>
                                        <p:cTn id="53" dur="200" fill="hold"/>
                                        <p:tgtEl>
                                          <p:spTgt spid="27"/>
                                        </p:tgtEl>
                                        <p:attrNameLst>
                                          <p:attrName>ppt_h</p:attrName>
                                        </p:attrNameLst>
                                      </p:cBhvr>
                                      <p:tavLst>
                                        <p:tav tm="0">
                                          <p:val>
                                            <p:fltVal val="0"/>
                                          </p:val>
                                        </p:tav>
                                        <p:tav tm="100000">
                                          <p:val>
                                            <p:strVal val="#ppt_h"/>
                                          </p:val>
                                        </p:tav>
                                      </p:tavLst>
                                    </p:anim>
                                  </p:childTnLst>
                                </p:cTn>
                              </p:par>
                            </p:childTnLst>
                          </p:cTn>
                        </p:par>
                        <p:par>
                          <p:cTn id="54" fill="hold" nodeType="afterGroup">
                            <p:stCondLst>
                              <p:cond delay="2800"/>
                            </p:stCondLst>
                            <p:childTnLst>
                              <p:par>
                                <p:cTn id="55" presetID="23" presetClass="entr" presetSubtype="16" fill="hold" grpId="10" nodeType="afterEffect">
                                  <p:stCondLst>
                                    <p:cond delay="0"/>
                                  </p:stCondLst>
                                  <p:childTnLst>
                                    <p:set>
                                      <p:cBhvr>
                                        <p:cTn id="56" dur="1" fill="hold">
                                          <p:stCondLst>
                                            <p:cond delay="0"/>
                                          </p:stCondLst>
                                        </p:cTn>
                                        <p:tgtEl>
                                          <p:spTgt spid="28"/>
                                        </p:tgtEl>
                                        <p:attrNameLst>
                                          <p:attrName>style.visibility</p:attrName>
                                        </p:attrNameLst>
                                      </p:cBhvr>
                                      <p:to>
                                        <p:strVal val="visible"/>
                                      </p:to>
                                    </p:set>
                                    <p:anim calcmode="lin" valueType="num">
                                      <p:cBhvr>
                                        <p:cTn id="57" dur="200" fill="hold"/>
                                        <p:tgtEl>
                                          <p:spTgt spid="28"/>
                                        </p:tgtEl>
                                        <p:attrNameLst>
                                          <p:attrName>ppt_w</p:attrName>
                                        </p:attrNameLst>
                                      </p:cBhvr>
                                      <p:tavLst>
                                        <p:tav tm="0">
                                          <p:val>
                                            <p:fltVal val="0"/>
                                          </p:val>
                                        </p:tav>
                                        <p:tav tm="100000">
                                          <p:val>
                                            <p:strVal val="#ppt_w"/>
                                          </p:val>
                                        </p:tav>
                                      </p:tavLst>
                                    </p:anim>
                                    <p:anim calcmode="lin" valueType="num">
                                      <p:cBhvr>
                                        <p:cTn id="58" dur="200" fill="hold"/>
                                        <p:tgtEl>
                                          <p:spTgt spid="28"/>
                                        </p:tgtEl>
                                        <p:attrNameLst>
                                          <p:attrName>ppt_h</p:attrName>
                                        </p:attrNameLst>
                                      </p:cBhvr>
                                      <p:tavLst>
                                        <p:tav tm="0">
                                          <p:val>
                                            <p:fltVal val="0"/>
                                          </p:val>
                                        </p:tav>
                                        <p:tav tm="100000">
                                          <p:val>
                                            <p:strVal val="#ppt_h"/>
                                          </p:val>
                                        </p:tav>
                                      </p:tavLst>
                                    </p:anim>
                                  </p:childTnLst>
                                </p:cTn>
                              </p:par>
                            </p:childTnLst>
                          </p:cTn>
                        </p:par>
                        <p:par>
                          <p:cTn id="59" fill="hold" nodeType="afterGroup">
                            <p:stCondLst>
                              <p:cond delay="3000"/>
                            </p:stCondLst>
                            <p:childTnLst>
                              <p:par>
                                <p:cTn id="60" presetID="23" presetClass="entr" presetSubtype="16" fill="hold" grpId="11" nodeType="afterEffect">
                                  <p:stCondLst>
                                    <p:cond delay="0"/>
                                  </p:stCondLst>
                                  <p:childTnLst>
                                    <p:set>
                                      <p:cBhvr>
                                        <p:cTn id="61" dur="1" fill="hold">
                                          <p:stCondLst>
                                            <p:cond delay="0"/>
                                          </p:stCondLst>
                                        </p:cTn>
                                        <p:tgtEl>
                                          <p:spTgt spid="29"/>
                                        </p:tgtEl>
                                        <p:attrNameLst>
                                          <p:attrName>style.visibility</p:attrName>
                                        </p:attrNameLst>
                                      </p:cBhvr>
                                      <p:to>
                                        <p:strVal val="visible"/>
                                      </p:to>
                                    </p:set>
                                    <p:anim calcmode="lin" valueType="num">
                                      <p:cBhvr>
                                        <p:cTn id="62" dur="200" fill="hold"/>
                                        <p:tgtEl>
                                          <p:spTgt spid="29"/>
                                        </p:tgtEl>
                                        <p:attrNameLst>
                                          <p:attrName>ppt_w</p:attrName>
                                        </p:attrNameLst>
                                      </p:cBhvr>
                                      <p:tavLst>
                                        <p:tav tm="0">
                                          <p:val>
                                            <p:fltVal val="0"/>
                                          </p:val>
                                        </p:tav>
                                        <p:tav tm="100000">
                                          <p:val>
                                            <p:strVal val="#ppt_w"/>
                                          </p:val>
                                        </p:tav>
                                      </p:tavLst>
                                    </p:anim>
                                    <p:anim calcmode="lin" valueType="num">
                                      <p:cBhvr>
                                        <p:cTn id="63" dur="200" fill="hold"/>
                                        <p:tgtEl>
                                          <p:spTgt spid="29"/>
                                        </p:tgtEl>
                                        <p:attrNameLst>
                                          <p:attrName>ppt_h</p:attrName>
                                        </p:attrNameLst>
                                      </p:cBhvr>
                                      <p:tavLst>
                                        <p:tav tm="0">
                                          <p:val>
                                            <p:fltVal val="0"/>
                                          </p:val>
                                        </p:tav>
                                        <p:tav tm="100000">
                                          <p:val>
                                            <p:strVal val="#ppt_h"/>
                                          </p:val>
                                        </p:tav>
                                      </p:tavLst>
                                    </p:anim>
                                  </p:childTnLst>
                                </p:cTn>
                              </p:par>
                            </p:childTnLst>
                          </p:cTn>
                        </p:par>
                        <p:par>
                          <p:cTn id="64" fill="hold" nodeType="afterGroup">
                            <p:stCondLst>
                              <p:cond delay="3200"/>
                            </p:stCondLst>
                            <p:childTnLst>
                              <p:par>
                                <p:cTn id="65" presetID="23" presetClass="entr" presetSubtype="16" fill="hold" grpId="12" nodeType="afterEffect">
                                  <p:stCondLst>
                                    <p:cond delay="0"/>
                                  </p:stCondLst>
                                  <p:childTnLst>
                                    <p:set>
                                      <p:cBhvr>
                                        <p:cTn id="66" dur="1" fill="hold">
                                          <p:stCondLst>
                                            <p:cond delay="0"/>
                                          </p:stCondLst>
                                        </p:cTn>
                                        <p:tgtEl>
                                          <p:spTgt spid="30"/>
                                        </p:tgtEl>
                                        <p:attrNameLst>
                                          <p:attrName>style.visibility</p:attrName>
                                        </p:attrNameLst>
                                      </p:cBhvr>
                                      <p:to>
                                        <p:strVal val="visible"/>
                                      </p:to>
                                    </p:set>
                                    <p:anim calcmode="lin" valueType="num">
                                      <p:cBhvr>
                                        <p:cTn id="67" dur="200" fill="hold"/>
                                        <p:tgtEl>
                                          <p:spTgt spid="30"/>
                                        </p:tgtEl>
                                        <p:attrNameLst>
                                          <p:attrName>ppt_w</p:attrName>
                                        </p:attrNameLst>
                                      </p:cBhvr>
                                      <p:tavLst>
                                        <p:tav tm="0">
                                          <p:val>
                                            <p:fltVal val="0"/>
                                          </p:val>
                                        </p:tav>
                                        <p:tav tm="100000">
                                          <p:val>
                                            <p:strVal val="#ppt_w"/>
                                          </p:val>
                                        </p:tav>
                                      </p:tavLst>
                                    </p:anim>
                                    <p:anim calcmode="lin" valueType="num">
                                      <p:cBhvr>
                                        <p:cTn id="68" dur="200" fill="hold"/>
                                        <p:tgtEl>
                                          <p:spTgt spid="3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P spid="25" grpId="7" animBg="1"/>
      <p:bldP spid="26" grpId="8" animBg="1"/>
      <p:bldP spid="27" grpId="9" animBg="1"/>
      <p:bldP spid="28" grpId="10" animBg="1"/>
      <p:bldP spid="29" grpId="11" animBg="1"/>
      <p:bldP spid="30" grpId="12"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测试分析</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23368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分析与结论</a:t>
            </a:r>
            <a:endParaRPr sz="3700" b="1" dirty="0">
              <a:solidFill>
                <a:srgbClr val="000000"/>
              </a:solidFill>
              <a:latin typeface="宋体"/>
            </a:endParaRPr>
          </a:p>
        </p:txBody>
      </p:sp>
      <p:sp>
        <p:nvSpPr>
          <p:cNvPr id="19" name="New shape"/>
          <p:cNvSpPr/>
          <p:nvPr/>
        </p:nvSpPr>
        <p:spPr>
          <a:xfrm>
            <a:off x="1117600" y="30607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本研究基于CPCD和CEADs的权威数据源</a:t>
            </a:r>
            <a:endParaRPr sz="3700" b="1" dirty="0">
              <a:solidFill>
                <a:srgbClr val="000000"/>
              </a:solidFill>
              <a:latin typeface="宋体"/>
            </a:endParaRPr>
          </a:p>
        </p:txBody>
      </p:sp>
      <p:sp>
        <p:nvSpPr>
          <p:cNvPr id="20" name="New shape"/>
          <p:cNvSpPr/>
          <p:nvPr/>
        </p:nvSpPr>
        <p:spPr>
          <a:xfrm>
            <a:off x="1117600" y="3721100"/>
            <a:ext cx="9956800" cy="6858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lnSpcReduction="10000"/>
          </a:bodyPr>
          <a:lstStyle/>
          <a:p>
            <a:pPr indent="0" algn="l">
              <a:lnSpc>
                <a:spcPct val="125000"/>
              </a:lnSpc>
            </a:pPr>
            <a:r>
              <a:rPr sz="2100" b="0">
                <a:solidFill>
                  <a:srgbClr val="000000"/>
                </a:solidFill>
                <a:latin typeface="宋体"/>
              </a:rPr>
              <a:t>覆盖全国范围的碳排放因子及25年跨度的多维度数据，结合本地化实测因子与标准化核算方法，验证了碳足迹计算的科学性与可靠性</a:t>
            </a:r>
          </a:p>
        </p:txBody>
      </p:sp>
      <p:sp>
        <p:nvSpPr>
          <p:cNvPr id="21" name="New shape"/>
          <p:cNvSpPr/>
          <p:nvPr/>
        </p:nvSpPr>
        <p:spPr>
          <a:xfrm>
            <a:off x="1117600" y="4533900"/>
            <a:ext cx="9956800" cy="6858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lnSpcReduction="10000"/>
          </a:bodyPr>
          <a:lstStyle/>
          <a:p>
            <a:pPr indent="0" algn="l">
              <a:lnSpc>
                <a:spcPct val="125000"/>
              </a:lnSpc>
            </a:pPr>
            <a:r>
              <a:rPr sz="2100" b="0">
                <a:solidFill>
                  <a:srgbClr val="000000"/>
                </a:solidFill>
                <a:latin typeface="宋体"/>
              </a:rPr>
              <a:t>测试结果显示，碳足迹计算平均误差率为3.2%，显著低于预设阈值（&lt;5%），体现了数据清洗与模型调用的高效性</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200" fill="hold"/>
                                        <p:tgtEl>
                                          <p:spTgt spid="18"/>
                                        </p:tgtEl>
                                        <p:attrNameLst>
                                          <p:attrName>ppt_w</p:attrName>
                                        </p:attrNameLst>
                                      </p:cBhvr>
                                      <p:tavLst>
                                        <p:tav tm="0">
                                          <p:val>
                                            <p:fltVal val="0"/>
                                          </p:val>
                                        </p:tav>
                                        <p:tav tm="100000">
                                          <p:val>
                                            <p:strVal val="#ppt_w"/>
                                          </p:val>
                                        </p:tav>
                                      </p:tavLst>
                                    </p:anim>
                                    <p:anim calcmode="lin" valueType="num">
                                      <p:cBhvr>
                                        <p:cTn id="8" dur="2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2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200" fill="hold"/>
                                        <p:tgtEl>
                                          <p:spTgt spid="19"/>
                                        </p:tgtEl>
                                        <p:attrNameLst>
                                          <p:attrName>ppt_w</p:attrName>
                                        </p:attrNameLst>
                                      </p:cBhvr>
                                      <p:tavLst>
                                        <p:tav tm="0">
                                          <p:val>
                                            <p:fltVal val="0"/>
                                          </p:val>
                                        </p:tav>
                                        <p:tav tm="100000">
                                          <p:val>
                                            <p:strVal val="#ppt_w"/>
                                          </p:val>
                                        </p:tav>
                                      </p:tavLst>
                                    </p:anim>
                                    <p:anim calcmode="lin" valueType="num">
                                      <p:cBhvr>
                                        <p:cTn id="13" dur="2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4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200" fill="hold"/>
                                        <p:tgtEl>
                                          <p:spTgt spid="20"/>
                                        </p:tgtEl>
                                        <p:attrNameLst>
                                          <p:attrName>ppt_w</p:attrName>
                                        </p:attrNameLst>
                                      </p:cBhvr>
                                      <p:tavLst>
                                        <p:tav tm="0">
                                          <p:val>
                                            <p:fltVal val="0"/>
                                          </p:val>
                                        </p:tav>
                                        <p:tav tm="100000">
                                          <p:val>
                                            <p:strVal val="#ppt_w"/>
                                          </p:val>
                                        </p:tav>
                                      </p:tavLst>
                                    </p:anim>
                                    <p:anim calcmode="lin" valueType="num">
                                      <p:cBhvr>
                                        <p:cTn id="18" dur="2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6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200" fill="hold"/>
                                        <p:tgtEl>
                                          <p:spTgt spid="21"/>
                                        </p:tgtEl>
                                        <p:attrNameLst>
                                          <p:attrName>ppt_w</p:attrName>
                                        </p:attrNameLst>
                                      </p:cBhvr>
                                      <p:tavLst>
                                        <p:tav tm="0">
                                          <p:val>
                                            <p:fltVal val="0"/>
                                          </p:val>
                                        </p:tav>
                                        <p:tav tm="100000">
                                          <p:val>
                                            <p:strVal val="#ppt_w"/>
                                          </p:val>
                                        </p:tav>
                                      </p:tavLst>
                                    </p:anim>
                                    <p:anim calcmode="lin" valueType="num">
                                      <p:cBhvr>
                                        <p:cTn id="23" dur="200" fill="hold"/>
                                        <p:tgtEl>
                                          <p:spTgt spid="2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38" name="New picture"/>
            <p:cNvPicPr/>
            <p:nvPr/>
          </p:nvPicPr>
          <p:blipFill>
            <a:blip r:embed="rId3"/>
            <a:stretch>
              <a:fillRect/>
            </a:stretch>
          </p:blipFill>
          <p:spPr>
            <a:xfrm>
              <a:off x="0" y="0"/>
              <a:ext cx="12192000" cy="6097721"/>
            </a:xfrm>
            <a:prstGeom prst="rect">
              <a:avLst/>
            </a:prstGeom>
            <a:ln>
              <a:noFill/>
            </a:ln>
          </p:spPr>
        </p:pic>
        <p:pic>
          <p:nvPicPr>
            <p:cNvPr id="39" name="New picture"/>
            <p:cNvPicPr/>
            <p:nvPr/>
          </p:nvPicPr>
          <p:blipFill>
            <a:blip r:embed="rId4"/>
            <a:stretch>
              <a:fillRect/>
            </a:stretch>
          </p:blipFill>
          <p:spPr>
            <a:xfrm>
              <a:off x="0" y="1693729"/>
              <a:ext cx="12192000" cy="5164271"/>
            </a:xfrm>
            <a:prstGeom prst="rect">
              <a:avLst/>
            </a:prstGeom>
            <a:ln>
              <a:noFill/>
            </a:ln>
          </p:spPr>
        </p:pic>
      </p:grpSp>
      <p:sp>
        <p:nvSpPr>
          <p:cNvPr id="40"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41"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13" name="单圆角矩形 12"/>
          <p:cNvSpPr/>
          <p:nvPr/>
        </p:nvSpPr>
        <p:spPr>
          <a:xfrm>
            <a:off x="1520999" y="1613856"/>
            <a:ext cx="1502087" cy="480053"/>
          </a:xfrm>
          <a:prstGeom prst="snipRoundRect">
            <a:avLst>
              <a:gd name="adj1" fmla="val 0"/>
              <a:gd name="adj2" fmla="val 31860"/>
            </a:avLst>
          </a:prstGeom>
          <a:solidFill>
            <a:srgbClr val="15363D"/>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9pPr>
          </a:lstStyle>
          <a:p>
            <a:endParaRPr/>
          </a:p>
        </p:txBody>
      </p:sp>
      <p:sp>
        <p:nvSpPr>
          <p:cNvPr id="8" name="单圆角矩形 7"/>
          <p:cNvSpPr/>
          <p:nvPr/>
        </p:nvSpPr>
        <p:spPr>
          <a:xfrm>
            <a:off x="1043644" y="1851411"/>
            <a:ext cx="2908744" cy="3982328"/>
          </a:xfrm>
          <a:prstGeom prst="snipRoundRect">
            <a:avLst>
              <a:gd name="adj1" fmla="val 0"/>
              <a:gd name="adj2" fmla="val 16667"/>
            </a:avLst>
          </a:prstGeom>
          <a:solidFill>
            <a:srgbClr val="15363D"/>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9pPr>
          </a:lstStyle>
          <a:p>
            <a:endParaRPr/>
          </a:p>
        </p:txBody>
      </p:sp>
      <p:sp>
        <p:nvSpPr>
          <p:cNvPr id="34" name="矩形 33"/>
          <p:cNvSpPr/>
          <p:nvPr/>
        </p:nvSpPr>
        <p:spPr>
          <a:xfrm>
            <a:off x="1483467" y="1647770"/>
            <a:ext cx="1502087" cy="420564"/>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5" name="矩形 34"/>
          <p:cNvSpPr/>
          <p:nvPr/>
        </p:nvSpPr>
        <p:spPr>
          <a:xfrm>
            <a:off x="1227101" y="2232212"/>
            <a:ext cx="2481468" cy="3313355"/>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zh-CN" altLang="en-US" sz="1600" b="0" i="0" u="none" strike="noStrike" kern="1200" cap="none" spc="0" normalizeH="0" baseline="0" noProof="0">
                <a:ln>
                  <a:noFill/>
                </a:ln>
                <a:solidFill>
                  <a:schemeClr val="bg1"/>
                </a:solidFill>
                <a:uLnTx/>
                <a:uFillTx/>
                <a:latin typeface="宋体"/>
                <a:ea typeface="字魂59号-创粗黑"/>
                <a:cs typeface="+mn-ea"/>
                <a:sym typeface="宋体"/>
              </a:rPr>
              <a:t>AI对话响应时间（2.8秒）和准确率（89.3%）均优于预期，反映出算法在多模态协同推理与动态路径规划上的优化效果</a:t>
            </a:r>
          </a:p>
        </p:txBody>
      </p:sp>
      <p:sp>
        <p:nvSpPr>
          <p:cNvPr id="16" name="单圆角矩形 15"/>
          <p:cNvSpPr/>
          <p:nvPr/>
        </p:nvSpPr>
        <p:spPr>
          <a:xfrm>
            <a:off x="5106498" y="1613856"/>
            <a:ext cx="1502087" cy="480053"/>
          </a:xfrm>
          <a:prstGeom prst="snipRoundRect">
            <a:avLst>
              <a:gd name="adj1" fmla="val 0"/>
              <a:gd name="adj2" fmla="val 31860"/>
            </a:avLst>
          </a:prstGeom>
          <a:solidFill>
            <a:srgbClr val="15363D"/>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9pPr>
          </a:lstStyle>
          <a:p>
            <a:endParaRPr/>
          </a:p>
        </p:txBody>
      </p:sp>
      <p:sp>
        <p:nvSpPr>
          <p:cNvPr id="10" name="单圆角矩形 9"/>
          <p:cNvSpPr/>
          <p:nvPr/>
        </p:nvSpPr>
        <p:spPr>
          <a:xfrm>
            <a:off x="4656455" y="1858645"/>
            <a:ext cx="2908935" cy="3982085"/>
          </a:xfrm>
          <a:prstGeom prst="snipRoundRect">
            <a:avLst>
              <a:gd name="adj1" fmla="val 0"/>
              <a:gd name="adj2" fmla="val 16667"/>
            </a:avLst>
          </a:prstGeom>
          <a:solidFill>
            <a:srgbClr val="15363D"/>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9pPr>
          </a:lstStyle>
          <a:p>
            <a:endParaRPr/>
          </a:p>
        </p:txBody>
      </p:sp>
      <p:sp>
        <p:nvSpPr>
          <p:cNvPr id="33" name="矩形 32"/>
          <p:cNvSpPr/>
          <p:nvPr/>
        </p:nvSpPr>
        <p:spPr>
          <a:xfrm>
            <a:off x="5106497" y="1633446"/>
            <a:ext cx="1502087" cy="420564"/>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6" name="矩形 35"/>
          <p:cNvSpPr/>
          <p:nvPr/>
        </p:nvSpPr>
        <p:spPr>
          <a:xfrm>
            <a:off x="4817679" y="2232212"/>
            <a:ext cx="2550467" cy="3313355"/>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zh-CN" altLang="en-US" sz="1600" b="0" i="0" u="none" strike="noStrike" kern="1200" cap="none" spc="0" normalizeH="0" baseline="0" noProof="0">
                <a:ln>
                  <a:noFill/>
                </a:ln>
                <a:solidFill>
                  <a:schemeClr val="bg1"/>
                </a:solidFill>
                <a:uLnTx/>
                <a:uFillTx/>
                <a:latin typeface="宋体"/>
                <a:ea typeface="字魂59号-创粗黑"/>
                <a:cs typeface="+mn-ea"/>
                <a:sym typeface="宋体"/>
              </a:rPr>
              <a:t>数据可视化与Excel处理的性能表现（渲染成功率98.6%、文件处理时间2秒）则验证了系统在复杂任务拆解与计算资源分配上的优势</a:t>
            </a:r>
          </a:p>
        </p:txBody>
      </p:sp>
      <p:sp>
        <p:nvSpPr>
          <p:cNvPr id="19" name="单圆角矩形 18"/>
          <p:cNvSpPr/>
          <p:nvPr/>
        </p:nvSpPr>
        <p:spPr>
          <a:xfrm>
            <a:off x="8729527" y="1604798"/>
            <a:ext cx="1502087" cy="480053"/>
          </a:xfrm>
          <a:prstGeom prst="snipRoundRect">
            <a:avLst>
              <a:gd name="adj1" fmla="val 0"/>
              <a:gd name="adj2" fmla="val 31860"/>
            </a:avLst>
          </a:prstGeom>
          <a:solidFill>
            <a:srgbClr val="15363D"/>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字魂59号-创粗黑"/>
                <a:ea typeface="字魂59号-创粗黑"/>
                <a:cs typeface="+mn-cs"/>
              </a:defRPr>
            </a:lvl9pPr>
          </a:lstStyle>
          <a:p>
            <a:endParaRPr/>
          </a:p>
        </p:txBody>
      </p:sp>
      <p:grpSp>
        <p:nvGrpSpPr>
          <p:cNvPr id="6" name="组合 5"/>
          <p:cNvGrpSpPr/>
          <p:nvPr/>
        </p:nvGrpSpPr>
        <p:grpSpPr>
          <a:xfrm>
            <a:off x="8239613" y="1851411"/>
            <a:ext cx="2908744" cy="3982328"/>
            <a:chOff x="6179710" y="1388558"/>
            <a:chExt cx="2181558" cy="2986746"/>
          </a:xfrm>
          <a:solidFill>
            <a:srgbClr val="15363D"/>
          </a:solidFill>
        </p:grpSpPr>
        <p:sp>
          <p:nvSpPr>
            <p:cNvPr id="11" name="单圆角矩形 10"/>
            <p:cNvSpPr/>
            <p:nvPr/>
          </p:nvSpPr>
          <p:spPr>
            <a:xfrm>
              <a:off x="6179710" y="1388558"/>
              <a:ext cx="2181558" cy="2986746"/>
            </a:xfrm>
            <a:prstGeom prst="snipRoundRect">
              <a:avLst>
                <a:gd name="adj1" fmla="val 0"/>
                <a:gd name="adj2" fmla="val 16667"/>
              </a:avLst>
            </a:prstGeom>
            <a:grp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nvGrpSpPr>
            <p:cNvPr id="29" name="组合 28"/>
            <p:cNvGrpSpPr/>
            <p:nvPr/>
          </p:nvGrpSpPr>
          <p:grpSpPr>
            <a:xfrm>
              <a:off x="7049852" y="1805065"/>
              <a:ext cx="432000" cy="432000"/>
              <a:chOff x="6787613" y="1937097"/>
              <a:chExt cx="432000" cy="396000"/>
            </a:xfrm>
            <a:grpFill/>
          </p:grpSpPr>
          <p:sp>
            <p:nvSpPr>
              <p:cNvPr id="30" name="矩形-1"/>
              <p:cNvSpPr>
                <a:spLocks noEditPoints="1"/>
              </p:cNvSpPr>
              <p:nvPr/>
            </p:nvSpPr>
            <p:spPr>
              <a:xfrm>
                <a:off x="6787613" y="1937097"/>
                <a:ext cx="432000" cy="396000"/>
              </a:xfrm>
              <a:custGeom>
                <a:avLst/>
                <a:gdLst>
                  <a:gd name="T0" fmla="*/ 70 w 79"/>
                  <a:gd name="T1" fmla="*/ 35 h 78"/>
                  <a:gd name="T2" fmla="*/ 63 w 79"/>
                  <a:gd name="T3" fmla="*/ 20 h 78"/>
                  <a:gd name="T4" fmla="*/ 69 w 79"/>
                  <a:gd name="T5" fmla="*/ 13 h 78"/>
                  <a:gd name="T6" fmla="*/ 65 w 79"/>
                  <a:gd name="T7" fmla="*/ 9 h 78"/>
                  <a:gd name="T8" fmla="*/ 58 w 79"/>
                  <a:gd name="T9" fmla="*/ 15 h 78"/>
                  <a:gd name="T10" fmla="*/ 43 w 79"/>
                  <a:gd name="T11" fmla="*/ 9 h 78"/>
                  <a:gd name="T12" fmla="*/ 43 w 79"/>
                  <a:gd name="T13" fmla="*/ 0 h 78"/>
                  <a:gd name="T14" fmla="*/ 36 w 79"/>
                  <a:gd name="T15" fmla="*/ 0 h 78"/>
                  <a:gd name="T16" fmla="*/ 36 w 79"/>
                  <a:gd name="T17" fmla="*/ 9 h 78"/>
                  <a:gd name="T18" fmla="*/ 20 w 79"/>
                  <a:gd name="T19" fmla="*/ 15 h 78"/>
                  <a:gd name="T20" fmla="*/ 14 w 79"/>
                  <a:gd name="T21" fmla="*/ 9 h 78"/>
                  <a:gd name="T22" fmla="*/ 9 w 79"/>
                  <a:gd name="T23" fmla="*/ 13 h 78"/>
                  <a:gd name="T24" fmla="*/ 16 w 79"/>
                  <a:gd name="T25" fmla="*/ 20 h 78"/>
                  <a:gd name="T26" fmla="*/ 9 w 79"/>
                  <a:gd name="T27" fmla="*/ 35 h 78"/>
                  <a:gd name="T28" fmla="*/ 0 w 79"/>
                  <a:gd name="T29" fmla="*/ 35 h 78"/>
                  <a:gd name="T30" fmla="*/ 0 w 79"/>
                  <a:gd name="T31" fmla="*/ 42 h 78"/>
                  <a:gd name="T32" fmla="*/ 9 w 79"/>
                  <a:gd name="T33" fmla="*/ 42 h 78"/>
                  <a:gd name="T34" fmla="*/ 16 w 79"/>
                  <a:gd name="T35" fmla="*/ 58 h 78"/>
                  <a:gd name="T36" fmla="*/ 9 w 79"/>
                  <a:gd name="T37" fmla="*/ 64 h 78"/>
                  <a:gd name="T38" fmla="*/ 14 w 79"/>
                  <a:gd name="T39" fmla="*/ 69 h 78"/>
                  <a:gd name="T40" fmla="*/ 20 w 79"/>
                  <a:gd name="T41" fmla="*/ 63 h 78"/>
                  <a:gd name="T42" fmla="*/ 36 w 79"/>
                  <a:gd name="T43" fmla="*/ 69 h 78"/>
                  <a:gd name="T44" fmla="*/ 36 w 79"/>
                  <a:gd name="T45" fmla="*/ 78 h 78"/>
                  <a:gd name="T46" fmla="*/ 43 w 79"/>
                  <a:gd name="T47" fmla="*/ 78 h 78"/>
                  <a:gd name="T48" fmla="*/ 43 w 79"/>
                  <a:gd name="T49" fmla="*/ 69 h 78"/>
                  <a:gd name="T50" fmla="*/ 58 w 79"/>
                  <a:gd name="T51" fmla="*/ 63 h 78"/>
                  <a:gd name="T52" fmla="*/ 65 w 79"/>
                  <a:gd name="T53" fmla="*/ 69 h 78"/>
                  <a:gd name="T54" fmla="*/ 69 w 79"/>
                  <a:gd name="T55" fmla="*/ 64 h 78"/>
                  <a:gd name="T56" fmla="*/ 63 w 79"/>
                  <a:gd name="T57" fmla="*/ 58 h 78"/>
                  <a:gd name="T58" fmla="*/ 70 w 79"/>
                  <a:gd name="T59" fmla="*/ 42 h 78"/>
                  <a:gd name="T60" fmla="*/ 79 w 79"/>
                  <a:gd name="T61" fmla="*/ 42 h 78"/>
                  <a:gd name="T62" fmla="*/ 79 w 79"/>
                  <a:gd name="T63" fmla="*/ 35 h 78"/>
                  <a:gd name="T64" fmla="*/ 70 w 79"/>
                  <a:gd name="T65" fmla="*/ 35 h 78"/>
                  <a:gd name="T66" fmla="*/ 16 w 79"/>
                  <a:gd name="T67" fmla="*/ 39 h 78"/>
                  <a:gd name="T68" fmla="*/ 39 w 79"/>
                  <a:gd name="T69" fmla="*/ 15 h 78"/>
                  <a:gd name="T70" fmla="*/ 63 w 79"/>
                  <a:gd name="T71" fmla="*/ 39 h 78"/>
                  <a:gd name="T72" fmla="*/ 39 w 79"/>
                  <a:gd name="T73" fmla="*/ 62 h 78"/>
                  <a:gd name="T74" fmla="*/ 16 w 79"/>
                  <a:gd name="T75" fmla="*/ 3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9" h="78">
                    <a:moveTo>
                      <a:pt x="70" y="35"/>
                    </a:moveTo>
                    <a:cubicBezTo>
                      <a:pt x="69" y="30"/>
                      <a:pt x="67" y="24"/>
                      <a:pt x="63" y="20"/>
                    </a:cubicBezTo>
                    <a:cubicBezTo>
                      <a:pt x="69" y="13"/>
                      <a:pt x="69" y="13"/>
                      <a:pt x="69" y="13"/>
                    </a:cubicBezTo>
                    <a:cubicBezTo>
                      <a:pt x="65" y="9"/>
                      <a:pt x="65" y="9"/>
                      <a:pt x="65" y="9"/>
                    </a:cubicBezTo>
                    <a:cubicBezTo>
                      <a:pt x="58" y="15"/>
                      <a:pt x="58" y="15"/>
                      <a:pt x="58" y="15"/>
                    </a:cubicBezTo>
                    <a:cubicBezTo>
                      <a:pt x="54" y="12"/>
                      <a:pt x="49" y="9"/>
                      <a:pt x="43" y="9"/>
                    </a:cubicBezTo>
                    <a:cubicBezTo>
                      <a:pt x="43" y="0"/>
                      <a:pt x="43" y="0"/>
                      <a:pt x="43" y="0"/>
                    </a:cubicBezTo>
                    <a:cubicBezTo>
                      <a:pt x="36" y="0"/>
                      <a:pt x="36" y="0"/>
                      <a:pt x="36" y="0"/>
                    </a:cubicBezTo>
                    <a:cubicBezTo>
                      <a:pt x="36" y="9"/>
                      <a:pt x="36" y="9"/>
                      <a:pt x="36" y="9"/>
                    </a:cubicBezTo>
                    <a:cubicBezTo>
                      <a:pt x="30" y="9"/>
                      <a:pt x="25" y="12"/>
                      <a:pt x="20" y="15"/>
                    </a:cubicBezTo>
                    <a:cubicBezTo>
                      <a:pt x="14" y="9"/>
                      <a:pt x="14" y="9"/>
                      <a:pt x="14" y="9"/>
                    </a:cubicBezTo>
                    <a:cubicBezTo>
                      <a:pt x="9" y="13"/>
                      <a:pt x="9" y="13"/>
                      <a:pt x="9" y="13"/>
                    </a:cubicBezTo>
                    <a:cubicBezTo>
                      <a:pt x="16" y="20"/>
                      <a:pt x="16" y="20"/>
                      <a:pt x="16" y="20"/>
                    </a:cubicBezTo>
                    <a:cubicBezTo>
                      <a:pt x="12" y="24"/>
                      <a:pt x="10" y="30"/>
                      <a:pt x="9" y="35"/>
                    </a:cubicBezTo>
                    <a:cubicBezTo>
                      <a:pt x="0" y="35"/>
                      <a:pt x="0" y="35"/>
                      <a:pt x="0" y="35"/>
                    </a:cubicBezTo>
                    <a:cubicBezTo>
                      <a:pt x="0" y="42"/>
                      <a:pt x="0" y="42"/>
                      <a:pt x="0" y="42"/>
                    </a:cubicBezTo>
                    <a:cubicBezTo>
                      <a:pt x="9" y="42"/>
                      <a:pt x="9" y="42"/>
                      <a:pt x="9" y="42"/>
                    </a:cubicBezTo>
                    <a:cubicBezTo>
                      <a:pt x="10" y="48"/>
                      <a:pt x="12" y="53"/>
                      <a:pt x="16" y="58"/>
                    </a:cubicBezTo>
                    <a:cubicBezTo>
                      <a:pt x="9" y="64"/>
                      <a:pt x="9" y="64"/>
                      <a:pt x="9" y="64"/>
                    </a:cubicBezTo>
                    <a:cubicBezTo>
                      <a:pt x="14" y="69"/>
                      <a:pt x="14" y="69"/>
                      <a:pt x="14" y="69"/>
                    </a:cubicBezTo>
                    <a:cubicBezTo>
                      <a:pt x="20" y="63"/>
                      <a:pt x="20" y="63"/>
                      <a:pt x="20" y="63"/>
                    </a:cubicBezTo>
                    <a:cubicBezTo>
                      <a:pt x="25" y="66"/>
                      <a:pt x="30" y="68"/>
                      <a:pt x="36" y="69"/>
                    </a:cubicBezTo>
                    <a:cubicBezTo>
                      <a:pt x="36" y="78"/>
                      <a:pt x="36" y="78"/>
                      <a:pt x="36" y="78"/>
                    </a:cubicBezTo>
                    <a:cubicBezTo>
                      <a:pt x="43" y="78"/>
                      <a:pt x="43" y="78"/>
                      <a:pt x="43" y="78"/>
                    </a:cubicBezTo>
                    <a:cubicBezTo>
                      <a:pt x="43" y="69"/>
                      <a:pt x="43" y="69"/>
                      <a:pt x="43" y="69"/>
                    </a:cubicBezTo>
                    <a:cubicBezTo>
                      <a:pt x="49" y="68"/>
                      <a:pt x="54" y="66"/>
                      <a:pt x="58" y="63"/>
                    </a:cubicBezTo>
                    <a:cubicBezTo>
                      <a:pt x="65" y="69"/>
                      <a:pt x="65" y="69"/>
                      <a:pt x="65" y="69"/>
                    </a:cubicBezTo>
                    <a:cubicBezTo>
                      <a:pt x="69" y="64"/>
                      <a:pt x="69" y="64"/>
                      <a:pt x="69" y="64"/>
                    </a:cubicBezTo>
                    <a:cubicBezTo>
                      <a:pt x="63" y="58"/>
                      <a:pt x="63" y="58"/>
                      <a:pt x="63" y="58"/>
                    </a:cubicBezTo>
                    <a:cubicBezTo>
                      <a:pt x="67" y="53"/>
                      <a:pt x="69" y="48"/>
                      <a:pt x="70" y="42"/>
                    </a:cubicBezTo>
                    <a:cubicBezTo>
                      <a:pt x="79" y="42"/>
                      <a:pt x="79" y="42"/>
                      <a:pt x="79" y="42"/>
                    </a:cubicBezTo>
                    <a:cubicBezTo>
                      <a:pt x="79" y="35"/>
                      <a:pt x="79" y="35"/>
                      <a:pt x="79" y="35"/>
                    </a:cubicBezTo>
                    <a:lnTo>
                      <a:pt x="70" y="35"/>
                    </a:lnTo>
                    <a:close/>
                    <a:moveTo>
                      <a:pt x="16" y="39"/>
                    </a:moveTo>
                    <a:cubicBezTo>
                      <a:pt x="16" y="26"/>
                      <a:pt x="26" y="15"/>
                      <a:pt x="39" y="15"/>
                    </a:cubicBezTo>
                    <a:cubicBezTo>
                      <a:pt x="52" y="15"/>
                      <a:pt x="63" y="26"/>
                      <a:pt x="63" y="39"/>
                    </a:cubicBezTo>
                    <a:cubicBezTo>
                      <a:pt x="63" y="52"/>
                      <a:pt x="52" y="62"/>
                      <a:pt x="39" y="62"/>
                    </a:cubicBezTo>
                    <a:cubicBezTo>
                      <a:pt x="26" y="62"/>
                      <a:pt x="16" y="52"/>
                      <a:pt x="16"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1" name="矩形-2"/>
              <p:cNvSpPr>
                <a:spLocks noEditPoints="1"/>
              </p:cNvSpPr>
              <p:nvPr/>
            </p:nvSpPr>
            <p:spPr>
              <a:xfrm>
                <a:off x="6941899" y="2079543"/>
                <a:ext cx="126514" cy="111108"/>
              </a:xfrm>
              <a:custGeom>
                <a:avLst/>
                <a:gdLst>
                  <a:gd name="T0" fmla="*/ 23 w 23"/>
                  <a:gd name="T1" fmla="*/ 11 h 22"/>
                  <a:gd name="T2" fmla="*/ 11 w 23"/>
                  <a:gd name="T3" fmla="*/ 0 h 22"/>
                  <a:gd name="T4" fmla="*/ 0 w 23"/>
                  <a:gd name="T5" fmla="*/ 11 h 22"/>
                  <a:gd name="T6" fmla="*/ 11 w 23"/>
                  <a:gd name="T7" fmla="*/ 22 h 22"/>
                  <a:gd name="T8" fmla="*/ 23 w 23"/>
                  <a:gd name="T9" fmla="*/ 11 h 22"/>
                  <a:gd name="T10" fmla="*/ 7 w 23"/>
                  <a:gd name="T11" fmla="*/ 11 h 22"/>
                  <a:gd name="T12" fmla="*/ 11 w 23"/>
                  <a:gd name="T13" fmla="*/ 6 h 22"/>
                  <a:gd name="T14" fmla="*/ 16 w 23"/>
                  <a:gd name="T15" fmla="*/ 11 h 22"/>
                  <a:gd name="T16" fmla="*/ 11 w 23"/>
                  <a:gd name="T17" fmla="*/ 15 h 22"/>
                  <a:gd name="T18" fmla="*/ 7 w 23"/>
                  <a:gd name="T19"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22">
                    <a:moveTo>
                      <a:pt x="23" y="11"/>
                    </a:moveTo>
                    <a:cubicBezTo>
                      <a:pt x="23" y="5"/>
                      <a:pt x="18" y="0"/>
                      <a:pt x="11" y="0"/>
                    </a:cubicBezTo>
                    <a:cubicBezTo>
                      <a:pt x="5" y="0"/>
                      <a:pt x="0" y="5"/>
                      <a:pt x="0" y="11"/>
                    </a:cubicBezTo>
                    <a:cubicBezTo>
                      <a:pt x="0" y="17"/>
                      <a:pt x="5" y="22"/>
                      <a:pt x="11" y="22"/>
                    </a:cubicBezTo>
                    <a:cubicBezTo>
                      <a:pt x="18" y="22"/>
                      <a:pt x="23" y="17"/>
                      <a:pt x="23" y="11"/>
                    </a:cubicBezTo>
                    <a:close/>
                    <a:moveTo>
                      <a:pt x="7" y="11"/>
                    </a:moveTo>
                    <a:cubicBezTo>
                      <a:pt x="7" y="8"/>
                      <a:pt x="9" y="6"/>
                      <a:pt x="11" y="6"/>
                    </a:cubicBezTo>
                    <a:cubicBezTo>
                      <a:pt x="14" y="6"/>
                      <a:pt x="16" y="8"/>
                      <a:pt x="16" y="11"/>
                    </a:cubicBezTo>
                    <a:cubicBezTo>
                      <a:pt x="16" y="13"/>
                      <a:pt x="14" y="15"/>
                      <a:pt x="11" y="15"/>
                    </a:cubicBezTo>
                    <a:cubicBezTo>
                      <a:pt x="9" y="15"/>
                      <a:pt x="7" y="13"/>
                      <a:pt x="7"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grpSp>
      </p:grpSp>
      <p:sp>
        <p:nvSpPr>
          <p:cNvPr id="32" name="矩形 31"/>
          <p:cNvSpPr/>
          <p:nvPr/>
        </p:nvSpPr>
        <p:spPr>
          <a:xfrm>
            <a:off x="8729527" y="1619122"/>
            <a:ext cx="1502087" cy="420564"/>
          </a:xfrm>
          <a:prstGeom prst="rect">
            <a:avLst/>
          </a:prstGeom>
          <a:noFill/>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7" name="矩形 36"/>
          <p:cNvSpPr/>
          <p:nvPr/>
        </p:nvSpPr>
        <p:spPr>
          <a:xfrm>
            <a:off x="8388569" y="2232212"/>
            <a:ext cx="2673416" cy="3313355"/>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marL="0" marR="0" lvl="0" indent="0" algn="l" defTabSz="914400" rtl="0" eaLnBrk="1" fontAlgn="auto" latinLnBrk="0" hangingPunct="1">
              <a:lnSpc>
                <a:spcPct val="130000"/>
              </a:lnSpc>
              <a:spcBef>
                <a:spcPct val="0"/>
              </a:spcBef>
              <a:spcAft>
                <a:spcPct val="0"/>
              </a:spcAft>
              <a:buClrTx/>
              <a:buSzTx/>
              <a:buFontTx/>
              <a:buNone/>
              <a:defRPr/>
            </a:pPr>
            <a:r>
              <a:rPr kumimoji="0" lang="zh-CN" altLang="en-US" sz="1600" b="0" i="0" u="none" strike="noStrike" kern="1200" cap="none" spc="0" normalizeH="0" baseline="0" noProof="0">
                <a:ln>
                  <a:noFill/>
                </a:ln>
                <a:solidFill>
                  <a:schemeClr val="bg1"/>
                </a:solidFill>
                <a:uLnTx/>
                <a:uFillTx/>
                <a:latin typeface="宋体"/>
                <a:ea typeface="字魂59号-创粗黑"/>
                <a:cs typeface="+mn-ea"/>
                <a:sym typeface="宋体"/>
              </a:rPr>
              <a:t>整体结果表明，依托高质量基础数据与智能化技术融合，研究框架具备较强的工程落地能力，但在极端场景下的数据时效性和AI模型泛化能力仍需通过持续迭代优化</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pic>
        <p:nvPicPr>
          <p:cNvPr id="2" name="图片 1" descr="图片包含 形状&#10;&#10;描述已自动生成"/>
          <p:cNvPicPr>
            <a:picLocks noChangeAspect="1"/>
          </p:cNvPicPr>
          <p:nvPr/>
        </p:nvPicPr>
        <p:blipFill>
          <a:blip r:embed="rId3"/>
          <a:stretch>
            <a:fillRect/>
          </a:stretch>
        </p:blipFill>
        <p:spPr>
          <a:xfrm>
            <a:off x="0" y="0"/>
            <a:ext cx="12192000" cy="6097721"/>
          </a:xfrm>
          <a:prstGeom prst="rect">
            <a:avLst/>
          </a:prstGeom>
        </p:spPr>
      </p:pic>
      <p:pic>
        <p:nvPicPr>
          <p:cNvPr id="3" name="图片 2" descr="湖边的景色&#10;&#10;描述已自动生成"/>
          <p:cNvPicPr>
            <a:picLocks noChangeAspect="1"/>
          </p:cNvPicPr>
          <p:nvPr/>
        </p:nvPicPr>
        <p:blipFill>
          <a:blip r:embed="rId4"/>
          <a:stretch>
            <a:fillRect/>
          </a:stretch>
        </p:blipFill>
        <p:spPr>
          <a:xfrm>
            <a:off x="0" y="760279"/>
            <a:ext cx="12192000" cy="6097721"/>
          </a:xfrm>
          <a:prstGeom prst="rect">
            <a:avLst/>
          </a:prstGeom>
        </p:spPr>
      </p:pic>
      <p:grpSp>
        <p:nvGrpSpPr>
          <p:cNvPr id="4" name="组合 3"/>
          <p:cNvGrpSpPr/>
          <p:nvPr/>
        </p:nvGrpSpPr>
        <p:grpSpPr>
          <a:xfrm>
            <a:off x="0" y="-2447492"/>
            <a:ext cx="12192000" cy="8545213"/>
            <a:chOff x="0" y="-2447492"/>
            <a:chExt cx="12192000" cy="8545213"/>
          </a:xfrm>
        </p:grpSpPr>
        <p:pic>
          <p:nvPicPr>
            <p:cNvPr id="6" name="图片 5" descr="穿黑色衣服的人的黑白照&#10;&#10;低可信度描述已自动生成"/>
            <p:cNvPicPr>
              <a:picLocks noChangeAspect="1"/>
            </p:cNvPicPr>
            <p:nvPr/>
          </p:nvPicPr>
          <p:blipFill>
            <a:blip r:embed="rId5"/>
            <a:stretch>
              <a:fillRect/>
            </a:stretch>
          </p:blipFill>
          <p:spPr>
            <a:xfrm>
              <a:off x="0" y="0"/>
              <a:ext cx="12192000" cy="6097721"/>
            </a:xfrm>
            <a:custGeom>
              <a:avLst/>
              <a:gdLst>
                <a:gd name="connsiteX0" fmla="*/ 9423461 w 12192000"/>
                <a:gd name="connsiteY0" fmla="*/ 3048860 h 6097721"/>
                <a:gd name="connsiteX1" fmla="*/ 8980398 w 12192000"/>
                <a:gd name="connsiteY1" fmla="*/ 3437721 h 6097721"/>
                <a:gd name="connsiteX2" fmla="*/ 9423461 w 12192000"/>
                <a:gd name="connsiteY2" fmla="*/ 3826582 h 6097721"/>
                <a:gd name="connsiteX3" fmla="*/ 9866524 w 12192000"/>
                <a:gd name="connsiteY3" fmla="*/ 3437721 h 6097721"/>
                <a:gd name="connsiteX4" fmla="*/ 9423461 w 12192000"/>
                <a:gd name="connsiteY4" fmla="*/ 3048860 h 6097721"/>
                <a:gd name="connsiteX5" fmla="*/ 0 w 12192000"/>
                <a:gd name="connsiteY5" fmla="*/ 0 h 6097721"/>
                <a:gd name="connsiteX6" fmla="*/ 12192000 w 12192000"/>
                <a:gd name="connsiteY6" fmla="*/ 0 h 6097721"/>
                <a:gd name="connsiteX7" fmla="*/ 12192000 w 12192000"/>
                <a:gd name="connsiteY7" fmla="*/ 6097721 h 6097721"/>
                <a:gd name="connsiteX8" fmla="*/ 0 w 12192000"/>
                <a:gd name="connsiteY8" fmla="*/ 6097721 h 609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097721">
                  <a:moveTo>
                    <a:pt x="9423461" y="3048860"/>
                  </a:moveTo>
                  <a:cubicBezTo>
                    <a:pt x="9178764" y="3048860"/>
                    <a:pt x="8980398" y="3222959"/>
                    <a:pt x="8980398" y="3437721"/>
                  </a:cubicBezTo>
                  <a:cubicBezTo>
                    <a:pt x="8980398" y="3652483"/>
                    <a:pt x="9178764" y="3826582"/>
                    <a:pt x="9423461" y="3826582"/>
                  </a:cubicBezTo>
                  <a:cubicBezTo>
                    <a:pt x="9668158" y="3826582"/>
                    <a:pt x="9866524" y="3652483"/>
                    <a:pt x="9866524" y="3437721"/>
                  </a:cubicBezTo>
                  <a:cubicBezTo>
                    <a:pt x="9866524" y="3222959"/>
                    <a:pt x="9668158" y="3048860"/>
                    <a:pt x="9423461" y="3048860"/>
                  </a:cubicBezTo>
                  <a:close/>
                  <a:moveTo>
                    <a:pt x="0" y="0"/>
                  </a:moveTo>
                  <a:lnTo>
                    <a:pt x="12192000" y="0"/>
                  </a:lnTo>
                  <a:lnTo>
                    <a:pt x="12192000" y="6097721"/>
                  </a:lnTo>
                  <a:lnTo>
                    <a:pt x="0" y="6097721"/>
                  </a:lnTo>
                  <a:close/>
                </a:path>
              </a:pathLst>
            </a:custGeom>
          </p:spPr>
        </p:pic>
        <p:pic>
          <p:nvPicPr>
            <p:cNvPr id="7" name="图片 6" descr="穿黑色衣服的人的黑白照&#10;&#10;低可信度描述已自动生成"/>
            <p:cNvPicPr>
              <a:picLocks noChangeAspect="1"/>
            </p:cNvPicPr>
            <p:nvPr/>
          </p:nvPicPr>
          <p:blipFill>
            <a:blip r:embed="rId6"/>
            <a:stretch>
              <a:fillRect/>
            </a:stretch>
          </p:blipFill>
          <p:spPr>
            <a:xfrm>
              <a:off x="7038905" y="-2447492"/>
              <a:ext cx="3722976" cy="6097721"/>
            </a:xfrm>
            <a:prstGeom prst="rect">
              <a:avLst/>
            </a:prstGeom>
          </p:spPr>
        </p:pic>
        <p:pic>
          <p:nvPicPr>
            <p:cNvPr id="8" name="图片 7" descr="穿黑色衣服的人的黑白照&#10;&#10;低可信度描述已自动生成"/>
            <p:cNvPicPr>
              <a:picLocks noChangeAspect="1"/>
            </p:cNvPicPr>
            <p:nvPr/>
          </p:nvPicPr>
          <p:blipFill>
            <a:blip r:embed="rId7"/>
            <a:stretch>
              <a:fillRect/>
            </a:stretch>
          </p:blipFill>
          <p:spPr>
            <a:xfrm>
              <a:off x="9295898" y="-1803928"/>
              <a:ext cx="2308727" cy="6097721"/>
            </a:xfrm>
            <a:prstGeom prst="rect">
              <a:avLst/>
            </a:prstGeom>
          </p:spPr>
        </p:pic>
      </p:grpSp>
      <p:grpSp>
        <p:nvGrpSpPr>
          <p:cNvPr id="37" name="组合 36"/>
          <p:cNvGrpSpPr/>
          <p:nvPr/>
        </p:nvGrpSpPr>
        <p:grpSpPr>
          <a:xfrm>
            <a:off x="4404370" y="1479727"/>
            <a:ext cx="3383261" cy="657415"/>
            <a:chOff x="4771220" y="1773297"/>
            <a:chExt cx="2670192" cy="657415"/>
          </a:xfrm>
        </p:grpSpPr>
        <p:sp>
          <p:nvSpPr>
            <p:cNvPr id="38" name="矩形: 圆角 2"/>
            <p:cNvSpPr/>
            <p:nvPr/>
          </p:nvSpPr>
          <p:spPr>
            <a:xfrm>
              <a:off x="4771220" y="1773297"/>
              <a:ext cx="2670192" cy="657415"/>
            </a:xfrm>
            <a:prstGeom prst="roundRect">
              <a:avLst>
                <a:gd name="adj" fmla="val 50000"/>
              </a:avLst>
            </a:prstGeom>
            <a:gradFill>
              <a:gsLst>
                <a:gs pos="0">
                  <a:srgbClr val="FF0000"/>
                </a:gs>
                <a:gs pos="100000">
                  <a:srgbClr val="C00000"/>
                </a:gs>
              </a:gsLst>
              <a:lin ang="27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9" name="文本框 38"/>
            <p:cNvSpPr txBox="1"/>
            <p:nvPr/>
          </p:nvSpPr>
          <p:spPr>
            <a:xfrm>
              <a:off x="5073438" y="1815533"/>
              <a:ext cx="2101946" cy="5796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a:r>
                <a:rPr lang="zh-CN" altLang="en-US" sz="3200" b="1">
                  <a:solidFill>
                    <a:srgbClr val="FFFDF8"/>
                  </a:solidFill>
                  <a:latin typeface="宋体"/>
                  <a:ea typeface="微软雅黑" panose="020B0503020204020204" pitchFamily="34" charset="-122"/>
                  <a:cs typeface="思源宋体 CN Heavy" panose="02020900000000000000" charset="-122"/>
                  <a:sym typeface="宋体"/>
                </a:rPr>
                <a:t>第6部分</a:t>
              </a:r>
            </a:p>
          </p:txBody>
        </p:sp>
      </p:grpSp>
      <p:sp>
        <p:nvSpPr>
          <p:cNvPr id="40" name="TextBox 48"/>
          <p:cNvSpPr txBox="1"/>
          <p:nvPr/>
        </p:nvSpPr>
        <p:spPr>
          <a:xfrm>
            <a:off x="2290994" y="2724048"/>
            <a:ext cx="7120909" cy="1569047"/>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defTabSz="685800"/>
            <a:r>
              <a:rPr lang="zh-CN" altLang="en-US" sz="6600" b="1">
                <a:solidFill>
                  <a:srgbClr val="000000"/>
                </a:solidFill>
                <a:latin typeface="宋体"/>
                <a:ea typeface="微软雅黑" panose="020B0503020204020204" pitchFamily="34" charset="-122"/>
                <a:cs typeface="+mn-ea"/>
                <a:sym typeface="宋体"/>
              </a:rPr>
              <a:t>作品总结</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arn(inVertical)" prLst="">
                                      <p:cBhvr>
                                        <p:cTn id="7" dur="500"/>
                                        <p:tgtEl>
                                          <p:spTgt spid="37"/>
                                        </p:tgtEl>
                                      </p:cBhvr>
                                    </p:animEffect>
                                  </p:childTnLst>
                                </p:cTn>
                              </p:par>
                            </p:childTnLst>
                          </p:cTn>
                        </p:par>
                        <p:par>
                          <p:cTn id="8" fill="hold" nodeType="afterGroup">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p:cTn id="11" dur="500" fill="hold"/>
                                        <p:tgtEl>
                                          <p:spTgt spid="40"/>
                                        </p:tgtEl>
                                        <p:attrNameLst>
                                          <p:attrName>ppt_w</p:attrName>
                                        </p:attrNameLst>
                                      </p:cBhvr>
                                      <p:tavLst>
                                        <p:tav tm="0">
                                          <p:val>
                                            <p:fltVal val="0"/>
                                          </p:val>
                                        </p:tav>
                                        <p:tav tm="100000">
                                          <p:val>
                                            <p:strVal val="#ppt_w"/>
                                          </p:val>
                                        </p:tav>
                                      </p:tavLst>
                                    </p:anim>
                                    <p:anim calcmode="lin" valueType="num">
                                      <p:cBhvr>
                                        <p:cTn id="12" dur="500" fill="hold"/>
                                        <p:tgtEl>
                                          <p:spTgt spid="40"/>
                                        </p:tgtEl>
                                        <p:attrNameLst>
                                          <p:attrName>ppt_h</p:attrName>
                                        </p:attrNameLst>
                                      </p:cBhvr>
                                      <p:tavLst>
                                        <p:tav tm="0">
                                          <p:val>
                                            <p:fltVal val="0"/>
                                          </p:val>
                                        </p:tav>
                                        <p:tav tm="100000">
                                          <p:val>
                                            <p:strVal val="#ppt_h"/>
                                          </p:val>
                                        </p:tav>
                                      </p:tavLst>
                                    </p:anim>
                                    <p:animEffect transition="in" filter="fade" prLst="">
                                      <p:cBhvr>
                                        <p:cTn id="13" dur="500"/>
                                        <p:tgtEl>
                                          <p:spTgt spid="40"/>
                                        </p:tgtEl>
                                      </p:cBhvr>
                                    </p:animEffect>
                                  </p:childTnLst>
                                </p:cTn>
                              </p:par>
                            </p:childTnLst>
                          </p:cTn>
                        </p:par>
                        <p:par>
                          <p:cTn id="14" fill="hold" nodeType="afterGroup">
                            <p:stCondLst>
                              <p:cond delay="1000"/>
                            </p:stCondLst>
                            <p:childTnLst>
                              <p:par>
                                <p:cTn id="15" presetID="42"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rLst="">
                                      <p:cBhvr>
                                        <p:cTn id="17" dur="500"/>
                                        <p:tgtEl>
                                          <p:spTgt spid="4"/>
                                        </p:tgtEl>
                                      </p:cBhvr>
                                    </p:animEffect>
                                    <p:anim calcmode="lin" valueType="num">
                                      <p:cBhvr>
                                        <p:cTn id="18" dur="500" fill="hold"/>
                                        <p:tgtEl>
                                          <p:spTgt spid="4"/>
                                        </p:tgtEl>
                                        <p:attrNameLst>
                                          <p:attrName>ppt_x</p:attrName>
                                        </p:attrNameLst>
                                      </p:cBhvr>
                                      <p:tavLst>
                                        <p:tav tm="0">
                                          <p:val>
                                            <p:strVal val="#ppt_x"/>
                                          </p:val>
                                        </p:tav>
                                        <p:tav tm="100000">
                                          <p:val>
                                            <p:strVal val="#ppt_x"/>
                                          </p:val>
                                        </p:tav>
                                      </p:tavLst>
                                    </p:anim>
                                    <p:anim calcmode="lin" valueType="num">
                                      <p:cBhvr>
                                        <p:cTn id="1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作品总结</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2197100"/>
            <a:ext cx="9956800" cy="1282700"/>
          </a:xfrm>
          <a:prstGeom prst="roundRect">
            <a:avLst>
              <a:gd name="adj" fmla="val 3960"/>
            </a:avLst>
          </a:prstGeom>
          <a:solidFill>
            <a:srgbClr val="FFFFFF"/>
          </a:solidFill>
          <a:ln w="25400">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New shape"/>
          <p:cNvSpPr/>
          <p:nvPr/>
        </p:nvSpPr>
        <p:spPr>
          <a:xfrm>
            <a:off x="1117600" y="3606800"/>
            <a:ext cx="9956800" cy="1282700"/>
          </a:xfrm>
          <a:prstGeom prst="roundRect">
            <a:avLst>
              <a:gd name="adj" fmla="val 3960"/>
            </a:avLst>
          </a:prstGeom>
          <a:solidFill>
            <a:srgbClr val="FFFFFF"/>
          </a:solidFill>
          <a:ln w="25400">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New shape"/>
          <p:cNvSpPr/>
          <p:nvPr/>
        </p:nvSpPr>
        <p:spPr>
          <a:xfrm>
            <a:off x="1117600" y="5016500"/>
            <a:ext cx="9956800" cy="939800"/>
          </a:xfrm>
          <a:prstGeom prst="roundRect">
            <a:avLst>
              <a:gd name="adj" fmla="val 5405"/>
            </a:avLst>
          </a:prstGeom>
          <a:solidFill>
            <a:srgbClr val="FFFFFF"/>
          </a:solidFill>
          <a:ln w="25400">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New picture"/>
          <p:cNvPicPr/>
          <p:nvPr/>
        </p:nvPicPr>
        <p:blipFill>
          <a:blip r:embed="rId6"/>
          <a:stretch>
            <a:fillRect/>
          </a:stretch>
        </p:blipFill>
        <p:spPr>
          <a:xfrm>
            <a:off x="1219200" y="2197100"/>
            <a:ext cx="381000" cy="762000"/>
          </a:xfrm>
          <a:prstGeom prst="rect">
            <a:avLst/>
          </a:prstGeom>
          <a:ln>
            <a:solidFill>
              <a:srgbClr val="FFFFFF">
                <a:alpha val="0"/>
              </a:srgbClr>
            </a:solidFill>
          </a:ln>
        </p:spPr>
      </p:pic>
      <p:pic>
        <p:nvPicPr>
          <p:cNvPr id="22" name="New picture"/>
          <p:cNvPicPr/>
          <p:nvPr/>
        </p:nvPicPr>
        <p:blipFill>
          <a:blip r:embed="rId7"/>
          <a:stretch>
            <a:fillRect/>
          </a:stretch>
        </p:blipFill>
        <p:spPr>
          <a:xfrm>
            <a:off x="10591800" y="2717800"/>
            <a:ext cx="381000" cy="762000"/>
          </a:xfrm>
          <a:prstGeom prst="rect">
            <a:avLst/>
          </a:prstGeom>
          <a:ln>
            <a:solidFill>
              <a:srgbClr val="FFFFFF">
                <a:alpha val="0"/>
              </a:srgbClr>
            </a:solidFill>
          </a:ln>
        </p:spPr>
      </p:pic>
      <p:pic>
        <p:nvPicPr>
          <p:cNvPr id="23" name="New picture"/>
          <p:cNvPicPr/>
          <p:nvPr/>
        </p:nvPicPr>
        <p:blipFill>
          <a:blip r:embed="rId6"/>
          <a:stretch>
            <a:fillRect/>
          </a:stretch>
        </p:blipFill>
        <p:spPr>
          <a:xfrm>
            <a:off x="1219200" y="3606800"/>
            <a:ext cx="381000" cy="762000"/>
          </a:xfrm>
          <a:prstGeom prst="rect">
            <a:avLst/>
          </a:prstGeom>
          <a:ln>
            <a:solidFill>
              <a:srgbClr val="FFFFFF">
                <a:alpha val="0"/>
              </a:srgbClr>
            </a:solidFill>
          </a:ln>
        </p:spPr>
      </p:pic>
      <p:pic>
        <p:nvPicPr>
          <p:cNvPr id="24" name="New picture"/>
          <p:cNvPicPr/>
          <p:nvPr/>
        </p:nvPicPr>
        <p:blipFill>
          <a:blip r:embed="rId7"/>
          <a:stretch>
            <a:fillRect/>
          </a:stretch>
        </p:blipFill>
        <p:spPr>
          <a:xfrm>
            <a:off x="10591800" y="4127500"/>
            <a:ext cx="381000" cy="762000"/>
          </a:xfrm>
          <a:prstGeom prst="rect">
            <a:avLst/>
          </a:prstGeom>
          <a:ln>
            <a:solidFill>
              <a:srgbClr val="FFFFFF">
                <a:alpha val="0"/>
              </a:srgbClr>
            </a:solidFill>
          </a:ln>
        </p:spPr>
      </p:pic>
      <p:pic>
        <p:nvPicPr>
          <p:cNvPr id="25" name="New picture"/>
          <p:cNvPicPr/>
          <p:nvPr/>
        </p:nvPicPr>
        <p:blipFill>
          <a:blip r:embed="rId6"/>
          <a:stretch>
            <a:fillRect/>
          </a:stretch>
        </p:blipFill>
        <p:spPr>
          <a:xfrm>
            <a:off x="1219200" y="5016500"/>
            <a:ext cx="381000" cy="762000"/>
          </a:xfrm>
          <a:prstGeom prst="rect">
            <a:avLst/>
          </a:prstGeom>
          <a:ln>
            <a:solidFill>
              <a:srgbClr val="FFFFFF">
                <a:alpha val="0"/>
              </a:srgbClr>
            </a:solidFill>
          </a:ln>
        </p:spPr>
      </p:pic>
      <p:pic>
        <p:nvPicPr>
          <p:cNvPr id="26" name="New picture"/>
          <p:cNvPicPr/>
          <p:nvPr/>
        </p:nvPicPr>
        <p:blipFill>
          <a:blip r:embed="rId7"/>
          <a:stretch>
            <a:fillRect/>
          </a:stretch>
        </p:blipFill>
        <p:spPr>
          <a:xfrm>
            <a:off x="10591800" y="5194300"/>
            <a:ext cx="381000" cy="762000"/>
          </a:xfrm>
          <a:prstGeom prst="rect">
            <a:avLst/>
          </a:prstGeom>
          <a:ln>
            <a:solidFill>
              <a:srgbClr val="FFFFFF">
                <a:alpha val="0"/>
              </a:srgbClr>
            </a:solidFill>
          </a:ln>
        </p:spPr>
      </p:pic>
      <p:sp>
        <p:nvSpPr>
          <p:cNvPr id="27" name="New shape"/>
          <p:cNvSpPr/>
          <p:nvPr/>
        </p:nvSpPr>
        <p:spPr>
          <a:xfrm>
            <a:off x="1117600" y="14732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作品特色与创新点</a:t>
            </a:r>
            <a:endParaRPr sz="3700" b="1" dirty="0">
              <a:solidFill>
                <a:srgbClr val="000000"/>
              </a:solidFill>
              <a:latin typeface="宋体"/>
            </a:endParaRPr>
          </a:p>
        </p:txBody>
      </p:sp>
      <p:sp>
        <p:nvSpPr>
          <p:cNvPr id="28" name="New shape"/>
          <p:cNvSpPr/>
          <p:nvPr/>
        </p:nvSpPr>
        <p:spPr>
          <a:xfrm>
            <a:off x="1498600" y="2324100"/>
            <a:ext cx="9194800" cy="10287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87500" lnSpcReduction="20000"/>
          </a:bodyPr>
          <a:lstStyle/>
          <a:p>
            <a:pPr indent="0" algn="l">
              <a:lnSpc>
                <a:spcPct val="125000"/>
              </a:lnSpc>
            </a:pPr>
            <a:r>
              <a:rPr sz="2400" b="0">
                <a:solidFill>
                  <a:srgbClr val="000000"/>
                </a:solidFill>
                <a:latin typeface="宋体"/>
              </a:rPr>
              <a:t>技术融合创新：首创“大模型+动态因子库”两位一体架构，集成讯飞星火Spark Lite大模型实现自然语言交互，构建动态排放因子的智能匹配引擎。测试显示碳核算效率提升40%，交互响应速度达2.8秒</a:t>
            </a:r>
          </a:p>
        </p:txBody>
      </p:sp>
      <p:sp>
        <p:nvSpPr>
          <p:cNvPr id="29" name="New shape"/>
          <p:cNvSpPr/>
          <p:nvPr/>
        </p:nvSpPr>
        <p:spPr>
          <a:xfrm>
            <a:off x="1498600" y="3733800"/>
            <a:ext cx="9194800" cy="10287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87500" lnSpcReduction="20000"/>
          </a:bodyPr>
          <a:lstStyle/>
          <a:p>
            <a:pPr indent="0" algn="l">
              <a:lnSpc>
                <a:spcPct val="125000"/>
              </a:lnSpc>
            </a:pPr>
            <a:r>
              <a:rPr sz="2400" b="0">
                <a:solidFill>
                  <a:srgbClr val="000000"/>
                </a:solidFill>
                <a:latin typeface="宋体"/>
              </a:rPr>
              <a:t>多维分析创新：开发时空耦合的可视化分析系统，支持31个省级行政区25年碳排放数据的多维度穿透式分析，独创"碳排放热力图谱"展现行业-区域-时间三维关联，较传统系统增加12个分析维度</a:t>
            </a:r>
          </a:p>
        </p:txBody>
      </p:sp>
      <p:sp>
        <p:nvSpPr>
          <p:cNvPr id="30" name="New shape"/>
          <p:cNvSpPr/>
          <p:nvPr/>
        </p:nvSpPr>
        <p:spPr>
          <a:xfrm>
            <a:off x="1498600" y="5143500"/>
            <a:ext cx="9194800" cy="6858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87500" lnSpcReduction="20000"/>
          </a:bodyPr>
          <a:lstStyle/>
          <a:p>
            <a:pPr indent="0" algn="l">
              <a:lnSpc>
                <a:spcPct val="125000"/>
              </a:lnSpc>
            </a:pPr>
            <a:r>
              <a:rPr sz="2400" b="0">
                <a:solidFill>
                  <a:srgbClr val="000000"/>
                </a:solidFill>
                <a:latin typeface="宋体"/>
              </a:rPr>
              <a:t>交互模式创新：引入用户行为驱动的智能激励机制，生成个性化称号体系，结合交互式参数调节工具，使中小企业用户参与度提升</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300" fill="hold"/>
                                        <p:tgtEl>
                                          <p:spTgt spid="18"/>
                                        </p:tgtEl>
                                        <p:attrNameLst>
                                          <p:attrName>ppt_w</p:attrName>
                                        </p:attrNameLst>
                                      </p:cBhvr>
                                      <p:tavLst>
                                        <p:tav tm="0">
                                          <p:val>
                                            <p:fltVal val="0"/>
                                          </p:val>
                                        </p:tav>
                                        <p:tav tm="100000">
                                          <p:val>
                                            <p:strVal val="#ppt_w"/>
                                          </p:val>
                                        </p:tav>
                                      </p:tavLst>
                                    </p:anim>
                                    <p:anim calcmode="lin" valueType="num">
                                      <p:cBhvr>
                                        <p:cTn id="8" dur="3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3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300" fill="hold"/>
                                        <p:tgtEl>
                                          <p:spTgt spid="19"/>
                                        </p:tgtEl>
                                        <p:attrNameLst>
                                          <p:attrName>ppt_w</p:attrName>
                                        </p:attrNameLst>
                                      </p:cBhvr>
                                      <p:tavLst>
                                        <p:tav tm="0">
                                          <p:val>
                                            <p:fltVal val="0"/>
                                          </p:val>
                                        </p:tav>
                                        <p:tav tm="100000">
                                          <p:val>
                                            <p:strVal val="#ppt_w"/>
                                          </p:val>
                                        </p:tav>
                                      </p:tavLst>
                                    </p:anim>
                                    <p:anim calcmode="lin" valueType="num">
                                      <p:cBhvr>
                                        <p:cTn id="13" dur="3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6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300" fill="hold"/>
                                        <p:tgtEl>
                                          <p:spTgt spid="20"/>
                                        </p:tgtEl>
                                        <p:attrNameLst>
                                          <p:attrName>ppt_w</p:attrName>
                                        </p:attrNameLst>
                                      </p:cBhvr>
                                      <p:tavLst>
                                        <p:tav tm="0">
                                          <p:val>
                                            <p:fltVal val="0"/>
                                          </p:val>
                                        </p:tav>
                                        <p:tav tm="100000">
                                          <p:val>
                                            <p:strVal val="#ppt_w"/>
                                          </p:val>
                                        </p:tav>
                                      </p:tavLst>
                                    </p:anim>
                                    <p:anim calcmode="lin" valueType="num">
                                      <p:cBhvr>
                                        <p:cTn id="18" dur="3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9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200" fill="hold"/>
                                        <p:tgtEl>
                                          <p:spTgt spid="21"/>
                                        </p:tgtEl>
                                        <p:attrNameLst>
                                          <p:attrName>ppt_w</p:attrName>
                                        </p:attrNameLst>
                                      </p:cBhvr>
                                      <p:tavLst>
                                        <p:tav tm="0">
                                          <p:val>
                                            <p:fltVal val="0"/>
                                          </p:val>
                                        </p:tav>
                                        <p:tav tm="100000">
                                          <p:val>
                                            <p:strVal val="#ppt_w"/>
                                          </p:val>
                                        </p:tav>
                                      </p:tavLst>
                                    </p:anim>
                                    <p:anim calcmode="lin" valueType="num">
                                      <p:cBhvr>
                                        <p:cTn id="23" dur="2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11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200" fill="hold"/>
                                        <p:tgtEl>
                                          <p:spTgt spid="22"/>
                                        </p:tgtEl>
                                        <p:attrNameLst>
                                          <p:attrName>ppt_w</p:attrName>
                                        </p:attrNameLst>
                                      </p:cBhvr>
                                      <p:tavLst>
                                        <p:tav tm="0">
                                          <p:val>
                                            <p:fltVal val="0"/>
                                          </p:val>
                                        </p:tav>
                                        <p:tav tm="100000">
                                          <p:val>
                                            <p:strVal val="#ppt_w"/>
                                          </p:val>
                                        </p:tav>
                                      </p:tavLst>
                                    </p:anim>
                                    <p:anim calcmode="lin" valueType="num">
                                      <p:cBhvr>
                                        <p:cTn id="28" dur="2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3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200" fill="hold"/>
                                        <p:tgtEl>
                                          <p:spTgt spid="23"/>
                                        </p:tgtEl>
                                        <p:attrNameLst>
                                          <p:attrName>ppt_w</p:attrName>
                                        </p:attrNameLst>
                                      </p:cBhvr>
                                      <p:tavLst>
                                        <p:tav tm="0">
                                          <p:val>
                                            <p:fltVal val="0"/>
                                          </p:val>
                                        </p:tav>
                                        <p:tav tm="100000">
                                          <p:val>
                                            <p:strVal val="#ppt_w"/>
                                          </p:val>
                                        </p:tav>
                                      </p:tavLst>
                                    </p:anim>
                                    <p:anim calcmode="lin" valueType="num">
                                      <p:cBhvr>
                                        <p:cTn id="33" dur="2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5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200" fill="hold"/>
                                        <p:tgtEl>
                                          <p:spTgt spid="24"/>
                                        </p:tgtEl>
                                        <p:attrNameLst>
                                          <p:attrName>ppt_w</p:attrName>
                                        </p:attrNameLst>
                                      </p:cBhvr>
                                      <p:tavLst>
                                        <p:tav tm="0">
                                          <p:val>
                                            <p:fltVal val="0"/>
                                          </p:val>
                                        </p:tav>
                                        <p:tav tm="100000">
                                          <p:val>
                                            <p:strVal val="#ppt_w"/>
                                          </p:val>
                                        </p:tav>
                                      </p:tavLst>
                                    </p:anim>
                                    <p:anim calcmode="lin" valueType="num">
                                      <p:cBhvr>
                                        <p:cTn id="38" dur="200" fill="hold"/>
                                        <p:tgtEl>
                                          <p:spTgt spid="2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1700"/>
                            </p:stCondLst>
                            <p:childTnLst>
                              <p:par>
                                <p:cTn id="40" presetID="23" presetClass="entr" presetSubtype="16" fill="hold" grpId="7"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200" fill="hold"/>
                                        <p:tgtEl>
                                          <p:spTgt spid="25"/>
                                        </p:tgtEl>
                                        <p:attrNameLst>
                                          <p:attrName>ppt_w</p:attrName>
                                        </p:attrNameLst>
                                      </p:cBhvr>
                                      <p:tavLst>
                                        <p:tav tm="0">
                                          <p:val>
                                            <p:fltVal val="0"/>
                                          </p:val>
                                        </p:tav>
                                        <p:tav tm="100000">
                                          <p:val>
                                            <p:strVal val="#ppt_w"/>
                                          </p:val>
                                        </p:tav>
                                      </p:tavLst>
                                    </p:anim>
                                    <p:anim calcmode="lin" valueType="num">
                                      <p:cBhvr>
                                        <p:cTn id="43" dur="200" fill="hold"/>
                                        <p:tgtEl>
                                          <p:spTgt spid="25"/>
                                        </p:tgtEl>
                                        <p:attrNameLst>
                                          <p:attrName>ppt_h</p:attrName>
                                        </p:attrNameLst>
                                      </p:cBhvr>
                                      <p:tavLst>
                                        <p:tav tm="0">
                                          <p:val>
                                            <p:fltVal val="0"/>
                                          </p:val>
                                        </p:tav>
                                        <p:tav tm="100000">
                                          <p:val>
                                            <p:strVal val="#ppt_h"/>
                                          </p:val>
                                        </p:tav>
                                      </p:tavLst>
                                    </p:anim>
                                  </p:childTnLst>
                                </p:cTn>
                              </p:par>
                            </p:childTnLst>
                          </p:cTn>
                        </p:par>
                        <p:par>
                          <p:cTn id="44" fill="hold" nodeType="afterGroup">
                            <p:stCondLst>
                              <p:cond delay="1900"/>
                            </p:stCondLst>
                            <p:childTnLst>
                              <p:par>
                                <p:cTn id="45" presetID="23" presetClass="entr" presetSubtype="16" fill="hold" grpId="8" nodeType="after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200" fill="hold"/>
                                        <p:tgtEl>
                                          <p:spTgt spid="26"/>
                                        </p:tgtEl>
                                        <p:attrNameLst>
                                          <p:attrName>ppt_w</p:attrName>
                                        </p:attrNameLst>
                                      </p:cBhvr>
                                      <p:tavLst>
                                        <p:tav tm="0">
                                          <p:val>
                                            <p:fltVal val="0"/>
                                          </p:val>
                                        </p:tav>
                                        <p:tav tm="100000">
                                          <p:val>
                                            <p:strVal val="#ppt_w"/>
                                          </p:val>
                                        </p:tav>
                                      </p:tavLst>
                                    </p:anim>
                                    <p:anim calcmode="lin" valueType="num">
                                      <p:cBhvr>
                                        <p:cTn id="48" dur="200" fill="hold"/>
                                        <p:tgtEl>
                                          <p:spTgt spid="26"/>
                                        </p:tgtEl>
                                        <p:attrNameLst>
                                          <p:attrName>ppt_h</p:attrName>
                                        </p:attrNameLst>
                                      </p:cBhvr>
                                      <p:tavLst>
                                        <p:tav tm="0">
                                          <p:val>
                                            <p:fltVal val="0"/>
                                          </p:val>
                                        </p:tav>
                                        <p:tav tm="100000">
                                          <p:val>
                                            <p:strVal val="#ppt_h"/>
                                          </p:val>
                                        </p:tav>
                                      </p:tavLst>
                                    </p:anim>
                                  </p:childTnLst>
                                </p:cTn>
                              </p:par>
                            </p:childTnLst>
                          </p:cTn>
                        </p:par>
                        <p:par>
                          <p:cTn id="49" fill="hold" nodeType="afterGroup">
                            <p:stCondLst>
                              <p:cond delay="2100"/>
                            </p:stCondLst>
                            <p:childTnLst>
                              <p:par>
                                <p:cTn id="50" presetID="23" presetClass="entr" presetSubtype="16" fill="hold" grpId="9" nodeType="after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p:cTn id="52" dur="200" fill="hold"/>
                                        <p:tgtEl>
                                          <p:spTgt spid="27"/>
                                        </p:tgtEl>
                                        <p:attrNameLst>
                                          <p:attrName>ppt_w</p:attrName>
                                        </p:attrNameLst>
                                      </p:cBhvr>
                                      <p:tavLst>
                                        <p:tav tm="0">
                                          <p:val>
                                            <p:fltVal val="0"/>
                                          </p:val>
                                        </p:tav>
                                        <p:tav tm="100000">
                                          <p:val>
                                            <p:strVal val="#ppt_w"/>
                                          </p:val>
                                        </p:tav>
                                      </p:tavLst>
                                    </p:anim>
                                    <p:anim calcmode="lin" valueType="num">
                                      <p:cBhvr>
                                        <p:cTn id="53" dur="200" fill="hold"/>
                                        <p:tgtEl>
                                          <p:spTgt spid="27"/>
                                        </p:tgtEl>
                                        <p:attrNameLst>
                                          <p:attrName>ppt_h</p:attrName>
                                        </p:attrNameLst>
                                      </p:cBhvr>
                                      <p:tavLst>
                                        <p:tav tm="0">
                                          <p:val>
                                            <p:fltVal val="0"/>
                                          </p:val>
                                        </p:tav>
                                        <p:tav tm="100000">
                                          <p:val>
                                            <p:strVal val="#ppt_h"/>
                                          </p:val>
                                        </p:tav>
                                      </p:tavLst>
                                    </p:anim>
                                  </p:childTnLst>
                                </p:cTn>
                              </p:par>
                            </p:childTnLst>
                          </p:cTn>
                        </p:par>
                        <p:par>
                          <p:cTn id="54" fill="hold" nodeType="afterGroup">
                            <p:stCondLst>
                              <p:cond delay="2300"/>
                            </p:stCondLst>
                            <p:childTnLst>
                              <p:par>
                                <p:cTn id="55" presetID="23" presetClass="entr" presetSubtype="16" fill="hold" grpId="10" nodeType="afterEffect">
                                  <p:stCondLst>
                                    <p:cond delay="0"/>
                                  </p:stCondLst>
                                  <p:childTnLst>
                                    <p:set>
                                      <p:cBhvr>
                                        <p:cTn id="56" dur="1" fill="hold">
                                          <p:stCondLst>
                                            <p:cond delay="0"/>
                                          </p:stCondLst>
                                        </p:cTn>
                                        <p:tgtEl>
                                          <p:spTgt spid="28"/>
                                        </p:tgtEl>
                                        <p:attrNameLst>
                                          <p:attrName>style.visibility</p:attrName>
                                        </p:attrNameLst>
                                      </p:cBhvr>
                                      <p:to>
                                        <p:strVal val="visible"/>
                                      </p:to>
                                    </p:set>
                                    <p:anim calcmode="lin" valueType="num">
                                      <p:cBhvr>
                                        <p:cTn id="57" dur="200" fill="hold"/>
                                        <p:tgtEl>
                                          <p:spTgt spid="28"/>
                                        </p:tgtEl>
                                        <p:attrNameLst>
                                          <p:attrName>ppt_w</p:attrName>
                                        </p:attrNameLst>
                                      </p:cBhvr>
                                      <p:tavLst>
                                        <p:tav tm="0">
                                          <p:val>
                                            <p:fltVal val="0"/>
                                          </p:val>
                                        </p:tav>
                                        <p:tav tm="100000">
                                          <p:val>
                                            <p:strVal val="#ppt_w"/>
                                          </p:val>
                                        </p:tav>
                                      </p:tavLst>
                                    </p:anim>
                                    <p:anim calcmode="lin" valueType="num">
                                      <p:cBhvr>
                                        <p:cTn id="58" dur="200" fill="hold"/>
                                        <p:tgtEl>
                                          <p:spTgt spid="28"/>
                                        </p:tgtEl>
                                        <p:attrNameLst>
                                          <p:attrName>ppt_h</p:attrName>
                                        </p:attrNameLst>
                                      </p:cBhvr>
                                      <p:tavLst>
                                        <p:tav tm="0">
                                          <p:val>
                                            <p:fltVal val="0"/>
                                          </p:val>
                                        </p:tav>
                                        <p:tav tm="100000">
                                          <p:val>
                                            <p:strVal val="#ppt_h"/>
                                          </p:val>
                                        </p:tav>
                                      </p:tavLst>
                                    </p:anim>
                                  </p:childTnLst>
                                </p:cTn>
                              </p:par>
                            </p:childTnLst>
                          </p:cTn>
                        </p:par>
                        <p:par>
                          <p:cTn id="59" fill="hold" nodeType="afterGroup">
                            <p:stCondLst>
                              <p:cond delay="2500"/>
                            </p:stCondLst>
                            <p:childTnLst>
                              <p:par>
                                <p:cTn id="60" presetID="23" presetClass="entr" presetSubtype="16" fill="hold" grpId="11" nodeType="afterEffect">
                                  <p:stCondLst>
                                    <p:cond delay="0"/>
                                  </p:stCondLst>
                                  <p:childTnLst>
                                    <p:set>
                                      <p:cBhvr>
                                        <p:cTn id="61" dur="1" fill="hold">
                                          <p:stCondLst>
                                            <p:cond delay="0"/>
                                          </p:stCondLst>
                                        </p:cTn>
                                        <p:tgtEl>
                                          <p:spTgt spid="29"/>
                                        </p:tgtEl>
                                        <p:attrNameLst>
                                          <p:attrName>style.visibility</p:attrName>
                                        </p:attrNameLst>
                                      </p:cBhvr>
                                      <p:to>
                                        <p:strVal val="visible"/>
                                      </p:to>
                                    </p:set>
                                    <p:anim calcmode="lin" valueType="num">
                                      <p:cBhvr>
                                        <p:cTn id="62" dur="200" fill="hold"/>
                                        <p:tgtEl>
                                          <p:spTgt spid="29"/>
                                        </p:tgtEl>
                                        <p:attrNameLst>
                                          <p:attrName>ppt_w</p:attrName>
                                        </p:attrNameLst>
                                      </p:cBhvr>
                                      <p:tavLst>
                                        <p:tav tm="0">
                                          <p:val>
                                            <p:fltVal val="0"/>
                                          </p:val>
                                        </p:tav>
                                        <p:tav tm="100000">
                                          <p:val>
                                            <p:strVal val="#ppt_w"/>
                                          </p:val>
                                        </p:tav>
                                      </p:tavLst>
                                    </p:anim>
                                    <p:anim calcmode="lin" valueType="num">
                                      <p:cBhvr>
                                        <p:cTn id="63" dur="200" fill="hold"/>
                                        <p:tgtEl>
                                          <p:spTgt spid="29"/>
                                        </p:tgtEl>
                                        <p:attrNameLst>
                                          <p:attrName>ppt_h</p:attrName>
                                        </p:attrNameLst>
                                      </p:cBhvr>
                                      <p:tavLst>
                                        <p:tav tm="0">
                                          <p:val>
                                            <p:fltVal val="0"/>
                                          </p:val>
                                        </p:tav>
                                        <p:tav tm="100000">
                                          <p:val>
                                            <p:strVal val="#ppt_h"/>
                                          </p:val>
                                        </p:tav>
                                      </p:tavLst>
                                    </p:anim>
                                  </p:childTnLst>
                                </p:cTn>
                              </p:par>
                            </p:childTnLst>
                          </p:cTn>
                        </p:par>
                        <p:par>
                          <p:cTn id="64" fill="hold" nodeType="afterGroup">
                            <p:stCondLst>
                              <p:cond delay="2700"/>
                            </p:stCondLst>
                            <p:childTnLst>
                              <p:par>
                                <p:cTn id="65" presetID="23" presetClass="entr" presetSubtype="16" fill="hold" grpId="12" nodeType="afterEffect">
                                  <p:stCondLst>
                                    <p:cond delay="0"/>
                                  </p:stCondLst>
                                  <p:childTnLst>
                                    <p:set>
                                      <p:cBhvr>
                                        <p:cTn id="66" dur="1" fill="hold">
                                          <p:stCondLst>
                                            <p:cond delay="0"/>
                                          </p:stCondLst>
                                        </p:cTn>
                                        <p:tgtEl>
                                          <p:spTgt spid="30"/>
                                        </p:tgtEl>
                                        <p:attrNameLst>
                                          <p:attrName>style.visibility</p:attrName>
                                        </p:attrNameLst>
                                      </p:cBhvr>
                                      <p:to>
                                        <p:strVal val="visible"/>
                                      </p:to>
                                    </p:set>
                                    <p:anim calcmode="lin" valueType="num">
                                      <p:cBhvr>
                                        <p:cTn id="67" dur="200" fill="hold"/>
                                        <p:tgtEl>
                                          <p:spTgt spid="30"/>
                                        </p:tgtEl>
                                        <p:attrNameLst>
                                          <p:attrName>ppt_w</p:attrName>
                                        </p:attrNameLst>
                                      </p:cBhvr>
                                      <p:tavLst>
                                        <p:tav tm="0">
                                          <p:val>
                                            <p:fltVal val="0"/>
                                          </p:val>
                                        </p:tav>
                                        <p:tav tm="100000">
                                          <p:val>
                                            <p:strVal val="#ppt_w"/>
                                          </p:val>
                                        </p:tav>
                                      </p:tavLst>
                                    </p:anim>
                                    <p:anim calcmode="lin" valueType="num">
                                      <p:cBhvr>
                                        <p:cTn id="68" dur="200" fill="hold"/>
                                        <p:tgtEl>
                                          <p:spTgt spid="3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P spid="25" grpId="7" animBg="1"/>
      <p:bldP spid="26" grpId="8" animBg="1"/>
      <p:bldP spid="27" grpId="9" animBg="1"/>
      <p:bldP spid="28" grpId="10" animBg="1"/>
      <p:bldP spid="29" grpId="11" animBg="1"/>
      <p:bldP spid="30" grpId="12"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作品总结</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rot="5400000">
            <a:off x="1117600" y="2425700"/>
            <a:ext cx="330200" cy="330200"/>
          </a:xfrm>
          <a:prstGeom prst="triangle">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New shape"/>
          <p:cNvSpPr/>
          <p:nvPr/>
        </p:nvSpPr>
        <p:spPr>
          <a:xfrm rot="5400000">
            <a:off x="1117600" y="3581400"/>
            <a:ext cx="330200" cy="330200"/>
          </a:xfrm>
          <a:prstGeom prst="triangle">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New shape"/>
          <p:cNvSpPr/>
          <p:nvPr/>
        </p:nvSpPr>
        <p:spPr>
          <a:xfrm rot="5400000">
            <a:off x="1117600" y="4394200"/>
            <a:ext cx="330200" cy="330200"/>
          </a:xfrm>
          <a:prstGeom prst="triangle">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New shape"/>
          <p:cNvSpPr/>
          <p:nvPr/>
        </p:nvSpPr>
        <p:spPr>
          <a:xfrm rot="5400000">
            <a:off x="1117600" y="5207000"/>
            <a:ext cx="330200" cy="330200"/>
          </a:xfrm>
          <a:prstGeom prst="triangle">
            <a:avLst/>
          </a:prstGeom>
          <a:solidFill>
            <a:srgbClr val="0E2F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New shape"/>
          <p:cNvSpPr/>
          <p:nvPr/>
        </p:nvSpPr>
        <p:spPr>
          <a:xfrm>
            <a:off x="1117600" y="16764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应用推广</a:t>
            </a:r>
            <a:endParaRPr sz="3700" b="1" dirty="0">
              <a:solidFill>
                <a:srgbClr val="000000"/>
              </a:solidFill>
              <a:latin typeface="宋体"/>
            </a:endParaRPr>
          </a:p>
        </p:txBody>
      </p:sp>
      <p:sp>
        <p:nvSpPr>
          <p:cNvPr id="23" name="New shape"/>
          <p:cNvSpPr/>
          <p:nvPr/>
        </p:nvSpPr>
        <p:spPr>
          <a:xfrm>
            <a:off x="1524000" y="2400300"/>
            <a:ext cx="9550400" cy="9906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0000"/>
          </a:bodyPr>
          <a:lstStyle/>
          <a:p>
            <a:pPr indent="0" algn="l">
              <a:lnSpc>
                <a:spcPct val="125000"/>
              </a:lnSpc>
            </a:pPr>
            <a:r>
              <a:rPr sz="2100" b="0">
                <a:solidFill>
                  <a:srgbClr val="000000"/>
                </a:solidFill>
                <a:latin typeface="宋体"/>
              </a:rPr>
              <a:t>政府端应用：作为碳监管数字基座，已适配8项国家/行业标准，可对接全国碳市场监测系统，支撑配额分配、CCER核证等核心场景，助力实现年覆盖80亿吨碳排放量的监管目标</a:t>
            </a:r>
          </a:p>
        </p:txBody>
      </p:sp>
      <p:sp>
        <p:nvSpPr>
          <p:cNvPr id="24" name="New shape"/>
          <p:cNvSpPr/>
          <p:nvPr/>
        </p:nvSpPr>
        <p:spPr>
          <a:xfrm>
            <a:off x="1524000" y="3556000"/>
            <a:ext cx="9550400" cy="660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0000" lnSpcReduction="10000"/>
          </a:bodyPr>
          <a:lstStyle/>
          <a:p>
            <a:pPr indent="0" algn="l">
              <a:lnSpc>
                <a:spcPct val="125000"/>
              </a:lnSpc>
            </a:pPr>
            <a:r>
              <a:rPr sz="2100" b="0">
                <a:solidFill>
                  <a:srgbClr val="000000"/>
                </a:solidFill>
                <a:latin typeface="宋体"/>
              </a:rPr>
              <a:t>企业端推广：针对钢铁、水泥等高耗能行业开发垂直解决方案，通过SaaS模式降低中小企碳管理成本，预计可为单家企业年均节约碳核查费用12万元</a:t>
            </a:r>
          </a:p>
        </p:txBody>
      </p:sp>
      <p:sp>
        <p:nvSpPr>
          <p:cNvPr id="25" name="New shape"/>
          <p:cNvSpPr/>
          <p:nvPr/>
        </p:nvSpPr>
        <p:spPr>
          <a:xfrm>
            <a:off x="1524000" y="4368800"/>
            <a:ext cx="9550400" cy="660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0000" lnSpcReduction="10000"/>
          </a:bodyPr>
          <a:lstStyle/>
          <a:p>
            <a:pPr indent="0" algn="l">
              <a:lnSpc>
                <a:spcPct val="125000"/>
              </a:lnSpc>
            </a:pPr>
            <a:r>
              <a:rPr sz="2100" b="0">
                <a:solidFill>
                  <a:srgbClr val="000000"/>
                </a:solidFill>
                <a:latin typeface="宋体"/>
              </a:rPr>
              <a:t>媒体与社群营销：利用社交媒体、汽车爱好者论坛、博客等渠道，发布问答技巧、场景分析等内容，吸引潜在用户群体，增强用户粘性</a:t>
            </a:r>
          </a:p>
        </p:txBody>
      </p:sp>
      <p:sp>
        <p:nvSpPr>
          <p:cNvPr id="26" name="New shape"/>
          <p:cNvSpPr/>
          <p:nvPr/>
        </p:nvSpPr>
        <p:spPr>
          <a:xfrm>
            <a:off x="1524000" y="5181600"/>
            <a:ext cx="9550400" cy="6604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0000" lnSpcReduction="10000"/>
          </a:bodyPr>
          <a:lstStyle/>
          <a:p>
            <a:pPr indent="0" algn="l">
              <a:lnSpc>
                <a:spcPct val="125000"/>
              </a:lnSpc>
            </a:pPr>
            <a:r>
              <a:rPr sz="2100" b="0">
                <a:solidFill>
                  <a:srgbClr val="000000"/>
                </a:solidFill>
                <a:latin typeface="宋体"/>
              </a:rPr>
              <a:t>移动应用开发：开发便于用户使用的手机应用程序，提供便捷的估价查询入口，利用移动端的普及性增加用户基数</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300" fill="hold"/>
                                        <p:tgtEl>
                                          <p:spTgt spid="18"/>
                                        </p:tgtEl>
                                        <p:attrNameLst>
                                          <p:attrName>ppt_w</p:attrName>
                                        </p:attrNameLst>
                                      </p:cBhvr>
                                      <p:tavLst>
                                        <p:tav tm="0">
                                          <p:val>
                                            <p:fltVal val="0"/>
                                          </p:val>
                                        </p:tav>
                                        <p:tav tm="100000">
                                          <p:val>
                                            <p:strVal val="#ppt_w"/>
                                          </p:val>
                                        </p:tav>
                                      </p:tavLst>
                                    </p:anim>
                                    <p:anim calcmode="lin" valueType="num">
                                      <p:cBhvr>
                                        <p:cTn id="8" dur="3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3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300" fill="hold"/>
                                        <p:tgtEl>
                                          <p:spTgt spid="19"/>
                                        </p:tgtEl>
                                        <p:attrNameLst>
                                          <p:attrName>ppt_w</p:attrName>
                                        </p:attrNameLst>
                                      </p:cBhvr>
                                      <p:tavLst>
                                        <p:tav tm="0">
                                          <p:val>
                                            <p:fltVal val="0"/>
                                          </p:val>
                                        </p:tav>
                                        <p:tav tm="100000">
                                          <p:val>
                                            <p:strVal val="#ppt_w"/>
                                          </p:val>
                                        </p:tav>
                                      </p:tavLst>
                                    </p:anim>
                                    <p:anim calcmode="lin" valueType="num">
                                      <p:cBhvr>
                                        <p:cTn id="13" dur="3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6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300" fill="hold"/>
                                        <p:tgtEl>
                                          <p:spTgt spid="20"/>
                                        </p:tgtEl>
                                        <p:attrNameLst>
                                          <p:attrName>ppt_w</p:attrName>
                                        </p:attrNameLst>
                                      </p:cBhvr>
                                      <p:tavLst>
                                        <p:tav tm="0">
                                          <p:val>
                                            <p:fltVal val="0"/>
                                          </p:val>
                                        </p:tav>
                                        <p:tav tm="100000">
                                          <p:val>
                                            <p:strVal val="#ppt_w"/>
                                          </p:val>
                                        </p:tav>
                                      </p:tavLst>
                                    </p:anim>
                                    <p:anim calcmode="lin" valueType="num">
                                      <p:cBhvr>
                                        <p:cTn id="18" dur="3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9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300" fill="hold"/>
                                        <p:tgtEl>
                                          <p:spTgt spid="21"/>
                                        </p:tgtEl>
                                        <p:attrNameLst>
                                          <p:attrName>ppt_w</p:attrName>
                                        </p:attrNameLst>
                                      </p:cBhvr>
                                      <p:tavLst>
                                        <p:tav tm="0">
                                          <p:val>
                                            <p:fltVal val="0"/>
                                          </p:val>
                                        </p:tav>
                                        <p:tav tm="100000">
                                          <p:val>
                                            <p:strVal val="#ppt_w"/>
                                          </p:val>
                                        </p:tav>
                                      </p:tavLst>
                                    </p:anim>
                                    <p:anim calcmode="lin" valueType="num">
                                      <p:cBhvr>
                                        <p:cTn id="23" dur="3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12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200" fill="hold"/>
                                        <p:tgtEl>
                                          <p:spTgt spid="22"/>
                                        </p:tgtEl>
                                        <p:attrNameLst>
                                          <p:attrName>ppt_w</p:attrName>
                                        </p:attrNameLst>
                                      </p:cBhvr>
                                      <p:tavLst>
                                        <p:tav tm="0">
                                          <p:val>
                                            <p:fltVal val="0"/>
                                          </p:val>
                                        </p:tav>
                                        <p:tav tm="100000">
                                          <p:val>
                                            <p:strVal val="#ppt_w"/>
                                          </p:val>
                                        </p:tav>
                                      </p:tavLst>
                                    </p:anim>
                                    <p:anim calcmode="lin" valueType="num">
                                      <p:cBhvr>
                                        <p:cTn id="28" dur="2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4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200" fill="hold"/>
                                        <p:tgtEl>
                                          <p:spTgt spid="23"/>
                                        </p:tgtEl>
                                        <p:attrNameLst>
                                          <p:attrName>ppt_w</p:attrName>
                                        </p:attrNameLst>
                                      </p:cBhvr>
                                      <p:tavLst>
                                        <p:tav tm="0">
                                          <p:val>
                                            <p:fltVal val="0"/>
                                          </p:val>
                                        </p:tav>
                                        <p:tav tm="100000">
                                          <p:val>
                                            <p:strVal val="#ppt_w"/>
                                          </p:val>
                                        </p:tav>
                                      </p:tavLst>
                                    </p:anim>
                                    <p:anim calcmode="lin" valueType="num">
                                      <p:cBhvr>
                                        <p:cTn id="33" dur="2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6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200" fill="hold"/>
                                        <p:tgtEl>
                                          <p:spTgt spid="24"/>
                                        </p:tgtEl>
                                        <p:attrNameLst>
                                          <p:attrName>ppt_w</p:attrName>
                                        </p:attrNameLst>
                                      </p:cBhvr>
                                      <p:tavLst>
                                        <p:tav tm="0">
                                          <p:val>
                                            <p:fltVal val="0"/>
                                          </p:val>
                                        </p:tav>
                                        <p:tav tm="100000">
                                          <p:val>
                                            <p:strVal val="#ppt_w"/>
                                          </p:val>
                                        </p:tav>
                                      </p:tavLst>
                                    </p:anim>
                                    <p:anim calcmode="lin" valueType="num">
                                      <p:cBhvr>
                                        <p:cTn id="38" dur="200" fill="hold"/>
                                        <p:tgtEl>
                                          <p:spTgt spid="2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1800"/>
                            </p:stCondLst>
                            <p:childTnLst>
                              <p:par>
                                <p:cTn id="40" presetID="23" presetClass="entr" presetSubtype="16" fill="hold" grpId="7"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200" fill="hold"/>
                                        <p:tgtEl>
                                          <p:spTgt spid="25"/>
                                        </p:tgtEl>
                                        <p:attrNameLst>
                                          <p:attrName>ppt_w</p:attrName>
                                        </p:attrNameLst>
                                      </p:cBhvr>
                                      <p:tavLst>
                                        <p:tav tm="0">
                                          <p:val>
                                            <p:fltVal val="0"/>
                                          </p:val>
                                        </p:tav>
                                        <p:tav tm="100000">
                                          <p:val>
                                            <p:strVal val="#ppt_w"/>
                                          </p:val>
                                        </p:tav>
                                      </p:tavLst>
                                    </p:anim>
                                    <p:anim calcmode="lin" valueType="num">
                                      <p:cBhvr>
                                        <p:cTn id="43" dur="200" fill="hold"/>
                                        <p:tgtEl>
                                          <p:spTgt spid="25"/>
                                        </p:tgtEl>
                                        <p:attrNameLst>
                                          <p:attrName>ppt_h</p:attrName>
                                        </p:attrNameLst>
                                      </p:cBhvr>
                                      <p:tavLst>
                                        <p:tav tm="0">
                                          <p:val>
                                            <p:fltVal val="0"/>
                                          </p:val>
                                        </p:tav>
                                        <p:tav tm="100000">
                                          <p:val>
                                            <p:strVal val="#ppt_h"/>
                                          </p:val>
                                        </p:tav>
                                      </p:tavLst>
                                    </p:anim>
                                  </p:childTnLst>
                                </p:cTn>
                              </p:par>
                            </p:childTnLst>
                          </p:cTn>
                        </p:par>
                        <p:par>
                          <p:cTn id="44" fill="hold" nodeType="afterGroup">
                            <p:stCondLst>
                              <p:cond delay="2000"/>
                            </p:stCondLst>
                            <p:childTnLst>
                              <p:par>
                                <p:cTn id="45" presetID="23" presetClass="entr" presetSubtype="16" fill="hold" grpId="8" nodeType="after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200" fill="hold"/>
                                        <p:tgtEl>
                                          <p:spTgt spid="26"/>
                                        </p:tgtEl>
                                        <p:attrNameLst>
                                          <p:attrName>ppt_w</p:attrName>
                                        </p:attrNameLst>
                                      </p:cBhvr>
                                      <p:tavLst>
                                        <p:tav tm="0">
                                          <p:val>
                                            <p:fltVal val="0"/>
                                          </p:val>
                                        </p:tav>
                                        <p:tav tm="100000">
                                          <p:val>
                                            <p:strVal val="#ppt_w"/>
                                          </p:val>
                                        </p:tav>
                                      </p:tavLst>
                                    </p:anim>
                                    <p:anim calcmode="lin" valueType="num">
                                      <p:cBhvr>
                                        <p:cTn id="48" dur="200" fill="hold"/>
                                        <p:tgtEl>
                                          <p:spTgt spid="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P spid="25" grpId="7" animBg="1"/>
      <p:bldP spid="26" grpId="8"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5" name="图片 4" descr="图片包含 形状&#10;&#10;描述已自动生成"/>
            <p:cNvPicPr>
              <a:picLocks noChangeAspect="1"/>
            </p:cNvPicPr>
            <p:nvPr userDrawn="1"/>
          </p:nvPicPr>
          <p:blipFill>
            <a:blip r:embed="rId4"/>
            <a:stretch>
              <a:fillRect/>
            </a:stretch>
          </p:blipFill>
          <p:spPr>
            <a:xfrm>
              <a:off x="0" y="0"/>
              <a:ext cx="12192000" cy="6097721"/>
            </a:xfrm>
            <a:prstGeom prst="rect">
              <a:avLst/>
            </a:prstGeom>
          </p:spPr>
        </p:pic>
        <p:pic>
          <p:nvPicPr>
            <p:cNvPr id="6" name="图片 5" descr="湖边的景色&#10;&#10;描述已自动生成"/>
            <p:cNvPicPr>
              <a:picLocks noChangeAspect="1"/>
            </p:cNvPicPr>
            <p:nvPr userDrawn="1"/>
          </p:nvPicPr>
          <p:blipFill>
            <a:blip r:embed="rId5"/>
            <a:stretch>
              <a:fillRect/>
            </a:stretch>
          </p:blipFill>
          <p:spPr>
            <a:xfrm>
              <a:off x="0" y="1693729"/>
              <a:ext cx="12192000" cy="5164271"/>
            </a:xfrm>
            <a:prstGeom prst="rect">
              <a:avLst/>
            </a:prstGeom>
          </p:spPr>
        </p:pic>
      </p:grpSp>
      <p:sp>
        <p:nvSpPr>
          <p:cNvPr id="4"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7" name="TextBox 48"/>
          <p:cNvSpPr txBox="1"/>
          <p:nvPr>
            <p:custDataLst>
              <p:tags r:id="rId1"/>
            </p:custDataLst>
          </p:nvPr>
        </p:nvSpPr>
        <p:spPr>
          <a:xfrm>
            <a:off x="958850" y="487488"/>
            <a:ext cx="10500690" cy="42714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defTabSz="685800"/>
            <a:r>
              <a:rPr lang="zh-CN" altLang="en-US" sz="2800" b="1">
                <a:solidFill>
                  <a:srgbClr val="548235"/>
                </a:solidFill>
                <a:latin typeface="宋体"/>
                <a:ea typeface="微软雅黑" panose="020B0503020204020204" pitchFamily="34" charset="-122"/>
                <a:cs typeface="+mn-ea"/>
                <a:sym typeface="宋体"/>
              </a:rPr>
              <a:t>作品总结</a:t>
            </a:r>
          </a:p>
        </p:txBody>
      </p:sp>
      <p:sp>
        <p:nvSpPr>
          <p:cNvPr id="3"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18" name="New shape"/>
          <p:cNvSpPr/>
          <p:nvPr/>
        </p:nvSpPr>
        <p:spPr>
          <a:xfrm>
            <a:off x="1117600" y="2235200"/>
            <a:ext cx="2387600" cy="3810000"/>
          </a:xfrm>
          <a:prstGeom prst="roundRect">
            <a:avLst>
              <a:gd name="adj" fmla="val 3191"/>
            </a:avLst>
          </a:prstGeom>
          <a:solidFill>
            <a:srgbClr val="000000">
              <a:alpha val="0"/>
            </a:srgbClr>
          </a:solidFill>
          <a:ln w="25400">
            <a:solidFill>
              <a:srgbClr val="0E2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New shape"/>
          <p:cNvSpPr/>
          <p:nvPr/>
        </p:nvSpPr>
        <p:spPr>
          <a:xfrm>
            <a:off x="3632200" y="2235200"/>
            <a:ext cx="2387600" cy="3810000"/>
          </a:xfrm>
          <a:prstGeom prst="roundRect">
            <a:avLst>
              <a:gd name="adj" fmla="val 3191"/>
            </a:avLst>
          </a:prstGeom>
          <a:solidFill>
            <a:srgbClr val="000000">
              <a:alpha val="0"/>
            </a:srgbClr>
          </a:solidFill>
          <a:ln w="25400">
            <a:solidFill>
              <a:srgbClr val="0E2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New shape"/>
          <p:cNvSpPr/>
          <p:nvPr/>
        </p:nvSpPr>
        <p:spPr>
          <a:xfrm>
            <a:off x="6146800" y="2235200"/>
            <a:ext cx="2387600" cy="3810000"/>
          </a:xfrm>
          <a:prstGeom prst="roundRect">
            <a:avLst>
              <a:gd name="adj" fmla="val 3191"/>
            </a:avLst>
          </a:prstGeom>
          <a:solidFill>
            <a:srgbClr val="000000">
              <a:alpha val="0"/>
            </a:srgbClr>
          </a:solidFill>
          <a:ln w="25400">
            <a:solidFill>
              <a:srgbClr val="0E2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New shape"/>
          <p:cNvSpPr/>
          <p:nvPr/>
        </p:nvSpPr>
        <p:spPr>
          <a:xfrm>
            <a:off x="8661400" y="2235200"/>
            <a:ext cx="2387600" cy="3810000"/>
          </a:xfrm>
          <a:prstGeom prst="roundRect">
            <a:avLst>
              <a:gd name="adj" fmla="val 3191"/>
            </a:avLst>
          </a:prstGeom>
          <a:solidFill>
            <a:srgbClr val="000000">
              <a:alpha val="0"/>
            </a:srgbClr>
          </a:solidFill>
          <a:ln w="25400">
            <a:solidFill>
              <a:srgbClr val="0E2F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New shape"/>
          <p:cNvSpPr/>
          <p:nvPr/>
        </p:nvSpPr>
        <p:spPr>
          <a:xfrm>
            <a:off x="1117600" y="1511300"/>
            <a:ext cx="9956800" cy="4191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ctr">
            <a:normAutofit fontScale="92500" lnSpcReduction="20000"/>
          </a:bodyPr>
          <a:lstStyle/>
          <a:p>
            <a:pPr indent="0" algn="l">
              <a:lnSpc>
                <a:spcPct val="100000"/>
              </a:lnSpc>
            </a:pPr>
            <a:r>
              <a:rPr sz="3700" b="1" dirty="0" err="1">
                <a:solidFill>
                  <a:srgbClr val="000000"/>
                </a:solidFill>
                <a:latin typeface="宋体"/>
              </a:rPr>
              <a:t>作品展望</a:t>
            </a:r>
            <a:endParaRPr sz="3700" b="1" dirty="0">
              <a:solidFill>
                <a:srgbClr val="000000"/>
              </a:solidFill>
              <a:latin typeface="宋体"/>
            </a:endParaRPr>
          </a:p>
        </p:txBody>
      </p:sp>
      <p:sp>
        <p:nvSpPr>
          <p:cNvPr id="23" name="New shape"/>
          <p:cNvSpPr/>
          <p:nvPr/>
        </p:nvSpPr>
        <p:spPr>
          <a:xfrm>
            <a:off x="1308100" y="2425700"/>
            <a:ext cx="2006600" cy="34290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0000"/>
          </a:bodyPr>
          <a:lstStyle/>
          <a:p>
            <a:pPr indent="0" algn="l">
              <a:lnSpc>
                <a:spcPct val="125000"/>
              </a:lnSpc>
            </a:pPr>
            <a:r>
              <a:rPr sz="2100" b="0">
                <a:solidFill>
                  <a:srgbClr val="000000"/>
                </a:solidFill>
                <a:latin typeface="宋体"/>
              </a:rPr>
              <a:t>数据维度扩展：计划纳入电力大数据、卫星遥感监测数据，构建"天地空"一体化监测网络，将碳排放因子库规模扩展至30万+，覆盖全球100+重点城市</a:t>
            </a:r>
          </a:p>
        </p:txBody>
      </p:sp>
      <p:sp>
        <p:nvSpPr>
          <p:cNvPr id="24" name="New shape"/>
          <p:cNvSpPr/>
          <p:nvPr/>
        </p:nvSpPr>
        <p:spPr>
          <a:xfrm>
            <a:off x="3822700" y="2425700"/>
            <a:ext cx="2006600" cy="34290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a:solidFill>
                  <a:srgbClr val="000000"/>
                </a:solidFill>
                <a:latin typeface="宋体"/>
              </a:rPr>
              <a:t>智能模型优化：研发领域专用大模型CarbonGPT，融合知识图谱与强化学习技术，力争将碳核算误差率控制在1.5%以内，响应速度提升至1秒级</a:t>
            </a:r>
          </a:p>
        </p:txBody>
      </p:sp>
      <p:sp>
        <p:nvSpPr>
          <p:cNvPr id="25" name="New shape"/>
          <p:cNvSpPr/>
          <p:nvPr/>
        </p:nvSpPr>
        <p:spPr>
          <a:xfrm>
            <a:off x="6337300" y="2425700"/>
            <a:ext cx="2006600" cy="34290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a:solidFill>
                  <a:srgbClr val="000000"/>
                </a:solidFill>
                <a:latin typeface="宋体"/>
              </a:rPr>
              <a:t>生态系统构建：开发碳资产管理系统（CMS）与供应链协同平台，打通"监测-交易-抵消"全链条，计划接入全国8大碳交易所实时交易数据</a:t>
            </a:r>
          </a:p>
        </p:txBody>
      </p:sp>
      <p:sp>
        <p:nvSpPr>
          <p:cNvPr id="26" name="New shape"/>
          <p:cNvSpPr/>
          <p:nvPr/>
        </p:nvSpPr>
        <p:spPr>
          <a:xfrm>
            <a:off x="8851900" y="2425700"/>
            <a:ext cx="2006600" cy="3429000"/>
          </a:xfrm>
          <a:prstGeom prst="rect">
            <a:avLst/>
          </a:prstGeom>
          <a:noFill/>
        </p:spPr>
        <p:style>
          <a:lnRef idx="2">
            <a:srgbClr val="FFFFFF">
              <a:alpha val="0"/>
            </a:srgbClr>
          </a:lnRef>
          <a:fillRef idx="1">
            <a:schemeClr val="accent1"/>
          </a:fillRef>
          <a:effectRef idx="0">
            <a:schemeClr val="accent1"/>
          </a:effectRef>
          <a:fontRef idx="minor">
            <a:schemeClr val="lt1"/>
          </a:fontRef>
        </p:style>
        <p:txBody>
          <a:bodyPr lIns="0" tIns="0" rIns="0" bIns="0" rtlCol="0" anchor="t">
            <a:normAutofit fontScale="97500"/>
          </a:bodyPr>
          <a:lstStyle/>
          <a:p>
            <a:pPr indent="0" algn="l">
              <a:lnSpc>
                <a:spcPct val="125000"/>
              </a:lnSpc>
            </a:pPr>
            <a:r>
              <a:rPr sz="2100" b="0">
                <a:solidFill>
                  <a:srgbClr val="000000"/>
                </a:solidFill>
                <a:latin typeface="宋体"/>
              </a:rPr>
              <a:t>国际标准对接：建立跨机构碳数据互认机制，开发符合ISO14064、GHG Protocol等国际标准的自动核证功能，助力我国碳管理体系的全球化接轨</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300" fill="hold"/>
                                        <p:tgtEl>
                                          <p:spTgt spid="18"/>
                                        </p:tgtEl>
                                        <p:attrNameLst>
                                          <p:attrName>ppt_w</p:attrName>
                                        </p:attrNameLst>
                                      </p:cBhvr>
                                      <p:tavLst>
                                        <p:tav tm="0">
                                          <p:val>
                                            <p:fltVal val="0"/>
                                          </p:val>
                                        </p:tav>
                                        <p:tav tm="100000">
                                          <p:val>
                                            <p:strVal val="#ppt_w"/>
                                          </p:val>
                                        </p:tav>
                                      </p:tavLst>
                                    </p:anim>
                                    <p:anim calcmode="lin" valueType="num">
                                      <p:cBhvr>
                                        <p:cTn id="8" dur="300" fill="hold"/>
                                        <p:tgtEl>
                                          <p:spTgt spid="18"/>
                                        </p:tgtEl>
                                        <p:attrNameLst>
                                          <p:attrName>ppt_h</p:attrName>
                                        </p:attrNameLst>
                                      </p:cBhvr>
                                      <p:tavLst>
                                        <p:tav tm="0">
                                          <p:val>
                                            <p:fltVal val="0"/>
                                          </p:val>
                                        </p:tav>
                                        <p:tav tm="100000">
                                          <p:val>
                                            <p:strVal val="#ppt_h"/>
                                          </p:val>
                                        </p:tav>
                                      </p:tavLst>
                                    </p:anim>
                                  </p:childTnLst>
                                </p:cTn>
                              </p:par>
                            </p:childTnLst>
                          </p:cTn>
                        </p:par>
                        <p:par>
                          <p:cTn id="9" fill="hold" nodeType="afterGroup">
                            <p:stCondLst>
                              <p:cond delay="300"/>
                            </p:stCondLst>
                            <p:childTnLst>
                              <p:par>
                                <p:cTn id="10" presetID="23" presetClass="entr" presetSubtype="16" fill="hold" grpId="1"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300" fill="hold"/>
                                        <p:tgtEl>
                                          <p:spTgt spid="19"/>
                                        </p:tgtEl>
                                        <p:attrNameLst>
                                          <p:attrName>ppt_w</p:attrName>
                                        </p:attrNameLst>
                                      </p:cBhvr>
                                      <p:tavLst>
                                        <p:tav tm="0">
                                          <p:val>
                                            <p:fltVal val="0"/>
                                          </p:val>
                                        </p:tav>
                                        <p:tav tm="100000">
                                          <p:val>
                                            <p:strVal val="#ppt_w"/>
                                          </p:val>
                                        </p:tav>
                                      </p:tavLst>
                                    </p:anim>
                                    <p:anim calcmode="lin" valueType="num">
                                      <p:cBhvr>
                                        <p:cTn id="13" dur="300" fill="hold"/>
                                        <p:tgtEl>
                                          <p:spTgt spid="1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600"/>
                            </p:stCondLst>
                            <p:childTnLst>
                              <p:par>
                                <p:cTn id="15" presetID="23" presetClass="entr" presetSubtype="16" fill="hold" grpId="2"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300" fill="hold"/>
                                        <p:tgtEl>
                                          <p:spTgt spid="20"/>
                                        </p:tgtEl>
                                        <p:attrNameLst>
                                          <p:attrName>ppt_w</p:attrName>
                                        </p:attrNameLst>
                                      </p:cBhvr>
                                      <p:tavLst>
                                        <p:tav tm="0">
                                          <p:val>
                                            <p:fltVal val="0"/>
                                          </p:val>
                                        </p:tav>
                                        <p:tav tm="100000">
                                          <p:val>
                                            <p:strVal val="#ppt_w"/>
                                          </p:val>
                                        </p:tav>
                                      </p:tavLst>
                                    </p:anim>
                                    <p:anim calcmode="lin" valueType="num">
                                      <p:cBhvr>
                                        <p:cTn id="18" dur="300" fill="hold"/>
                                        <p:tgtEl>
                                          <p:spTgt spid="20"/>
                                        </p:tgtEl>
                                        <p:attrNameLst>
                                          <p:attrName>ppt_h</p:attrName>
                                        </p:attrNameLst>
                                      </p:cBhvr>
                                      <p:tavLst>
                                        <p:tav tm="0">
                                          <p:val>
                                            <p:fltVal val="0"/>
                                          </p:val>
                                        </p:tav>
                                        <p:tav tm="100000">
                                          <p:val>
                                            <p:strVal val="#ppt_h"/>
                                          </p:val>
                                        </p:tav>
                                      </p:tavLst>
                                    </p:anim>
                                  </p:childTnLst>
                                </p:cTn>
                              </p:par>
                            </p:childTnLst>
                          </p:cTn>
                        </p:par>
                        <p:par>
                          <p:cTn id="19" fill="hold" nodeType="afterGroup">
                            <p:stCondLst>
                              <p:cond delay="900"/>
                            </p:stCondLst>
                            <p:childTnLst>
                              <p:par>
                                <p:cTn id="20" presetID="23" presetClass="entr" presetSubtype="16" fill="hold" grpId="3"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300" fill="hold"/>
                                        <p:tgtEl>
                                          <p:spTgt spid="21"/>
                                        </p:tgtEl>
                                        <p:attrNameLst>
                                          <p:attrName>ppt_w</p:attrName>
                                        </p:attrNameLst>
                                      </p:cBhvr>
                                      <p:tavLst>
                                        <p:tav tm="0">
                                          <p:val>
                                            <p:fltVal val="0"/>
                                          </p:val>
                                        </p:tav>
                                        <p:tav tm="100000">
                                          <p:val>
                                            <p:strVal val="#ppt_w"/>
                                          </p:val>
                                        </p:tav>
                                      </p:tavLst>
                                    </p:anim>
                                    <p:anim calcmode="lin" valueType="num">
                                      <p:cBhvr>
                                        <p:cTn id="23" dur="300" fill="hold"/>
                                        <p:tgtEl>
                                          <p:spTgt spid="21"/>
                                        </p:tgtEl>
                                        <p:attrNameLst>
                                          <p:attrName>ppt_h</p:attrName>
                                        </p:attrNameLst>
                                      </p:cBhvr>
                                      <p:tavLst>
                                        <p:tav tm="0">
                                          <p:val>
                                            <p:fltVal val="0"/>
                                          </p:val>
                                        </p:tav>
                                        <p:tav tm="100000">
                                          <p:val>
                                            <p:strVal val="#ppt_h"/>
                                          </p:val>
                                        </p:tav>
                                      </p:tavLst>
                                    </p:anim>
                                  </p:childTnLst>
                                </p:cTn>
                              </p:par>
                            </p:childTnLst>
                          </p:cTn>
                        </p:par>
                        <p:par>
                          <p:cTn id="24" fill="hold" nodeType="afterGroup">
                            <p:stCondLst>
                              <p:cond delay="1200"/>
                            </p:stCondLst>
                            <p:childTnLst>
                              <p:par>
                                <p:cTn id="25" presetID="23" presetClass="entr" presetSubtype="16" fill="hold" grpId="4"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200" fill="hold"/>
                                        <p:tgtEl>
                                          <p:spTgt spid="22"/>
                                        </p:tgtEl>
                                        <p:attrNameLst>
                                          <p:attrName>ppt_w</p:attrName>
                                        </p:attrNameLst>
                                      </p:cBhvr>
                                      <p:tavLst>
                                        <p:tav tm="0">
                                          <p:val>
                                            <p:fltVal val="0"/>
                                          </p:val>
                                        </p:tav>
                                        <p:tav tm="100000">
                                          <p:val>
                                            <p:strVal val="#ppt_w"/>
                                          </p:val>
                                        </p:tav>
                                      </p:tavLst>
                                    </p:anim>
                                    <p:anim calcmode="lin" valueType="num">
                                      <p:cBhvr>
                                        <p:cTn id="28" dur="200" fill="hold"/>
                                        <p:tgtEl>
                                          <p:spTgt spid="22"/>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400"/>
                            </p:stCondLst>
                            <p:childTnLst>
                              <p:par>
                                <p:cTn id="30" presetID="23" presetClass="entr" presetSubtype="16" fill="hold" grpId="5"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200" fill="hold"/>
                                        <p:tgtEl>
                                          <p:spTgt spid="23"/>
                                        </p:tgtEl>
                                        <p:attrNameLst>
                                          <p:attrName>ppt_w</p:attrName>
                                        </p:attrNameLst>
                                      </p:cBhvr>
                                      <p:tavLst>
                                        <p:tav tm="0">
                                          <p:val>
                                            <p:fltVal val="0"/>
                                          </p:val>
                                        </p:tav>
                                        <p:tav tm="100000">
                                          <p:val>
                                            <p:strVal val="#ppt_w"/>
                                          </p:val>
                                        </p:tav>
                                      </p:tavLst>
                                    </p:anim>
                                    <p:anim calcmode="lin" valueType="num">
                                      <p:cBhvr>
                                        <p:cTn id="33" dur="200" fill="hold"/>
                                        <p:tgtEl>
                                          <p:spTgt spid="23"/>
                                        </p:tgtEl>
                                        <p:attrNameLst>
                                          <p:attrName>ppt_h</p:attrName>
                                        </p:attrNameLst>
                                      </p:cBhvr>
                                      <p:tavLst>
                                        <p:tav tm="0">
                                          <p:val>
                                            <p:fltVal val="0"/>
                                          </p:val>
                                        </p:tav>
                                        <p:tav tm="100000">
                                          <p:val>
                                            <p:strVal val="#ppt_h"/>
                                          </p:val>
                                        </p:tav>
                                      </p:tavLst>
                                    </p:anim>
                                  </p:childTnLst>
                                </p:cTn>
                              </p:par>
                            </p:childTnLst>
                          </p:cTn>
                        </p:par>
                        <p:par>
                          <p:cTn id="34" fill="hold" nodeType="afterGroup">
                            <p:stCondLst>
                              <p:cond delay="1600"/>
                            </p:stCondLst>
                            <p:childTnLst>
                              <p:par>
                                <p:cTn id="35" presetID="23" presetClass="entr" presetSubtype="16" fill="hold" grpId="6"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200" fill="hold"/>
                                        <p:tgtEl>
                                          <p:spTgt spid="24"/>
                                        </p:tgtEl>
                                        <p:attrNameLst>
                                          <p:attrName>ppt_w</p:attrName>
                                        </p:attrNameLst>
                                      </p:cBhvr>
                                      <p:tavLst>
                                        <p:tav tm="0">
                                          <p:val>
                                            <p:fltVal val="0"/>
                                          </p:val>
                                        </p:tav>
                                        <p:tav tm="100000">
                                          <p:val>
                                            <p:strVal val="#ppt_w"/>
                                          </p:val>
                                        </p:tav>
                                      </p:tavLst>
                                    </p:anim>
                                    <p:anim calcmode="lin" valueType="num">
                                      <p:cBhvr>
                                        <p:cTn id="38" dur="200" fill="hold"/>
                                        <p:tgtEl>
                                          <p:spTgt spid="2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1800"/>
                            </p:stCondLst>
                            <p:childTnLst>
                              <p:par>
                                <p:cTn id="40" presetID="23" presetClass="entr" presetSubtype="16" fill="hold" grpId="7"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200" fill="hold"/>
                                        <p:tgtEl>
                                          <p:spTgt spid="25"/>
                                        </p:tgtEl>
                                        <p:attrNameLst>
                                          <p:attrName>ppt_w</p:attrName>
                                        </p:attrNameLst>
                                      </p:cBhvr>
                                      <p:tavLst>
                                        <p:tav tm="0">
                                          <p:val>
                                            <p:fltVal val="0"/>
                                          </p:val>
                                        </p:tav>
                                        <p:tav tm="100000">
                                          <p:val>
                                            <p:strVal val="#ppt_w"/>
                                          </p:val>
                                        </p:tav>
                                      </p:tavLst>
                                    </p:anim>
                                    <p:anim calcmode="lin" valueType="num">
                                      <p:cBhvr>
                                        <p:cTn id="43" dur="200" fill="hold"/>
                                        <p:tgtEl>
                                          <p:spTgt spid="25"/>
                                        </p:tgtEl>
                                        <p:attrNameLst>
                                          <p:attrName>ppt_h</p:attrName>
                                        </p:attrNameLst>
                                      </p:cBhvr>
                                      <p:tavLst>
                                        <p:tav tm="0">
                                          <p:val>
                                            <p:fltVal val="0"/>
                                          </p:val>
                                        </p:tav>
                                        <p:tav tm="100000">
                                          <p:val>
                                            <p:strVal val="#ppt_h"/>
                                          </p:val>
                                        </p:tav>
                                      </p:tavLst>
                                    </p:anim>
                                  </p:childTnLst>
                                </p:cTn>
                              </p:par>
                            </p:childTnLst>
                          </p:cTn>
                        </p:par>
                        <p:par>
                          <p:cTn id="44" fill="hold" nodeType="afterGroup">
                            <p:stCondLst>
                              <p:cond delay="2000"/>
                            </p:stCondLst>
                            <p:childTnLst>
                              <p:par>
                                <p:cTn id="45" presetID="23" presetClass="entr" presetSubtype="16" fill="hold" grpId="8" nodeType="after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p:cTn id="47" dur="200" fill="hold"/>
                                        <p:tgtEl>
                                          <p:spTgt spid="26"/>
                                        </p:tgtEl>
                                        <p:attrNameLst>
                                          <p:attrName>ppt_w</p:attrName>
                                        </p:attrNameLst>
                                      </p:cBhvr>
                                      <p:tavLst>
                                        <p:tav tm="0">
                                          <p:val>
                                            <p:fltVal val="0"/>
                                          </p:val>
                                        </p:tav>
                                        <p:tav tm="100000">
                                          <p:val>
                                            <p:strVal val="#ppt_w"/>
                                          </p:val>
                                        </p:tav>
                                      </p:tavLst>
                                    </p:anim>
                                    <p:anim calcmode="lin" valueType="num">
                                      <p:cBhvr>
                                        <p:cTn id="48" dur="200" fill="hold"/>
                                        <p:tgtEl>
                                          <p:spTgt spid="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1" animBg="1"/>
      <p:bldP spid="20" grpId="2" animBg="1"/>
      <p:bldP spid="21" grpId="3" animBg="1"/>
      <p:bldP spid="22" grpId="4" animBg="1"/>
      <p:bldP spid="23" grpId="5" animBg="1"/>
      <p:bldP spid="24" grpId="6" animBg="1"/>
      <p:bldP spid="25" grpId="7" animBg="1"/>
      <p:bldP spid="26" grpId="8"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pic>
        <p:nvPicPr>
          <p:cNvPr id="2" name="图片 1" descr="图片包含 形状&#10;&#10;描述已自动生成"/>
          <p:cNvPicPr>
            <a:picLocks noChangeAspect="1"/>
          </p:cNvPicPr>
          <p:nvPr/>
        </p:nvPicPr>
        <p:blipFill>
          <a:blip r:embed="rId3"/>
          <a:stretch>
            <a:fillRect/>
          </a:stretch>
        </p:blipFill>
        <p:spPr>
          <a:xfrm>
            <a:off x="0" y="0"/>
            <a:ext cx="12192000" cy="6097721"/>
          </a:xfrm>
          <a:prstGeom prst="rect">
            <a:avLst/>
          </a:prstGeom>
        </p:spPr>
      </p:pic>
      <p:pic>
        <p:nvPicPr>
          <p:cNvPr id="3" name="图片 2" descr="湖边的景色&#10;&#10;描述已自动生成"/>
          <p:cNvPicPr>
            <a:picLocks noChangeAspect="1"/>
          </p:cNvPicPr>
          <p:nvPr/>
        </p:nvPicPr>
        <p:blipFill>
          <a:blip r:embed="rId4"/>
          <a:stretch>
            <a:fillRect/>
          </a:stretch>
        </p:blipFill>
        <p:spPr>
          <a:xfrm>
            <a:off x="0" y="760279"/>
            <a:ext cx="12192000" cy="6097721"/>
          </a:xfrm>
          <a:prstGeom prst="rect">
            <a:avLst/>
          </a:prstGeom>
        </p:spPr>
      </p:pic>
      <p:grpSp>
        <p:nvGrpSpPr>
          <p:cNvPr id="4" name="组合 3"/>
          <p:cNvGrpSpPr/>
          <p:nvPr/>
        </p:nvGrpSpPr>
        <p:grpSpPr>
          <a:xfrm>
            <a:off x="0" y="-2447492"/>
            <a:ext cx="12192000" cy="8545213"/>
            <a:chOff x="0" y="-2447492"/>
            <a:chExt cx="12192000" cy="8545213"/>
          </a:xfrm>
        </p:grpSpPr>
        <p:pic>
          <p:nvPicPr>
            <p:cNvPr id="6" name="图片 5" descr="穿黑色衣服的人的黑白照&#10;&#10;低可信度描述已自动生成"/>
            <p:cNvPicPr>
              <a:picLocks noChangeAspect="1"/>
            </p:cNvPicPr>
            <p:nvPr/>
          </p:nvPicPr>
          <p:blipFill>
            <a:blip r:embed="rId5"/>
            <a:stretch>
              <a:fillRect/>
            </a:stretch>
          </p:blipFill>
          <p:spPr>
            <a:xfrm>
              <a:off x="0" y="0"/>
              <a:ext cx="12192000" cy="6097721"/>
            </a:xfrm>
            <a:custGeom>
              <a:avLst/>
              <a:gdLst>
                <a:gd name="connsiteX0" fmla="*/ 9423461 w 12192000"/>
                <a:gd name="connsiteY0" fmla="*/ 3048860 h 6097721"/>
                <a:gd name="connsiteX1" fmla="*/ 8980398 w 12192000"/>
                <a:gd name="connsiteY1" fmla="*/ 3437721 h 6097721"/>
                <a:gd name="connsiteX2" fmla="*/ 9423461 w 12192000"/>
                <a:gd name="connsiteY2" fmla="*/ 3826582 h 6097721"/>
                <a:gd name="connsiteX3" fmla="*/ 9866524 w 12192000"/>
                <a:gd name="connsiteY3" fmla="*/ 3437721 h 6097721"/>
                <a:gd name="connsiteX4" fmla="*/ 9423461 w 12192000"/>
                <a:gd name="connsiteY4" fmla="*/ 3048860 h 6097721"/>
                <a:gd name="connsiteX5" fmla="*/ 0 w 12192000"/>
                <a:gd name="connsiteY5" fmla="*/ 0 h 6097721"/>
                <a:gd name="connsiteX6" fmla="*/ 12192000 w 12192000"/>
                <a:gd name="connsiteY6" fmla="*/ 0 h 6097721"/>
                <a:gd name="connsiteX7" fmla="*/ 12192000 w 12192000"/>
                <a:gd name="connsiteY7" fmla="*/ 6097721 h 6097721"/>
                <a:gd name="connsiteX8" fmla="*/ 0 w 12192000"/>
                <a:gd name="connsiteY8" fmla="*/ 6097721 h 609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097721">
                  <a:moveTo>
                    <a:pt x="9423461" y="3048860"/>
                  </a:moveTo>
                  <a:cubicBezTo>
                    <a:pt x="9178764" y="3048860"/>
                    <a:pt x="8980398" y="3222959"/>
                    <a:pt x="8980398" y="3437721"/>
                  </a:cubicBezTo>
                  <a:cubicBezTo>
                    <a:pt x="8980398" y="3652483"/>
                    <a:pt x="9178764" y="3826582"/>
                    <a:pt x="9423461" y="3826582"/>
                  </a:cubicBezTo>
                  <a:cubicBezTo>
                    <a:pt x="9668158" y="3826582"/>
                    <a:pt x="9866524" y="3652483"/>
                    <a:pt x="9866524" y="3437721"/>
                  </a:cubicBezTo>
                  <a:cubicBezTo>
                    <a:pt x="9866524" y="3222959"/>
                    <a:pt x="9668158" y="3048860"/>
                    <a:pt x="9423461" y="3048860"/>
                  </a:cubicBezTo>
                  <a:close/>
                  <a:moveTo>
                    <a:pt x="0" y="0"/>
                  </a:moveTo>
                  <a:lnTo>
                    <a:pt x="12192000" y="0"/>
                  </a:lnTo>
                  <a:lnTo>
                    <a:pt x="12192000" y="6097721"/>
                  </a:lnTo>
                  <a:lnTo>
                    <a:pt x="0" y="6097721"/>
                  </a:lnTo>
                  <a:close/>
                </a:path>
              </a:pathLst>
            </a:custGeom>
          </p:spPr>
        </p:pic>
        <p:pic>
          <p:nvPicPr>
            <p:cNvPr id="7" name="图片 6" descr="穿黑色衣服的人的黑白照&#10;&#10;低可信度描述已自动生成"/>
            <p:cNvPicPr>
              <a:picLocks noChangeAspect="1"/>
            </p:cNvPicPr>
            <p:nvPr/>
          </p:nvPicPr>
          <p:blipFill>
            <a:blip r:embed="rId6"/>
            <a:stretch>
              <a:fillRect/>
            </a:stretch>
          </p:blipFill>
          <p:spPr>
            <a:xfrm>
              <a:off x="7038905" y="-2447492"/>
              <a:ext cx="3722976" cy="6097721"/>
            </a:xfrm>
            <a:prstGeom prst="rect">
              <a:avLst/>
            </a:prstGeom>
          </p:spPr>
        </p:pic>
        <p:pic>
          <p:nvPicPr>
            <p:cNvPr id="8" name="图片 7" descr="穿黑色衣服的人的黑白照&#10;&#10;低可信度描述已自动生成"/>
            <p:cNvPicPr>
              <a:picLocks noChangeAspect="1"/>
            </p:cNvPicPr>
            <p:nvPr/>
          </p:nvPicPr>
          <p:blipFill>
            <a:blip r:embed="rId7"/>
            <a:stretch>
              <a:fillRect/>
            </a:stretch>
          </p:blipFill>
          <p:spPr>
            <a:xfrm>
              <a:off x="9295898" y="-1803928"/>
              <a:ext cx="2308727" cy="6097721"/>
            </a:xfrm>
            <a:prstGeom prst="rect">
              <a:avLst/>
            </a:prstGeom>
          </p:spPr>
        </p:pic>
      </p:grpSp>
      <p:grpSp>
        <p:nvGrpSpPr>
          <p:cNvPr id="37" name="组合 36"/>
          <p:cNvGrpSpPr/>
          <p:nvPr/>
        </p:nvGrpSpPr>
        <p:grpSpPr>
          <a:xfrm>
            <a:off x="4404370" y="1479727"/>
            <a:ext cx="3383261" cy="657415"/>
            <a:chOff x="4771220" y="1773297"/>
            <a:chExt cx="2670192" cy="657415"/>
          </a:xfrm>
        </p:grpSpPr>
        <p:sp>
          <p:nvSpPr>
            <p:cNvPr id="38" name="矩形: 圆角 2"/>
            <p:cNvSpPr/>
            <p:nvPr/>
          </p:nvSpPr>
          <p:spPr>
            <a:xfrm>
              <a:off x="4771220" y="1773297"/>
              <a:ext cx="2670192" cy="657415"/>
            </a:xfrm>
            <a:prstGeom prst="roundRect">
              <a:avLst>
                <a:gd name="adj" fmla="val 50000"/>
              </a:avLst>
            </a:prstGeom>
            <a:gradFill>
              <a:gsLst>
                <a:gs pos="0">
                  <a:srgbClr val="FF0000"/>
                </a:gs>
                <a:gs pos="100000">
                  <a:srgbClr val="C00000"/>
                </a:gs>
              </a:gsLst>
              <a:lin ang="27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endParaRPr/>
            </a:p>
          </p:txBody>
        </p:sp>
        <p:sp>
          <p:nvSpPr>
            <p:cNvPr id="39" name="文本框 38"/>
            <p:cNvSpPr txBox="1"/>
            <p:nvPr/>
          </p:nvSpPr>
          <p:spPr>
            <a:xfrm>
              <a:off x="5073438" y="1815533"/>
              <a:ext cx="2101946" cy="5796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a:r>
                <a:rPr lang="zh-CN" altLang="en-US" sz="3200" b="1">
                  <a:solidFill>
                    <a:srgbClr val="FFFDF8"/>
                  </a:solidFill>
                  <a:latin typeface="宋体"/>
                  <a:ea typeface="微软雅黑" panose="020B0503020204020204" pitchFamily="34" charset="-122"/>
                  <a:cs typeface="思源宋体 CN Heavy" panose="02020900000000000000" charset="-122"/>
                  <a:sym typeface="宋体"/>
                </a:rPr>
                <a:t>第7部分</a:t>
              </a:r>
            </a:p>
          </p:txBody>
        </p:sp>
      </p:grpSp>
      <p:sp>
        <p:nvSpPr>
          <p:cNvPr id="40" name="TextBox 48"/>
          <p:cNvSpPr txBox="1"/>
          <p:nvPr/>
        </p:nvSpPr>
        <p:spPr>
          <a:xfrm>
            <a:off x="2290994" y="2724048"/>
            <a:ext cx="7120909" cy="1569047"/>
          </a:xfrm>
          <a:prstGeom prst="rect">
            <a:avLst/>
          </a:prstGeom>
          <a:noFill/>
        </p:spPr>
        <p:txBody>
          <a:bodyPr wrap="square" lIns="0" tIns="0" rIns="0" bIns="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stStyle>
          <a:p>
            <a:pPr algn="ctr" defTabSz="685800"/>
            <a:r>
              <a:rPr lang="zh-CN" altLang="en-US" sz="6600" b="1">
                <a:solidFill>
                  <a:srgbClr val="000000"/>
                </a:solidFill>
                <a:latin typeface="宋体"/>
                <a:ea typeface="微软雅黑" panose="020B0503020204020204" pitchFamily="34" charset="-122"/>
                <a:cs typeface="+mn-ea"/>
                <a:sym typeface="宋体"/>
              </a:rPr>
              <a:t>参考文献</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arn(inVertical)" prLst="">
                                      <p:cBhvr>
                                        <p:cTn id="7" dur="500"/>
                                        <p:tgtEl>
                                          <p:spTgt spid="37"/>
                                        </p:tgtEl>
                                      </p:cBhvr>
                                    </p:animEffect>
                                  </p:childTnLst>
                                </p:cTn>
                              </p:par>
                            </p:childTnLst>
                          </p:cTn>
                        </p:par>
                        <p:par>
                          <p:cTn id="8" fill="hold" nodeType="afterGroup">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p:cTn id="11" dur="500" fill="hold"/>
                                        <p:tgtEl>
                                          <p:spTgt spid="40"/>
                                        </p:tgtEl>
                                        <p:attrNameLst>
                                          <p:attrName>ppt_w</p:attrName>
                                        </p:attrNameLst>
                                      </p:cBhvr>
                                      <p:tavLst>
                                        <p:tav tm="0">
                                          <p:val>
                                            <p:fltVal val="0"/>
                                          </p:val>
                                        </p:tav>
                                        <p:tav tm="100000">
                                          <p:val>
                                            <p:strVal val="#ppt_w"/>
                                          </p:val>
                                        </p:tav>
                                      </p:tavLst>
                                    </p:anim>
                                    <p:anim calcmode="lin" valueType="num">
                                      <p:cBhvr>
                                        <p:cTn id="12" dur="500" fill="hold"/>
                                        <p:tgtEl>
                                          <p:spTgt spid="40"/>
                                        </p:tgtEl>
                                        <p:attrNameLst>
                                          <p:attrName>ppt_h</p:attrName>
                                        </p:attrNameLst>
                                      </p:cBhvr>
                                      <p:tavLst>
                                        <p:tav tm="0">
                                          <p:val>
                                            <p:fltVal val="0"/>
                                          </p:val>
                                        </p:tav>
                                        <p:tav tm="100000">
                                          <p:val>
                                            <p:strVal val="#ppt_h"/>
                                          </p:val>
                                        </p:tav>
                                      </p:tavLst>
                                    </p:anim>
                                    <p:animEffect transition="in" filter="fade" prLst="">
                                      <p:cBhvr>
                                        <p:cTn id="13" dur="500"/>
                                        <p:tgtEl>
                                          <p:spTgt spid="40"/>
                                        </p:tgtEl>
                                      </p:cBhvr>
                                    </p:animEffect>
                                  </p:childTnLst>
                                </p:cTn>
                              </p:par>
                            </p:childTnLst>
                          </p:cTn>
                        </p:par>
                        <p:par>
                          <p:cTn id="14" fill="hold" nodeType="afterGroup">
                            <p:stCondLst>
                              <p:cond delay="1000"/>
                            </p:stCondLst>
                            <p:childTnLst>
                              <p:par>
                                <p:cTn id="15" presetID="42"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rLst="">
                                      <p:cBhvr>
                                        <p:cTn id="17" dur="500"/>
                                        <p:tgtEl>
                                          <p:spTgt spid="4"/>
                                        </p:tgtEl>
                                      </p:cBhvr>
                                    </p:animEffect>
                                    <p:anim calcmode="lin" valueType="num">
                                      <p:cBhvr>
                                        <p:cTn id="18" dur="500" fill="hold"/>
                                        <p:tgtEl>
                                          <p:spTgt spid="4"/>
                                        </p:tgtEl>
                                        <p:attrNameLst>
                                          <p:attrName>ppt_x</p:attrName>
                                        </p:attrNameLst>
                                      </p:cBhvr>
                                      <p:tavLst>
                                        <p:tav tm="0">
                                          <p:val>
                                            <p:strVal val="#ppt_x"/>
                                          </p:val>
                                        </p:tav>
                                        <p:tav tm="100000">
                                          <p:val>
                                            <p:strVal val="#ppt_x"/>
                                          </p:val>
                                        </p:tav>
                                      </p:tavLst>
                                    </p:anim>
                                    <p:anim calcmode="lin" valueType="num">
                                      <p:cBhvr>
                                        <p:cTn id="1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44" name="New picture"/>
            <p:cNvPicPr/>
            <p:nvPr/>
          </p:nvPicPr>
          <p:blipFill>
            <a:blip r:embed="rId3"/>
            <a:stretch>
              <a:fillRect/>
            </a:stretch>
          </p:blipFill>
          <p:spPr>
            <a:xfrm>
              <a:off x="0" y="0"/>
              <a:ext cx="12192000" cy="6097721"/>
            </a:xfrm>
            <a:prstGeom prst="rect">
              <a:avLst/>
            </a:prstGeom>
            <a:ln>
              <a:noFill/>
            </a:ln>
          </p:spPr>
        </p:pic>
        <p:pic>
          <p:nvPicPr>
            <p:cNvPr id="45" name="New picture"/>
            <p:cNvPicPr/>
            <p:nvPr/>
          </p:nvPicPr>
          <p:blipFill>
            <a:blip r:embed="rId4"/>
            <a:stretch>
              <a:fillRect/>
            </a:stretch>
          </p:blipFill>
          <p:spPr>
            <a:xfrm>
              <a:off x="0" y="1693729"/>
              <a:ext cx="12192000" cy="5164271"/>
            </a:xfrm>
            <a:prstGeom prst="rect">
              <a:avLst/>
            </a:prstGeom>
            <a:ln>
              <a:noFill/>
            </a:ln>
          </p:spPr>
        </p:pic>
      </p:grpSp>
      <p:sp>
        <p:nvSpPr>
          <p:cNvPr id="46"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47"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grpSp>
        <p:nvGrpSpPr>
          <p:cNvPr id="17" name="Group 17"/>
          <p:cNvGrpSpPr/>
          <p:nvPr/>
        </p:nvGrpSpPr>
        <p:grpSpPr>
          <a:xfrm>
            <a:off x="1426051" y="1895017"/>
            <a:ext cx="2737085" cy="3656658"/>
            <a:chOff x="0" y="0"/>
            <a:chExt cx="5474169" cy="7313316"/>
          </a:xfrm>
        </p:grpSpPr>
        <p:grpSp>
          <p:nvGrpSpPr>
            <p:cNvPr id="18" name="Group 18"/>
            <p:cNvGrpSpPr/>
            <p:nvPr/>
          </p:nvGrpSpPr>
          <p:grpSpPr>
            <a:xfrm>
              <a:off x="0" y="0"/>
              <a:ext cx="5474169" cy="7313316"/>
              <a:chOff x="0" y="0"/>
              <a:chExt cx="1081317" cy="1444606"/>
            </a:xfrm>
          </p:grpSpPr>
          <p:sp>
            <p:nvSpPr>
              <p:cNvPr id="19" name="Freeform 19"/>
              <p:cNvSpPr/>
              <p:nvPr/>
            </p:nvSpPr>
            <p:spPr>
              <a:xfrm>
                <a:off x="0" y="0"/>
                <a:ext cx="1081317" cy="1444606"/>
              </a:xfrm>
              <a:custGeom>
                <a:avLst/>
                <a:gdLst/>
                <a:ahLst/>
                <a:cxnLst/>
                <a:rect l="l" t="t" r="r" b="b"/>
                <a:pathLst>
                  <a:path w="1081317" h="1444606">
                    <a:moveTo>
                      <a:pt x="0" y="0"/>
                    </a:moveTo>
                    <a:lnTo>
                      <a:pt x="1081317" y="0"/>
                    </a:lnTo>
                    <a:lnTo>
                      <a:pt x="1081317" y="1444606"/>
                    </a:lnTo>
                    <a:lnTo>
                      <a:pt x="0" y="1444606"/>
                    </a:lnTo>
                    <a:close/>
                  </a:path>
                </a:pathLst>
              </a:custGeom>
              <a:solidFill>
                <a:srgbClr val="2F6E27">
                  <a:alpha val="73725"/>
                </a:srgbClr>
              </a:solidFill>
              <a:ln>
                <a:noFill/>
              </a:ln>
            </p:spPr>
            <p:txBody>
              <a:bodyPr/>
              <a:lstStyle/>
              <a:p>
                <a:endParaRPr/>
              </a:p>
            </p:txBody>
          </p:sp>
          <p:sp>
            <p:nvSpPr>
              <p:cNvPr id="20" name="TextBox 20"/>
              <p:cNvSpPr txBox="1"/>
              <p:nvPr/>
            </p:nvSpPr>
            <p:spPr>
              <a:xfrm>
                <a:off x="0" y="-85725"/>
                <a:ext cx="812800" cy="898525"/>
              </a:xfrm>
              <a:prstGeom prst="rect">
                <a:avLst/>
              </a:prstGeom>
            </p:spPr>
            <p:txBody>
              <a:bodyPr lIns="33867" tIns="33867" rIns="33867" bIns="33867" rtlCol="0" anchor="ctr">
                <a:normAutofit/>
              </a:bodyPr>
              <a:lst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stStyle>
              <a:p>
                <a:endParaRPr/>
              </a:p>
            </p:txBody>
          </p:sp>
        </p:grpSp>
        <p:grpSp>
          <p:nvGrpSpPr>
            <p:cNvPr id="21" name="Group 21"/>
            <p:cNvGrpSpPr/>
            <p:nvPr/>
          </p:nvGrpSpPr>
          <p:grpSpPr>
            <a:xfrm>
              <a:off x="0" y="533432"/>
              <a:ext cx="5474169" cy="1013895"/>
              <a:chOff x="0" y="0"/>
              <a:chExt cx="1081317" cy="200276"/>
            </a:xfrm>
          </p:grpSpPr>
          <p:sp>
            <p:nvSpPr>
              <p:cNvPr id="22" name="Freeform 22"/>
              <p:cNvSpPr/>
              <p:nvPr/>
            </p:nvSpPr>
            <p:spPr>
              <a:xfrm>
                <a:off x="0" y="0"/>
                <a:ext cx="1081317" cy="200276"/>
              </a:xfrm>
              <a:custGeom>
                <a:avLst/>
                <a:gdLst/>
                <a:ahLst/>
                <a:cxnLst/>
                <a:rect l="l" t="t" r="r" b="b"/>
                <a:pathLst>
                  <a:path w="1081317" h="200276">
                    <a:moveTo>
                      <a:pt x="0" y="0"/>
                    </a:moveTo>
                    <a:lnTo>
                      <a:pt x="1081317" y="0"/>
                    </a:lnTo>
                    <a:lnTo>
                      <a:pt x="1081317" y="200276"/>
                    </a:lnTo>
                    <a:lnTo>
                      <a:pt x="0" y="200276"/>
                    </a:lnTo>
                    <a:close/>
                  </a:path>
                </a:pathLst>
              </a:custGeom>
              <a:solidFill>
                <a:srgbClr val="2F6E27">
                  <a:alpha val="71765"/>
                </a:srgbClr>
              </a:solidFill>
            </p:spPr>
            <p:txBody>
              <a:bodyPr/>
              <a:lstStyle/>
              <a:p>
                <a:endParaRPr/>
              </a:p>
            </p:txBody>
          </p:sp>
          <p:sp>
            <p:nvSpPr>
              <p:cNvPr id="23" name="TextBox 23"/>
              <p:cNvSpPr txBox="1"/>
              <p:nvPr/>
            </p:nvSpPr>
            <p:spPr>
              <a:xfrm>
                <a:off x="0" y="-85725"/>
                <a:ext cx="812800" cy="898525"/>
              </a:xfrm>
              <a:prstGeom prst="rect">
                <a:avLst/>
              </a:prstGeom>
            </p:spPr>
            <p:txBody>
              <a:bodyPr lIns="33867" tIns="33867" rIns="33867" bIns="33867" rtlCol="0" anchor="ctr">
                <a:normAutofit/>
              </a:bodyPr>
              <a:lst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stStyle>
              <a:p>
                <a:endParaRPr/>
              </a:p>
            </p:txBody>
          </p:sp>
        </p:grpSp>
      </p:grpSp>
      <p:sp>
        <p:nvSpPr>
          <p:cNvPr id="24" name="TextBox 24"/>
          <p:cNvSpPr txBox="1"/>
          <p:nvPr/>
        </p:nvSpPr>
        <p:spPr>
          <a:xfrm>
            <a:off x="1791604" y="2216875"/>
            <a:ext cx="2005977" cy="355482"/>
          </a:xfrm>
          <a:prstGeom prst="rect">
            <a:avLst/>
          </a:prstGeom>
        </p:spPr>
        <p:txBody>
          <a:bodyPr lIns="0" tIns="0" rIns="0" bIns="0" rtlCol="0" anchor="t">
            <a:normAutofit/>
          </a:bodyPr>
          <a:lst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stStyle>
          <a:p>
            <a:endParaRPr/>
          </a:p>
        </p:txBody>
      </p:sp>
      <p:sp>
        <p:nvSpPr>
          <p:cNvPr id="25" name="TextBox 25"/>
          <p:cNvSpPr txBox="1"/>
          <p:nvPr/>
        </p:nvSpPr>
        <p:spPr>
          <a:xfrm>
            <a:off x="1791604" y="2890714"/>
            <a:ext cx="2005977" cy="2381036"/>
          </a:xfrm>
          <a:prstGeom prst="rect">
            <a:avLst/>
          </a:prstGeom>
        </p:spPr>
        <p:txBody>
          <a:bodyPr lIns="0" tIns="0" rIns="0" bIns="0" rtlCol="0" anchor="t">
            <a:normAutofit/>
          </a:bodyPr>
          <a:lst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stStyle>
          <a:p>
            <a:pPr indent="0" algn="ctr" fontAlgn="auto">
              <a:lnSpc>
                <a:spcPct val="100000"/>
              </a:lnSpc>
            </a:pPr>
            <a:r>
              <a:rPr lang="zh-CN" sz="1400" spc="27">
                <a:solidFill>
                  <a:schemeClr val="bg1"/>
                </a:solidFill>
                <a:latin typeface="宋体"/>
                <a:ea typeface="思源宋体 Bold"/>
                <a:sym typeface="宋体"/>
              </a:rPr>
              <a:t>[1] 余碧莹, 赵光普, 安润颖, 陈景明, 谭锦潇, 李晓易. 碳中和目标下中国碳排放路径研究[J]. 北京理工大学学报（社会科学版）, 2021, 23(2): 17-24. DOI: 10.15918/j.jbitss1009-3370.2021.7380</a:t>
            </a:r>
          </a:p>
        </p:txBody>
      </p:sp>
      <p:grpSp>
        <p:nvGrpSpPr>
          <p:cNvPr id="26" name="Group 26"/>
          <p:cNvGrpSpPr/>
          <p:nvPr/>
        </p:nvGrpSpPr>
        <p:grpSpPr>
          <a:xfrm>
            <a:off x="4727458" y="1895017"/>
            <a:ext cx="2737085" cy="3656658"/>
            <a:chOff x="0" y="0"/>
            <a:chExt cx="5474169" cy="7313316"/>
          </a:xfrm>
        </p:grpSpPr>
        <p:grpSp>
          <p:nvGrpSpPr>
            <p:cNvPr id="27" name="Group 27"/>
            <p:cNvGrpSpPr/>
            <p:nvPr/>
          </p:nvGrpSpPr>
          <p:grpSpPr>
            <a:xfrm>
              <a:off x="0" y="0"/>
              <a:ext cx="5474169" cy="7313316"/>
              <a:chOff x="0" y="0"/>
              <a:chExt cx="1081317" cy="1444606"/>
            </a:xfrm>
          </p:grpSpPr>
          <p:sp>
            <p:nvSpPr>
              <p:cNvPr id="28" name="Freeform 28"/>
              <p:cNvSpPr/>
              <p:nvPr/>
            </p:nvSpPr>
            <p:spPr>
              <a:xfrm>
                <a:off x="0" y="0"/>
                <a:ext cx="1081317" cy="1444606"/>
              </a:xfrm>
              <a:custGeom>
                <a:avLst/>
                <a:gdLst/>
                <a:ahLst/>
                <a:cxnLst/>
                <a:rect l="l" t="t" r="r" b="b"/>
                <a:pathLst>
                  <a:path w="1081317" h="1444606">
                    <a:moveTo>
                      <a:pt x="0" y="0"/>
                    </a:moveTo>
                    <a:lnTo>
                      <a:pt x="1081317" y="0"/>
                    </a:lnTo>
                    <a:lnTo>
                      <a:pt x="1081317" y="1444606"/>
                    </a:lnTo>
                    <a:lnTo>
                      <a:pt x="0" y="1444606"/>
                    </a:lnTo>
                    <a:close/>
                  </a:path>
                </a:pathLst>
              </a:custGeom>
              <a:solidFill>
                <a:srgbClr val="2F6E27">
                  <a:alpha val="73725"/>
                </a:srgbClr>
              </a:solidFill>
              <a:ln>
                <a:noFill/>
              </a:ln>
            </p:spPr>
            <p:txBody>
              <a:bodyPr/>
              <a:lstStyle/>
              <a:p>
                <a:endParaRPr/>
              </a:p>
            </p:txBody>
          </p:sp>
          <p:sp>
            <p:nvSpPr>
              <p:cNvPr id="29" name="TextBox 29"/>
              <p:cNvSpPr txBox="1"/>
              <p:nvPr/>
            </p:nvSpPr>
            <p:spPr>
              <a:xfrm>
                <a:off x="0" y="-85725"/>
                <a:ext cx="812800" cy="898525"/>
              </a:xfrm>
              <a:prstGeom prst="rect">
                <a:avLst/>
              </a:prstGeom>
            </p:spPr>
            <p:txBody>
              <a:bodyPr lIns="33867" tIns="33867" rIns="33867" bIns="33867" rtlCol="0" anchor="ctr">
                <a:normAutofit/>
              </a:bodyPr>
              <a:lst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stStyle>
              <a:p>
                <a:endParaRPr/>
              </a:p>
            </p:txBody>
          </p:sp>
        </p:grpSp>
        <p:grpSp>
          <p:nvGrpSpPr>
            <p:cNvPr id="30" name="Group 30"/>
            <p:cNvGrpSpPr/>
            <p:nvPr/>
          </p:nvGrpSpPr>
          <p:grpSpPr>
            <a:xfrm>
              <a:off x="0" y="533432"/>
              <a:ext cx="5474169" cy="1013895"/>
              <a:chOff x="0" y="0"/>
              <a:chExt cx="1081317" cy="200276"/>
            </a:xfrm>
          </p:grpSpPr>
          <p:sp>
            <p:nvSpPr>
              <p:cNvPr id="31" name="Freeform 31"/>
              <p:cNvSpPr/>
              <p:nvPr/>
            </p:nvSpPr>
            <p:spPr>
              <a:xfrm>
                <a:off x="0" y="0"/>
                <a:ext cx="1081317" cy="200276"/>
              </a:xfrm>
              <a:custGeom>
                <a:avLst/>
                <a:gdLst/>
                <a:ahLst/>
                <a:cxnLst/>
                <a:rect l="l" t="t" r="r" b="b"/>
                <a:pathLst>
                  <a:path w="1081317" h="200276">
                    <a:moveTo>
                      <a:pt x="0" y="0"/>
                    </a:moveTo>
                    <a:lnTo>
                      <a:pt x="1081317" y="0"/>
                    </a:lnTo>
                    <a:lnTo>
                      <a:pt x="1081317" y="200276"/>
                    </a:lnTo>
                    <a:lnTo>
                      <a:pt x="0" y="200276"/>
                    </a:lnTo>
                    <a:close/>
                  </a:path>
                </a:pathLst>
              </a:custGeom>
              <a:solidFill>
                <a:srgbClr val="2F6E27">
                  <a:alpha val="71765"/>
                </a:srgbClr>
              </a:solidFill>
            </p:spPr>
            <p:txBody>
              <a:bodyPr/>
              <a:lstStyle/>
              <a:p>
                <a:endParaRPr/>
              </a:p>
            </p:txBody>
          </p:sp>
          <p:sp>
            <p:nvSpPr>
              <p:cNvPr id="32" name="TextBox 32"/>
              <p:cNvSpPr txBox="1"/>
              <p:nvPr/>
            </p:nvSpPr>
            <p:spPr>
              <a:xfrm>
                <a:off x="0" y="-85725"/>
                <a:ext cx="812800" cy="898525"/>
              </a:xfrm>
              <a:prstGeom prst="rect">
                <a:avLst/>
              </a:prstGeom>
            </p:spPr>
            <p:txBody>
              <a:bodyPr lIns="33867" tIns="33867" rIns="33867" bIns="33867" rtlCol="0" anchor="ctr">
                <a:normAutofit/>
              </a:bodyPr>
              <a:lst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stStyle>
              <a:p>
                <a:endParaRPr/>
              </a:p>
            </p:txBody>
          </p:sp>
        </p:grpSp>
      </p:grpSp>
      <p:sp>
        <p:nvSpPr>
          <p:cNvPr id="33" name="TextBox 33"/>
          <p:cNvSpPr txBox="1"/>
          <p:nvPr/>
        </p:nvSpPr>
        <p:spPr>
          <a:xfrm>
            <a:off x="5093012" y="2216875"/>
            <a:ext cx="2005977" cy="355482"/>
          </a:xfrm>
          <a:prstGeom prst="rect">
            <a:avLst/>
          </a:prstGeom>
        </p:spPr>
        <p:txBody>
          <a:bodyPr lIns="0" tIns="0" rIns="0" bIns="0" rtlCol="0" anchor="t">
            <a:normAutofit/>
          </a:bodyPr>
          <a:lst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stStyle>
          <a:p>
            <a:endParaRPr/>
          </a:p>
        </p:txBody>
      </p:sp>
      <p:sp>
        <p:nvSpPr>
          <p:cNvPr id="34" name="TextBox 34"/>
          <p:cNvSpPr txBox="1"/>
          <p:nvPr/>
        </p:nvSpPr>
        <p:spPr>
          <a:xfrm>
            <a:off x="5093012" y="2890714"/>
            <a:ext cx="2005977" cy="2381036"/>
          </a:xfrm>
          <a:prstGeom prst="rect">
            <a:avLst/>
          </a:prstGeom>
        </p:spPr>
        <p:txBody>
          <a:bodyPr lIns="0" tIns="0" rIns="0" bIns="0" rtlCol="0" anchor="t">
            <a:normAutofit/>
          </a:bodyPr>
          <a:lst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stStyle>
          <a:p>
            <a:pPr indent="0" algn="ctr" fontAlgn="auto">
              <a:lnSpc>
                <a:spcPct val="100000"/>
              </a:lnSpc>
              <a:spcBef>
                <a:spcPct val="0"/>
              </a:spcBef>
            </a:pPr>
            <a:r>
              <a:rPr lang="zh-CN" sz="1400" spc="27">
                <a:solidFill>
                  <a:schemeClr val="bg1"/>
                </a:solidFill>
                <a:latin typeface="宋体"/>
                <a:ea typeface="思源宋体 Bold"/>
                <a:sym typeface="宋体"/>
              </a:rPr>
              <a:t>[2] 王韶华,杨志葳,张伟,等. "双碳"背景下碳排放国内外文献研究综述[J]. 生态经济,2023,39(12):222-229</a:t>
            </a:r>
          </a:p>
        </p:txBody>
      </p:sp>
      <p:grpSp>
        <p:nvGrpSpPr>
          <p:cNvPr id="35" name="Group 35"/>
          <p:cNvGrpSpPr/>
          <p:nvPr/>
        </p:nvGrpSpPr>
        <p:grpSpPr>
          <a:xfrm>
            <a:off x="8028865" y="1895017"/>
            <a:ext cx="2737085" cy="3656658"/>
            <a:chOff x="0" y="0"/>
            <a:chExt cx="5474169" cy="7313316"/>
          </a:xfrm>
        </p:grpSpPr>
        <p:grpSp>
          <p:nvGrpSpPr>
            <p:cNvPr id="36" name="Group 36"/>
            <p:cNvGrpSpPr/>
            <p:nvPr/>
          </p:nvGrpSpPr>
          <p:grpSpPr>
            <a:xfrm>
              <a:off x="0" y="0"/>
              <a:ext cx="5474169" cy="7313316"/>
              <a:chOff x="0" y="0"/>
              <a:chExt cx="1081317" cy="1444606"/>
            </a:xfrm>
          </p:grpSpPr>
          <p:sp>
            <p:nvSpPr>
              <p:cNvPr id="37" name="Freeform 37"/>
              <p:cNvSpPr/>
              <p:nvPr/>
            </p:nvSpPr>
            <p:spPr>
              <a:xfrm>
                <a:off x="0" y="0"/>
                <a:ext cx="1081317" cy="1444606"/>
              </a:xfrm>
              <a:custGeom>
                <a:avLst/>
                <a:gdLst/>
                <a:ahLst/>
                <a:cxnLst/>
                <a:rect l="l" t="t" r="r" b="b"/>
                <a:pathLst>
                  <a:path w="1081317" h="1444606">
                    <a:moveTo>
                      <a:pt x="0" y="0"/>
                    </a:moveTo>
                    <a:lnTo>
                      <a:pt x="1081317" y="0"/>
                    </a:lnTo>
                    <a:lnTo>
                      <a:pt x="1081317" y="1444606"/>
                    </a:lnTo>
                    <a:lnTo>
                      <a:pt x="0" y="1444606"/>
                    </a:lnTo>
                    <a:close/>
                  </a:path>
                </a:pathLst>
              </a:custGeom>
              <a:solidFill>
                <a:srgbClr val="2F6E27">
                  <a:alpha val="73725"/>
                </a:srgbClr>
              </a:solidFill>
              <a:ln>
                <a:noFill/>
              </a:ln>
            </p:spPr>
            <p:txBody>
              <a:bodyPr/>
              <a:lstStyle/>
              <a:p>
                <a:endParaRPr/>
              </a:p>
            </p:txBody>
          </p:sp>
          <p:sp>
            <p:nvSpPr>
              <p:cNvPr id="38" name="TextBox 38"/>
              <p:cNvSpPr txBox="1"/>
              <p:nvPr/>
            </p:nvSpPr>
            <p:spPr>
              <a:xfrm>
                <a:off x="0" y="-85725"/>
                <a:ext cx="812800" cy="898525"/>
              </a:xfrm>
              <a:prstGeom prst="rect">
                <a:avLst/>
              </a:prstGeom>
            </p:spPr>
            <p:txBody>
              <a:bodyPr lIns="33867" tIns="33867" rIns="33867" bIns="33867" rtlCol="0" anchor="ctr">
                <a:normAutofit/>
              </a:bodyPr>
              <a:lst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stStyle>
              <a:p>
                <a:endParaRPr/>
              </a:p>
            </p:txBody>
          </p:sp>
        </p:grpSp>
        <p:grpSp>
          <p:nvGrpSpPr>
            <p:cNvPr id="39" name="Group 39"/>
            <p:cNvGrpSpPr/>
            <p:nvPr/>
          </p:nvGrpSpPr>
          <p:grpSpPr>
            <a:xfrm>
              <a:off x="0" y="533432"/>
              <a:ext cx="5474169" cy="1013895"/>
              <a:chOff x="0" y="0"/>
              <a:chExt cx="1081317" cy="200276"/>
            </a:xfrm>
          </p:grpSpPr>
          <p:sp>
            <p:nvSpPr>
              <p:cNvPr id="40" name="Freeform 40"/>
              <p:cNvSpPr/>
              <p:nvPr/>
            </p:nvSpPr>
            <p:spPr>
              <a:xfrm>
                <a:off x="0" y="0"/>
                <a:ext cx="1081317" cy="200276"/>
              </a:xfrm>
              <a:custGeom>
                <a:avLst/>
                <a:gdLst/>
                <a:ahLst/>
                <a:cxnLst/>
                <a:rect l="l" t="t" r="r" b="b"/>
                <a:pathLst>
                  <a:path w="1081317" h="200276">
                    <a:moveTo>
                      <a:pt x="0" y="0"/>
                    </a:moveTo>
                    <a:lnTo>
                      <a:pt x="1081317" y="0"/>
                    </a:lnTo>
                    <a:lnTo>
                      <a:pt x="1081317" y="200276"/>
                    </a:lnTo>
                    <a:lnTo>
                      <a:pt x="0" y="200276"/>
                    </a:lnTo>
                    <a:close/>
                  </a:path>
                </a:pathLst>
              </a:custGeom>
              <a:solidFill>
                <a:srgbClr val="2F6E27">
                  <a:alpha val="71765"/>
                </a:srgbClr>
              </a:solidFill>
            </p:spPr>
            <p:txBody>
              <a:bodyPr/>
              <a:lstStyle/>
              <a:p>
                <a:endParaRPr/>
              </a:p>
            </p:txBody>
          </p:sp>
          <p:sp>
            <p:nvSpPr>
              <p:cNvPr id="41" name="TextBox 41"/>
              <p:cNvSpPr txBox="1"/>
              <p:nvPr/>
            </p:nvSpPr>
            <p:spPr>
              <a:xfrm>
                <a:off x="0" y="-85725"/>
                <a:ext cx="812800" cy="898525"/>
              </a:xfrm>
              <a:prstGeom prst="rect">
                <a:avLst/>
              </a:prstGeom>
            </p:spPr>
            <p:txBody>
              <a:bodyPr lIns="33867" tIns="33867" rIns="33867" bIns="33867" rtlCol="0" anchor="ctr">
                <a:normAutofit/>
              </a:bodyPr>
              <a:lst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stStyle>
              <a:p>
                <a:endParaRPr/>
              </a:p>
            </p:txBody>
          </p:sp>
        </p:grpSp>
      </p:grpSp>
      <p:sp>
        <p:nvSpPr>
          <p:cNvPr id="42" name="TextBox 42"/>
          <p:cNvSpPr txBox="1"/>
          <p:nvPr/>
        </p:nvSpPr>
        <p:spPr>
          <a:xfrm>
            <a:off x="8394419" y="2216875"/>
            <a:ext cx="2005977" cy="355482"/>
          </a:xfrm>
          <a:prstGeom prst="rect">
            <a:avLst/>
          </a:prstGeom>
        </p:spPr>
        <p:txBody>
          <a:bodyPr lIns="0" tIns="0" rIns="0" bIns="0" rtlCol="0" anchor="t">
            <a:normAutofit/>
          </a:bodyPr>
          <a:lst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stStyle>
          <a:p>
            <a:endParaRPr/>
          </a:p>
        </p:txBody>
      </p:sp>
      <p:sp>
        <p:nvSpPr>
          <p:cNvPr id="43" name="TextBox 43"/>
          <p:cNvSpPr txBox="1"/>
          <p:nvPr/>
        </p:nvSpPr>
        <p:spPr>
          <a:xfrm>
            <a:off x="8394419" y="2890714"/>
            <a:ext cx="2005977" cy="2381036"/>
          </a:xfrm>
          <a:prstGeom prst="rect">
            <a:avLst/>
          </a:prstGeom>
        </p:spPr>
        <p:txBody>
          <a:bodyPr lIns="0" tIns="0" rIns="0" bIns="0" rtlCol="0" anchor="t">
            <a:normAutofit/>
          </a:bodyPr>
          <a:lst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stStyle>
          <a:p>
            <a:pPr indent="0" algn="ctr" fontAlgn="auto">
              <a:lnSpc>
                <a:spcPct val="100000"/>
              </a:lnSpc>
              <a:spcBef>
                <a:spcPct val="0"/>
              </a:spcBef>
            </a:pPr>
            <a:r>
              <a:rPr lang="zh-CN" sz="1400" spc="27">
                <a:solidFill>
                  <a:schemeClr val="bg1"/>
                </a:solidFill>
                <a:latin typeface="宋体"/>
                <a:ea typeface="思源宋体 Bold"/>
                <a:sym typeface="宋体"/>
              </a:rPr>
              <a:t>[3] 刘晓龙, 崔磊磊, 李彬, 杜祥琬. 碳中和目标下中国能源高质量发展路径研究[J]. 北京理工大学学报（社会科学版）, 2021, 23(3): 1-8. DOI: 10.15918/j.jbitss1009-3370.2021.7522</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 name="组合 6"/>
          <p:cNvGrpSpPr/>
          <p:nvPr/>
        </p:nvGrpSpPr>
        <p:grpSpPr>
          <a:xfrm>
            <a:off x="0" y="0"/>
            <a:ext cx="12192000" cy="6858000"/>
            <a:chOff x="0" y="0"/>
            <a:chExt cx="12192000" cy="6858000"/>
          </a:xfrm>
        </p:grpSpPr>
        <p:pic>
          <p:nvPicPr>
            <p:cNvPr id="8" name="New picture"/>
            <p:cNvPicPr/>
            <p:nvPr/>
          </p:nvPicPr>
          <p:blipFill>
            <a:blip r:embed="rId3"/>
            <a:stretch>
              <a:fillRect/>
            </a:stretch>
          </p:blipFill>
          <p:spPr>
            <a:xfrm>
              <a:off x="0" y="0"/>
              <a:ext cx="12192000" cy="6097721"/>
            </a:xfrm>
            <a:prstGeom prst="rect">
              <a:avLst/>
            </a:prstGeom>
            <a:ln>
              <a:noFill/>
            </a:ln>
          </p:spPr>
        </p:pic>
        <p:pic>
          <p:nvPicPr>
            <p:cNvPr id="9" name="New picture"/>
            <p:cNvPicPr/>
            <p:nvPr/>
          </p:nvPicPr>
          <p:blipFill>
            <a:blip r:embed="rId4"/>
            <a:stretch>
              <a:fillRect/>
            </a:stretch>
          </p:blipFill>
          <p:spPr>
            <a:xfrm>
              <a:off x="0" y="1693729"/>
              <a:ext cx="12192000" cy="5164271"/>
            </a:xfrm>
            <a:prstGeom prst="rect">
              <a:avLst/>
            </a:prstGeom>
            <a:ln>
              <a:noFill/>
            </a:ln>
          </p:spPr>
        </p:pic>
      </p:grpSp>
      <p:sp>
        <p:nvSpPr>
          <p:cNvPr id="10" name="矩形: 圆角 3"/>
          <p:cNvSpPr/>
          <p:nvPr/>
        </p:nvSpPr>
        <p:spPr>
          <a:xfrm>
            <a:off x="362857" y="371475"/>
            <a:ext cx="11466286" cy="6115050"/>
          </a:xfrm>
          <a:prstGeom prst="roundRect">
            <a:avLst>
              <a:gd name="adj" fmla="val 2577"/>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sp>
        <p:nvSpPr>
          <p:cNvPr id="11" name="椭圆 2"/>
          <p:cNvSpPr/>
          <p:nvPr/>
        </p:nvSpPr>
        <p:spPr>
          <a:xfrm>
            <a:off x="495300" y="533400"/>
            <a:ext cx="317500" cy="317500"/>
          </a:xfrm>
          <a:prstGeom prst="ellipse">
            <a:avLst/>
          </a:prstGeom>
          <a:solidFill>
            <a:srgbClr val="548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mn-lt"/>
                <a:ea typeface="+mn-ea"/>
                <a:cs typeface="+mn-c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rgbClr val="FFFFFF"/>
                </a:solidFill>
                <a:uLnTx/>
                <a:uFillTx/>
                <a:latin typeface="Calibri"/>
                <a:ea typeface="Arial"/>
                <a:cs typeface="+mn-cs"/>
              </a:defRPr>
            </a:lvl9pPr>
          </a:lstStyle>
          <a:p>
            <a:endParaRPr/>
          </a:p>
        </p:txBody>
      </p:sp>
      <p:pic>
        <p:nvPicPr>
          <p:cNvPr id="12" name="图片 6"/>
          <p:cNvPicPr>
            <a:picLocks noChangeAspect="1"/>
          </p:cNvPicPr>
          <p:nvPr/>
        </p:nvPicPr>
        <p:blipFill>
          <a:blip r:embed="rId5"/>
          <a:stretch>
            <a:fillRect/>
          </a:stretch>
        </p:blipFill>
        <p:spPr>
          <a:xfrm>
            <a:off x="7364327" y="2808277"/>
            <a:ext cx="7352413" cy="6592379"/>
          </a:xfrm>
          <a:prstGeom prst="rect">
            <a:avLst/>
          </a:prstGeom>
          <a:ln>
            <a:noFill/>
          </a:ln>
        </p:spPr>
      </p:pic>
      <p:pic>
        <p:nvPicPr>
          <p:cNvPr id="6" name="图片 5"/>
          <p:cNvPicPr>
            <a:picLocks noChangeAspect="1"/>
          </p:cNvPicPr>
          <p:nvPr/>
        </p:nvPicPr>
        <p:blipFill>
          <a:blip r:embed="rId6"/>
          <a:stretch>
            <a:fillRect/>
          </a:stretch>
        </p:blipFill>
        <p:spPr>
          <a:xfrm>
            <a:off x="2263988" y="1471360"/>
            <a:ext cx="3377477" cy="3373413"/>
          </a:xfrm>
          <a:prstGeom prst="rect">
            <a:avLst/>
          </a:prstGeom>
          <a:ln>
            <a:noFill/>
          </a:ln>
        </p:spPr>
      </p:pic>
      <p:sp>
        <p:nvSpPr>
          <p:cNvPr id="5" name="TextBox 4"/>
          <p:cNvSpPr txBox="1"/>
          <p:nvPr/>
        </p:nvSpPr>
        <p:spPr>
          <a:xfrm>
            <a:off x="3263686" y="2937054"/>
            <a:ext cx="5599795" cy="9131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stStyle>
          <a:p>
            <a:pPr algn="ctr"/>
            <a:r>
              <a:rPr lang="zh-CN" sz="5334">
                <a:solidFill>
                  <a:srgbClr val="000000"/>
                </a:solidFill>
                <a:latin typeface="宋体"/>
                <a:sym typeface="宋体"/>
              </a:rPr>
              <a:t>Thanks </a:t>
            </a:r>
          </a:p>
        </p:txBody>
      </p:sp>
    </p:spTree>
  </p:cSld>
  <p:clrMapOvr>
    <a:masterClrMapping/>
  </p:clrMapOvr>
  <mc:AlternateContent xmlns:mc="http://schemas.openxmlformats.org/markup-compatibility/2006" xmlns:p14="http://schemas.microsoft.com/office/powerpoint/2010/main">
    <mc:Choice Requires="p14">
      <p:transition spd="slow" p14:dur="7200000" advTm="7200000">
        <p:fade/>
      </p:transition>
    </mc:Choice>
    <mc:Fallback xmlns="" xmlns:p15="http://schemas.microsoft.com/office/powerpoint/2012/main">
      <p:transition spd="med" advTm="720000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7.10.11"/>
  <p:tag name="AS_TITLE" val="Aspose.Slides for .NET 2.0"/>
  <p:tag name="AS_VERSION" val="17.9.1"/>
</p:tagLst>
</file>

<file path=ppt/tags/tag2.xml><?xml version="1.0" encoding="utf-8"?>
<p:tagLst xmlns:a="http://schemas.openxmlformats.org/drawingml/2006/main" xmlns:r="http://schemas.openxmlformats.org/officeDocument/2006/relationships" xmlns:p="http://schemas.openxmlformats.org/presentationml/2006/main">
  <p:tag name="PA" val="v5.2.11"/>
  <p:tag name="RESOURCELIBID_ANIM" val="430"/>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Uigh" typeface="Microsoft Uighur"/>
        <a:font script="Beng" typeface="Vrinda"/>
        <a:font script="Thai" typeface="Angsana New"/>
        <a:font script="Mlym" typeface="Kartika"/>
        <a:font script="Yiii" typeface="Microsoft Yi Baiti"/>
        <a:font script="Cher" typeface="Plantagenet Cherokee"/>
        <a:font script="Orya" typeface="Kalinga"/>
        <a:font script="Geor" typeface="Sylfaen"/>
        <a:font script="Gujr" typeface="Shruti"/>
        <a:font script="Viet" typeface="Times New Roman"/>
        <a:font script="Arab" typeface="Times New Roman"/>
        <a:font script="Hebr" typeface="Times New Roman"/>
        <a:font script="Telu" typeface="Gautami"/>
        <a:font script="Ethi" typeface="Nyala"/>
        <a:font script="Jpan" typeface="ＭＳ Ｐゴシック"/>
        <a:font script="Sinh" typeface="Iskoola Pota"/>
        <a:font script="Taml" typeface="Latha"/>
        <a:font script="Deva" typeface="Mangal"/>
        <a:font script="Knda" typeface="Tunga"/>
        <a:font script="Tibt" typeface="Microsoft Himalaya"/>
        <a:font script="Khmr" typeface="MoolBoran"/>
        <a:font script="Hant" typeface="新細明體"/>
        <a:font script="Laoo" typeface="DokChampa"/>
        <a:font script="Mong" typeface="Mongolian Baiti"/>
        <a:font script="Hans" typeface="宋体"/>
        <a:font script="Guru" typeface="Raavi"/>
        <a:font script="Thaa" typeface="MV Boli"/>
        <a:font script="Cans" typeface="Euphemia"/>
        <a:font script="Hang" typeface="맑은 고딕"/>
        <a:font script="Syrc" typeface="Estrangelo Edessa"/>
      </a:majorFont>
      <a:minorFont>
        <a:latin typeface="Calibri"/>
        <a:ea typeface="Arial"/>
        <a:cs typeface="Arial"/>
        <a:font script="Uigh" typeface="Microsoft Uighur"/>
        <a:font script="Beng" typeface="Vrinda"/>
        <a:font script="Thai" typeface="Cordia New"/>
        <a:font script="Mlym" typeface="Kartika"/>
        <a:font script="Yiii" typeface="Microsoft Yi Baiti"/>
        <a:font script="Cher" typeface="Plantagenet Cherokee"/>
        <a:font script="Orya" typeface="Kalinga"/>
        <a:font script="Geor" typeface="Sylfaen"/>
        <a:font script="Gujr" typeface="Shruti"/>
        <a:font script="Viet" typeface="Arial"/>
        <a:font script="Arab" typeface="Arial"/>
        <a:font script="Hebr" typeface="Arial"/>
        <a:font script="Telu" typeface="Gautami"/>
        <a:font script="Ethi" typeface="Nyala"/>
        <a:font script="Jpan" typeface="ＭＳ Ｐゴシック"/>
        <a:font script="Sinh" typeface="Iskoola Pota"/>
        <a:font script="Taml" typeface="Latha"/>
        <a:font script="Deva" typeface="Mangal"/>
        <a:font script="Knda" typeface="Tunga"/>
        <a:font script="Tibt" typeface="Microsoft Himalaya"/>
        <a:font script="Khmr" typeface="DaunPenh"/>
        <a:font script="Hant" typeface="新細明體"/>
        <a:font script="Laoo" typeface="DokChampa"/>
        <a:font script="Mong" typeface="Mongolian Baiti"/>
        <a:font script="Hans" typeface="宋体"/>
        <a:font script="Guru" typeface="Raavi"/>
        <a:font script="Thaa" typeface="MV Boli"/>
        <a:font script="Cans" typeface="Euphemia"/>
        <a:font script="Hang" typeface="맑은 고딕"/>
        <a:font script="Syrc" typeface="Estrangelo Edess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font script="Uigh" typeface="Microsoft Uighur"/>
        <a:font script="Beng" typeface="Vrinda"/>
        <a:font script="Thai" typeface="Angsana New"/>
        <a:font script="Mlym" typeface="Kartika"/>
        <a:font script="Yiii" typeface="Microsoft Yi Baiti"/>
        <a:font script="Cher" typeface="Plantagenet Cherokee"/>
        <a:font script="Orya" typeface="Kalinga"/>
        <a:font script="Geor" typeface="Sylfaen"/>
        <a:font script="Gujr" typeface="Shruti"/>
        <a:font script="Viet" typeface="Times New Roman"/>
        <a:font script="Arab" typeface="Times New Roman"/>
        <a:font script="Hant" typeface="新細明體"/>
        <a:font script="Telu" typeface="Gautami"/>
        <a:font script="Ethi" typeface="Nyala"/>
        <a:font script="Jpan" typeface="游ゴシック Light"/>
        <a:font script="Sinh" typeface="Iskoola Pota"/>
        <a:font script="Deva" typeface="Mangal"/>
        <a:font script="Knda" typeface="Tunga"/>
        <a:font script="Tibt" typeface="Microsoft Himalaya"/>
        <a:font script="Khmr" typeface="MoolBoran"/>
        <a:font script="Taml" typeface="Latha"/>
        <a:font script="Hebr" typeface="Times New Roman"/>
        <a:font script="Laoo" typeface="DokChampa"/>
        <a:font script="Mong" typeface="Mongolian Baiti"/>
        <a:font script="Hans" typeface="等线 Light"/>
        <a:font script="Guru" typeface="Raavi"/>
        <a:font script="Thaa" typeface="MV Boli"/>
        <a:font script="Cans" typeface="Euphemia"/>
        <a:font script="Hang" typeface="맑은 고딕"/>
        <a:font script="Syrc" typeface="Estrangelo Edessa"/>
      </a:majorFont>
      <a:minorFont>
        <a:latin typeface="等线"/>
        <a:ea typeface="Arial"/>
        <a:cs typeface="Arial"/>
        <a:font script="Uigh" typeface="Microsoft Uighur"/>
        <a:font script="Beng" typeface="Vrinda"/>
        <a:font script="Thai" typeface="Cordia New"/>
        <a:font script="Mlym" typeface="Kartika"/>
        <a:font script="Yiii" typeface="Microsoft Yi Baiti"/>
        <a:font script="Cher" typeface="Plantagenet Cherokee"/>
        <a:font script="Orya" typeface="Kalinga"/>
        <a:font script="Geor" typeface="Sylfaen"/>
        <a:font script="Gujr" typeface="Shruti"/>
        <a:font script="Viet" typeface="Arial"/>
        <a:font script="Arab" typeface="Arial"/>
        <a:font script="Hant" typeface="新細明體"/>
        <a:font script="Telu" typeface="Gautami"/>
        <a:font script="Ethi" typeface="Nyala"/>
        <a:font script="Jpan" typeface="游ゴシック"/>
        <a:font script="Sinh" typeface="Iskoola Pota"/>
        <a:font script="Deva" typeface="Mangal"/>
        <a:font script="Knda" typeface="Tunga"/>
        <a:font script="Tibt" typeface="Microsoft Himalaya"/>
        <a:font script="Khmr" typeface="DaunPenh"/>
        <a:font script="Taml" typeface="Latha"/>
        <a:font script="Hebr" typeface="Arial"/>
        <a:font script="Laoo" typeface="DokChampa"/>
        <a:font script="Mong" typeface="Mongolian Baiti"/>
        <a:font script="Hans" typeface="等线"/>
        <a:font script="Guru" typeface="Raavi"/>
        <a:font script="Thaa" typeface="MV Boli"/>
        <a:font script="Cans" typeface="Euphemia"/>
        <a:font script="Hang" typeface="맑은 고딕"/>
        <a:font script="Syrc" typeface="Estrangelo Edess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2774</Words>
  <Application>Microsoft Office PowerPoint</Application>
  <PresentationFormat>宽屏</PresentationFormat>
  <Paragraphs>373</Paragraphs>
  <Slides>44</Slides>
  <Notes>44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44</vt:i4>
      </vt:variant>
    </vt:vector>
  </HeadingPairs>
  <TitlesOfParts>
    <vt:vector size="50" baseType="lpstr">
      <vt:lpstr>宋体</vt:lpstr>
      <vt:lpstr>微软雅黑</vt:lpstr>
      <vt:lpstr>Arial</vt:lpstr>
      <vt:lpstr>Calibri</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 W H</cp:lastModifiedBy>
  <cp:revision>6</cp:revision>
  <dcterms:created xsi:type="dcterms:W3CDTF">2025-05-05T12:43:04Z</dcterms:created>
  <dcterms:modified xsi:type="dcterms:W3CDTF">2025-05-05T13:39:36Z</dcterms:modified>
</cp:coreProperties>
</file>